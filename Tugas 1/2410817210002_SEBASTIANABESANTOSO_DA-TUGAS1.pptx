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oppins Light" charset="1" panose="00000400000000000000"/>
      <p:regular r:id="rId16"/>
    </p:embeddedFont>
    <p:embeddedFont>
      <p:font typeface="Poppins Bold" charset="1" panose="00000800000000000000"/>
      <p:regular r:id="rId17"/>
    </p:embeddedFont>
    <p:embeddedFont>
      <p:font typeface="Poppins" charset="1" panose="000005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embeddings/oleObject1.bin" Type="http://schemas.openxmlformats.org/officeDocument/2006/relationships/oleObjec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1.pn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21.png" Type="http://schemas.openxmlformats.org/officeDocument/2006/relationships/image"/><Relationship Id="rId9" Target="../media/image2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23.png" Type="http://schemas.openxmlformats.org/officeDocument/2006/relationships/image"/><Relationship Id="rId9" Target="../media/image2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7.svg" Type="http://schemas.openxmlformats.org/officeDocument/2006/relationships/image"/><Relationship Id="rId12" Target="../media/image30.png" Type="http://schemas.openxmlformats.org/officeDocument/2006/relationships/image"/><Relationship Id="rId13" Target="../media/image31.svg" Type="http://schemas.openxmlformats.org/officeDocument/2006/relationships/image"/><Relationship Id="rId14" Target="../media/image32.png" Type="http://schemas.openxmlformats.org/officeDocument/2006/relationships/image"/><Relationship Id="rId15" Target="../media/image33.svg" Type="http://schemas.openxmlformats.org/officeDocument/2006/relationships/image"/><Relationship Id="rId16" Target="../media/image34.png" Type="http://schemas.openxmlformats.org/officeDocument/2006/relationships/image"/><Relationship Id="rId17" Target="../media/image35.svg" Type="http://schemas.openxmlformats.org/officeDocument/2006/relationships/image"/><Relationship Id="rId18" Target="../media/image36.png" Type="http://schemas.openxmlformats.org/officeDocument/2006/relationships/image"/><Relationship Id="rId19" Target="../media/image37.svg" Type="http://schemas.openxmlformats.org/officeDocument/2006/relationships/image"/><Relationship Id="rId2" Target="../media/image4.png" Type="http://schemas.openxmlformats.org/officeDocument/2006/relationships/image"/><Relationship Id="rId20" Target="../media/image38.png" Type="http://schemas.openxmlformats.org/officeDocument/2006/relationships/image"/><Relationship Id="rId21" Target="../media/image39.svg" Type="http://schemas.openxmlformats.org/officeDocument/2006/relationships/image"/><Relationship Id="rId3" Target="../media/image5.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 Id="rId8" Target="../media/image28.jpeg" Type="http://schemas.openxmlformats.org/officeDocument/2006/relationships/image"/><Relationship Id="rId9" Target="../media/image29.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40.png" Type="http://schemas.openxmlformats.org/officeDocument/2006/relationships/image"/><Relationship Id="rId9" Target="../embeddings/oleObject2.bin" Type="http://schemas.openxmlformats.org/officeDocument/2006/relationships/oleObjec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41.png" Type="http://schemas.openxmlformats.org/officeDocument/2006/relationships/image"/><Relationship Id="rId9" Target="../media/image4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5.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43.png" Type="http://schemas.openxmlformats.org/officeDocument/2006/relationships/image"/><Relationship Id="rId9" Target="../media/image4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46.png" Type="http://schemas.openxmlformats.org/officeDocument/2006/relationships/image"/><Relationship Id="rId7" Target="../embeddings/oleObject3.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093532"/>
            <a:ext cx="18288000" cy="5200650"/>
          </a:xfrm>
          <a:custGeom>
            <a:avLst/>
            <a:gdLst/>
            <a:ahLst/>
            <a:cxnLst/>
            <a:rect r="r" b="b" t="t" l="l"/>
            <a:pathLst>
              <a:path h="5200650" w="18288000">
                <a:moveTo>
                  <a:pt x="0" y="0"/>
                </a:moveTo>
                <a:lnTo>
                  <a:pt x="18288000" y="0"/>
                </a:lnTo>
                <a:lnTo>
                  <a:pt x="18288000" y="5200650"/>
                </a:lnTo>
                <a:lnTo>
                  <a:pt x="0" y="5200650"/>
                </a:lnTo>
                <a:lnTo>
                  <a:pt x="0" y="0"/>
                </a:lnTo>
                <a:close/>
              </a:path>
            </a:pathLst>
          </a:custGeom>
          <a:blipFill>
            <a:blip r:embed="rId2"/>
            <a:stretch>
              <a:fillRect l="0" t="0" r="0" b="0"/>
            </a:stretch>
          </a:blipFill>
        </p:spPr>
      </p:sp>
      <p:sp>
        <p:nvSpPr>
          <p:cNvPr name="Freeform 3" id="3"/>
          <p:cNvSpPr/>
          <p:nvPr/>
        </p:nvSpPr>
        <p:spPr>
          <a:xfrm flipH="false" flipV="false" rot="0">
            <a:off x="-3521913" y="2869268"/>
            <a:ext cx="7417732" cy="7417732"/>
          </a:xfrm>
          <a:custGeom>
            <a:avLst/>
            <a:gdLst/>
            <a:ahLst/>
            <a:cxnLst/>
            <a:rect r="r" b="b" t="t" l="l"/>
            <a:pathLst>
              <a:path h="7417732" w="7417732">
                <a:moveTo>
                  <a:pt x="0" y="0"/>
                </a:moveTo>
                <a:lnTo>
                  <a:pt x="7417732" y="0"/>
                </a:lnTo>
                <a:lnTo>
                  <a:pt x="7417732" y="7417732"/>
                </a:lnTo>
                <a:lnTo>
                  <a:pt x="0" y="7417732"/>
                </a:lnTo>
                <a:lnTo>
                  <a:pt x="0" y="0"/>
                </a:lnTo>
                <a:close/>
              </a:path>
            </a:pathLst>
          </a:custGeom>
          <a:blipFill>
            <a:blip r:embed="rId3">
              <a:alphaModFix amt="5000"/>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0"/>
            <a:ext cx="20186658" cy="8852366"/>
            <a:chOff x="0" y="0"/>
            <a:chExt cx="26915544" cy="11803155"/>
          </a:xfrm>
        </p:grpSpPr>
        <p:grpSp>
          <p:nvGrpSpPr>
            <p:cNvPr name="Group 5" id="5"/>
            <p:cNvGrpSpPr/>
            <p:nvPr/>
          </p:nvGrpSpPr>
          <p:grpSpPr>
            <a:xfrm rot="0">
              <a:off x="0" y="5831990"/>
              <a:ext cx="25050481" cy="5964933"/>
              <a:chOff x="0" y="0"/>
              <a:chExt cx="4948243" cy="1178258"/>
            </a:xfrm>
          </p:grpSpPr>
          <p:sp>
            <p:nvSpPr>
              <p:cNvPr name="Freeform 6" id="6"/>
              <p:cNvSpPr/>
              <p:nvPr/>
            </p:nvSpPr>
            <p:spPr>
              <a:xfrm flipH="false" flipV="false" rot="0">
                <a:off x="0" y="0"/>
                <a:ext cx="4948243" cy="1178258"/>
              </a:xfrm>
              <a:custGeom>
                <a:avLst/>
                <a:gdLst/>
                <a:ahLst/>
                <a:cxnLst/>
                <a:rect r="r" b="b" t="t" l="l"/>
                <a:pathLst>
                  <a:path h="1178258" w="4948243">
                    <a:moveTo>
                      <a:pt x="0" y="0"/>
                    </a:moveTo>
                    <a:lnTo>
                      <a:pt x="4948243" y="0"/>
                    </a:lnTo>
                    <a:lnTo>
                      <a:pt x="4948243" y="1178258"/>
                    </a:lnTo>
                    <a:lnTo>
                      <a:pt x="0" y="1178258"/>
                    </a:lnTo>
                    <a:close/>
                  </a:path>
                </a:pathLst>
              </a:custGeom>
              <a:solidFill>
                <a:srgbClr val="FFFFFF"/>
              </a:solidFill>
            </p:spPr>
          </p:sp>
          <p:sp>
            <p:nvSpPr>
              <p:cNvPr name="TextBox 7" id="7"/>
              <p:cNvSpPr txBox="true"/>
              <p:nvPr/>
            </p:nvSpPr>
            <p:spPr>
              <a:xfrm>
                <a:off x="0" y="66675"/>
                <a:ext cx="4948243" cy="1111583"/>
              </a:xfrm>
              <a:prstGeom prst="rect">
                <a:avLst/>
              </a:prstGeom>
            </p:spPr>
            <p:txBody>
              <a:bodyPr anchor="ctr" rtlCol="false" tIns="50800" lIns="50800" bIns="50800" rIns="50800"/>
              <a:lstStyle/>
              <a:p>
                <a:pPr algn="ctr">
                  <a:lnSpc>
                    <a:spcPts val="1966"/>
                  </a:lnSpc>
                </a:pPr>
              </a:p>
            </p:txBody>
          </p:sp>
        </p:grpSp>
        <p:sp>
          <p:nvSpPr>
            <p:cNvPr name="TextBox 8" id="8"/>
            <p:cNvSpPr txBox="true"/>
            <p:nvPr/>
          </p:nvSpPr>
          <p:spPr>
            <a:xfrm rot="0">
              <a:off x="691747" y="3576890"/>
              <a:ext cx="16783972" cy="5372762"/>
            </a:xfrm>
            <a:prstGeom prst="rect">
              <a:avLst/>
            </a:prstGeom>
          </p:spPr>
          <p:txBody>
            <a:bodyPr anchor="t" rtlCol="false" tIns="0" lIns="0" bIns="0" rIns="0">
              <a:spAutoFit/>
            </a:bodyPr>
            <a:lstStyle/>
            <a:p>
              <a:pPr algn="l" marL="0" indent="0" lvl="0">
                <a:lnSpc>
                  <a:spcPts val="9744"/>
                </a:lnSpc>
              </a:pPr>
              <a:r>
                <a:rPr lang="en-US" sz="11883">
                  <a:solidFill>
                    <a:srgbClr val="000000"/>
                  </a:solidFill>
                  <a:latin typeface="Poppins Light"/>
                  <a:ea typeface="Poppins Light"/>
                  <a:cs typeface="Poppins Light"/>
                  <a:sym typeface="Poppins Light"/>
                </a:rPr>
                <a:t>Profiling Dataset</a:t>
              </a:r>
            </a:p>
            <a:p>
              <a:pPr algn="l" marL="0" indent="0" lvl="0">
                <a:lnSpc>
                  <a:spcPts val="9744"/>
                </a:lnSpc>
              </a:pPr>
              <a:r>
                <a:rPr lang="en-US" sz="11883">
                  <a:solidFill>
                    <a:srgbClr val="000000"/>
                  </a:solidFill>
                  <a:latin typeface="Poppins Light"/>
                  <a:ea typeface="Poppins Light"/>
                  <a:cs typeface="Poppins Light"/>
                  <a:sym typeface="Poppins Light"/>
                </a:rPr>
                <a:t>Time-Series &amp;</a:t>
              </a:r>
            </a:p>
            <a:p>
              <a:pPr algn="l" marL="0" indent="0" lvl="0">
                <a:lnSpc>
                  <a:spcPts val="9744"/>
                </a:lnSpc>
              </a:pPr>
              <a:r>
                <a:rPr lang="en-US" sz="11883">
                  <a:solidFill>
                    <a:srgbClr val="000000"/>
                  </a:solidFill>
                  <a:latin typeface="Poppins Light"/>
                  <a:ea typeface="Poppins Light"/>
                  <a:cs typeface="Poppins Light"/>
                  <a:sym typeface="Poppins Light"/>
                </a:rPr>
                <a:t>Non-Time-Series</a:t>
              </a:r>
            </a:p>
          </p:txBody>
        </p:sp>
        <p:sp>
          <p:nvSpPr>
            <p:cNvPr name="TextBox 9" id="9"/>
            <p:cNvSpPr txBox="true"/>
            <p:nvPr/>
          </p:nvSpPr>
          <p:spPr>
            <a:xfrm rot="0">
              <a:off x="2672646" y="1686808"/>
              <a:ext cx="5272751" cy="587405"/>
            </a:xfrm>
            <a:prstGeom prst="rect">
              <a:avLst/>
            </a:prstGeom>
          </p:spPr>
          <p:txBody>
            <a:bodyPr anchor="t" rtlCol="false" tIns="0" lIns="0" bIns="0" rIns="0">
              <a:spAutoFit/>
            </a:bodyPr>
            <a:lstStyle/>
            <a:p>
              <a:pPr algn="l" marL="0" indent="0" lvl="0">
                <a:lnSpc>
                  <a:spcPts val="1784"/>
                </a:lnSpc>
              </a:pPr>
              <a:r>
                <a:rPr lang="en-US" sz="1362">
                  <a:solidFill>
                    <a:srgbClr val="000000"/>
                  </a:solidFill>
                  <a:latin typeface="Poppins Light"/>
                  <a:ea typeface="Poppins Light"/>
                  <a:cs typeface="Poppins Light"/>
                  <a:sym typeface="Poppins Light"/>
                </a:rPr>
                <a:t>Sebastian Abe Santoso</a:t>
              </a:r>
            </a:p>
            <a:p>
              <a:pPr algn="l" marL="0" indent="0" lvl="0">
                <a:lnSpc>
                  <a:spcPts val="1784"/>
                </a:lnSpc>
              </a:pPr>
              <a:r>
                <a:rPr lang="en-US" sz="1362">
                  <a:solidFill>
                    <a:srgbClr val="000000"/>
                  </a:solidFill>
                  <a:latin typeface="Poppins Light"/>
                  <a:ea typeface="Poppins Light"/>
                  <a:cs typeface="Poppins Light"/>
                  <a:sym typeface="Poppins Light"/>
                </a:rPr>
                <a:t>NIM 2410817210002</a:t>
              </a:r>
            </a:p>
          </p:txBody>
        </p:sp>
        <p:sp>
          <p:nvSpPr>
            <p:cNvPr name="Freeform 10" id="10"/>
            <p:cNvSpPr/>
            <p:nvPr/>
          </p:nvSpPr>
          <p:spPr>
            <a:xfrm flipH="false" flipV="false" rot="0">
              <a:off x="1371600" y="1098463"/>
              <a:ext cx="881314" cy="616920"/>
            </a:xfrm>
            <a:custGeom>
              <a:avLst/>
              <a:gdLst/>
              <a:ahLst/>
              <a:cxnLst/>
              <a:rect r="r" b="b" t="t" l="l"/>
              <a:pathLst>
                <a:path h="616920" w="881314">
                  <a:moveTo>
                    <a:pt x="0" y="0"/>
                  </a:moveTo>
                  <a:lnTo>
                    <a:pt x="881314" y="0"/>
                  </a:lnTo>
                  <a:lnTo>
                    <a:pt x="881314" y="616920"/>
                  </a:lnTo>
                  <a:lnTo>
                    <a:pt x="0" y="6169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21638514" y="0"/>
              <a:ext cx="2745486" cy="5486400"/>
            </a:xfrm>
            <a:custGeom>
              <a:avLst/>
              <a:gdLst/>
              <a:ahLst/>
              <a:cxnLst/>
              <a:rect r="r" b="b" t="t" l="l"/>
              <a:pathLst>
                <a:path h="5486400" w="2745486">
                  <a:moveTo>
                    <a:pt x="0" y="0"/>
                  </a:moveTo>
                  <a:lnTo>
                    <a:pt x="2745486" y="0"/>
                  </a:lnTo>
                  <a:lnTo>
                    <a:pt x="2745486" y="5486400"/>
                  </a:lnTo>
                  <a:lnTo>
                    <a:pt x="0" y="54864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7025234" y="1912845"/>
              <a:ext cx="9890310" cy="9890310"/>
            </a:xfrm>
            <a:custGeom>
              <a:avLst/>
              <a:gdLst/>
              <a:ahLst/>
              <a:cxnLst/>
              <a:rect r="r" b="b" t="t" l="l"/>
              <a:pathLst>
                <a:path h="9890310" w="9890310">
                  <a:moveTo>
                    <a:pt x="0" y="0"/>
                  </a:moveTo>
                  <a:lnTo>
                    <a:pt x="9890310" y="0"/>
                  </a:lnTo>
                  <a:lnTo>
                    <a:pt x="9890310" y="9890310"/>
                  </a:lnTo>
                  <a:lnTo>
                    <a:pt x="0" y="9890310"/>
                  </a:lnTo>
                  <a:lnTo>
                    <a:pt x="0" y="0"/>
                  </a:lnTo>
                  <a:close/>
                </a:path>
              </a:pathLst>
            </a:custGeom>
            <a:blipFill>
              <a:blip r:embed="rId3">
                <a:alphaModFix amt="18000"/>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2672646" y="1195959"/>
              <a:ext cx="5045256" cy="417848"/>
            </a:xfrm>
            <a:prstGeom prst="rect">
              <a:avLst/>
            </a:prstGeom>
          </p:spPr>
          <p:txBody>
            <a:bodyPr anchor="t" rtlCol="false" tIns="0" lIns="0" bIns="0" rIns="0">
              <a:spAutoFit/>
            </a:bodyPr>
            <a:lstStyle/>
            <a:p>
              <a:pPr algn="l" marL="0" indent="0" lvl="0">
                <a:lnSpc>
                  <a:spcPts val="1966"/>
                </a:lnSpc>
              </a:pPr>
              <a:r>
                <a:rPr lang="en-US" sz="2398">
                  <a:solidFill>
                    <a:srgbClr val="000000"/>
                  </a:solidFill>
                  <a:latin typeface="Poppins Light"/>
                  <a:ea typeface="Poppins Light"/>
                  <a:cs typeface="Poppins Light"/>
                  <a:sym typeface="Poppins Light"/>
                </a:rPr>
                <a:t>Data Analitik</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34990" y="-8276169"/>
            <a:ext cx="20186658" cy="8852366"/>
            <a:chOff x="0" y="0"/>
            <a:chExt cx="26915544" cy="11803155"/>
          </a:xfrm>
        </p:grpSpPr>
        <p:grpSp>
          <p:nvGrpSpPr>
            <p:cNvPr name="Group 3" id="3"/>
            <p:cNvGrpSpPr/>
            <p:nvPr/>
          </p:nvGrpSpPr>
          <p:grpSpPr>
            <a:xfrm rot="0">
              <a:off x="0" y="5831990"/>
              <a:ext cx="25050481" cy="5964933"/>
              <a:chOff x="0" y="0"/>
              <a:chExt cx="4948243" cy="1178258"/>
            </a:xfrm>
          </p:grpSpPr>
          <p:sp>
            <p:nvSpPr>
              <p:cNvPr name="Freeform 4" id="4"/>
              <p:cNvSpPr/>
              <p:nvPr/>
            </p:nvSpPr>
            <p:spPr>
              <a:xfrm flipH="false" flipV="false" rot="0">
                <a:off x="0" y="0"/>
                <a:ext cx="4948243" cy="1178258"/>
              </a:xfrm>
              <a:custGeom>
                <a:avLst/>
                <a:gdLst/>
                <a:ahLst/>
                <a:cxnLst/>
                <a:rect r="r" b="b" t="t" l="l"/>
                <a:pathLst>
                  <a:path h="1178258" w="4948243">
                    <a:moveTo>
                      <a:pt x="0" y="0"/>
                    </a:moveTo>
                    <a:lnTo>
                      <a:pt x="4948243" y="0"/>
                    </a:lnTo>
                    <a:lnTo>
                      <a:pt x="4948243" y="1178258"/>
                    </a:lnTo>
                    <a:lnTo>
                      <a:pt x="0" y="1178258"/>
                    </a:lnTo>
                    <a:close/>
                  </a:path>
                </a:pathLst>
              </a:custGeom>
              <a:solidFill>
                <a:srgbClr val="FFFFFF"/>
              </a:solidFill>
            </p:spPr>
          </p:sp>
          <p:sp>
            <p:nvSpPr>
              <p:cNvPr name="TextBox 5" id="5"/>
              <p:cNvSpPr txBox="true"/>
              <p:nvPr/>
            </p:nvSpPr>
            <p:spPr>
              <a:xfrm>
                <a:off x="0" y="66675"/>
                <a:ext cx="4948243" cy="1111583"/>
              </a:xfrm>
              <a:prstGeom prst="rect">
                <a:avLst/>
              </a:prstGeom>
            </p:spPr>
            <p:txBody>
              <a:bodyPr anchor="ctr" rtlCol="false" tIns="50800" lIns="50800" bIns="50800" rIns="50800"/>
              <a:lstStyle/>
              <a:p>
                <a:pPr algn="ctr">
                  <a:lnSpc>
                    <a:spcPts val="1966"/>
                  </a:lnSpc>
                </a:pPr>
              </a:p>
            </p:txBody>
          </p:sp>
        </p:grpSp>
        <p:sp>
          <p:nvSpPr>
            <p:cNvPr name="TextBox 6" id="6"/>
            <p:cNvSpPr txBox="true"/>
            <p:nvPr/>
          </p:nvSpPr>
          <p:spPr>
            <a:xfrm rot="0">
              <a:off x="691747" y="3576890"/>
              <a:ext cx="16783972" cy="5372762"/>
            </a:xfrm>
            <a:prstGeom prst="rect">
              <a:avLst/>
            </a:prstGeom>
          </p:spPr>
          <p:txBody>
            <a:bodyPr anchor="t" rtlCol="false" tIns="0" lIns="0" bIns="0" rIns="0">
              <a:spAutoFit/>
            </a:bodyPr>
            <a:lstStyle/>
            <a:p>
              <a:pPr algn="l" marL="0" indent="0" lvl="0">
                <a:lnSpc>
                  <a:spcPts val="9744"/>
                </a:lnSpc>
              </a:pPr>
              <a:r>
                <a:rPr lang="en-US" sz="11883">
                  <a:solidFill>
                    <a:srgbClr val="000000"/>
                  </a:solidFill>
                  <a:latin typeface="Poppins Light"/>
                  <a:ea typeface="Poppins Light"/>
                  <a:cs typeface="Poppins Light"/>
                  <a:sym typeface="Poppins Light"/>
                </a:rPr>
                <a:t>Profiling Dataset</a:t>
              </a:r>
            </a:p>
            <a:p>
              <a:pPr algn="l" marL="0" indent="0" lvl="0">
                <a:lnSpc>
                  <a:spcPts val="9744"/>
                </a:lnSpc>
              </a:pPr>
              <a:r>
                <a:rPr lang="en-US" sz="11883">
                  <a:solidFill>
                    <a:srgbClr val="000000"/>
                  </a:solidFill>
                  <a:latin typeface="Poppins Light"/>
                  <a:ea typeface="Poppins Light"/>
                  <a:cs typeface="Poppins Light"/>
                  <a:sym typeface="Poppins Light"/>
                </a:rPr>
                <a:t>Time-Series &amp;</a:t>
              </a:r>
            </a:p>
            <a:p>
              <a:pPr algn="l" marL="0" indent="0" lvl="0">
                <a:lnSpc>
                  <a:spcPts val="9744"/>
                </a:lnSpc>
              </a:pPr>
              <a:r>
                <a:rPr lang="en-US" sz="11883">
                  <a:solidFill>
                    <a:srgbClr val="000000"/>
                  </a:solidFill>
                  <a:latin typeface="Poppins Light"/>
                  <a:ea typeface="Poppins Light"/>
                  <a:cs typeface="Poppins Light"/>
                  <a:sym typeface="Poppins Light"/>
                </a:rPr>
                <a:t>Non-Time-Series</a:t>
              </a:r>
            </a:p>
          </p:txBody>
        </p:sp>
        <p:sp>
          <p:nvSpPr>
            <p:cNvPr name="TextBox 7" id="7"/>
            <p:cNvSpPr txBox="true"/>
            <p:nvPr/>
          </p:nvSpPr>
          <p:spPr>
            <a:xfrm rot="0">
              <a:off x="2672646" y="1686808"/>
              <a:ext cx="5272751" cy="587405"/>
            </a:xfrm>
            <a:prstGeom prst="rect">
              <a:avLst/>
            </a:prstGeom>
          </p:spPr>
          <p:txBody>
            <a:bodyPr anchor="t" rtlCol="false" tIns="0" lIns="0" bIns="0" rIns="0">
              <a:spAutoFit/>
            </a:bodyPr>
            <a:lstStyle/>
            <a:p>
              <a:pPr algn="l" marL="0" indent="0" lvl="0">
                <a:lnSpc>
                  <a:spcPts val="1784"/>
                </a:lnSpc>
              </a:pPr>
              <a:r>
                <a:rPr lang="en-US" sz="1362">
                  <a:solidFill>
                    <a:srgbClr val="000000"/>
                  </a:solidFill>
                  <a:latin typeface="Poppins Light"/>
                  <a:ea typeface="Poppins Light"/>
                  <a:cs typeface="Poppins Light"/>
                  <a:sym typeface="Poppins Light"/>
                </a:rPr>
                <a:t>Sebastian Abe Santoso</a:t>
              </a:r>
            </a:p>
            <a:p>
              <a:pPr algn="l" marL="0" indent="0" lvl="0">
                <a:lnSpc>
                  <a:spcPts val="1784"/>
                </a:lnSpc>
              </a:pPr>
              <a:r>
                <a:rPr lang="en-US" sz="1362">
                  <a:solidFill>
                    <a:srgbClr val="000000"/>
                  </a:solidFill>
                  <a:latin typeface="Poppins Light"/>
                  <a:ea typeface="Poppins Light"/>
                  <a:cs typeface="Poppins Light"/>
                  <a:sym typeface="Poppins Light"/>
                </a:rPr>
                <a:t>NIM 2410817210002</a:t>
              </a:r>
            </a:p>
          </p:txBody>
        </p:sp>
        <p:sp>
          <p:nvSpPr>
            <p:cNvPr name="Freeform 8" id="8"/>
            <p:cNvSpPr/>
            <p:nvPr/>
          </p:nvSpPr>
          <p:spPr>
            <a:xfrm flipH="false" flipV="false" rot="0">
              <a:off x="1371600" y="1098463"/>
              <a:ext cx="881314" cy="616920"/>
            </a:xfrm>
            <a:custGeom>
              <a:avLst/>
              <a:gdLst/>
              <a:ahLst/>
              <a:cxnLst/>
              <a:rect r="r" b="b" t="t" l="l"/>
              <a:pathLst>
                <a:path h="616920" w="881314">
                  <a:moveTo>
                    <a:pt x="0" y="0"/>
                  </a:moveTo>
                  <a:lnTo>
                    <a:pt x="881314" y="0"/>
                  </a:lnTo>
                  <a:lnTo>
                    <a:pt x="881314" y="616920"/>
                  </a:lnTo>
                  <a:lnTo>
                    <a:pt x="0" y="6169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638514" y="0"/>
              <a:ext cx="2745486" cy="5486400"/>
            </a:xfrm>
            <a:custGeom>
              <a:avLst/>
              <a:gdLst/>
              <a:ahLst/>
              <a:cxnLst/>
              <a:rect r="r" b="b" t="t" l="l"/>
              <a:pathLst>
                <a:path h="5486400" w="2745486">
                  <a:moveTo>
                    <a:pt x="0" y="0"/>
                  </a:moveTo>
                  <a:lnTo>
                    <a:pt x="2745486" y="0"/>
                  </a:lnTo>
                  <a:lnTo>
                    <a:pt x="2745486" y="5486400"/>
                  </a:lnTo>
                  <a:lnTo>
                    <a:pt x="0" y="5486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7025234" y="1912845"/>
              <a:ext cx="9890310" cy="9890310"/>
            </a:xfrm>
            <a:custGeom>
              <a:avLst/>
              <a:gdLst/>
              <a:ahLst/>
              <a:cxnLst/>
              <a:rect r="r" b="b" t="t" l="l"/>
              <a:pathLst>
                <a:path h="9890310" w="9890310">
                  <a:moveTo>
                    <a:pt x="0" y="0"/>
                  </a:moveTo>
                  <a:lnTo>
                    <a:pt x="9890310" y="0"/>
                  </a:lnTo>
                  <a:lnTo>
                    <a:pt x="9890310" y="9890310"/>
                  </a:lnTo>
                  <a:lnTo>
                    <a:pt x="0" y="9890310"/>
                  </a:lnTo>
                  <a:lnTo>
                    <a:pt x="0" y="0"/>
                  </a:lnTo>
                  <a:close/>
                </a:path>
              </a:pathLst>
            </a:custGeom>
            <a:blipFill>
              <a:blip r:embed="rId6">
                <a:alphaModFix amt="18000"/>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2672646" y="1195959"/>
              <a:ext cx="5045256" cy="417848"/>
            </a:xfrm>
            <a:prstGeom prst="rect">
              <a:avLst/>
            </a:prstGeom>
          </p:spPr>
          <p:txBody>
            <a:bodyPr anchor="t" rtlCol="false" tIns="0" lIns="0" bIns="0" rIns="0">
              <a:spAutoFit/>
            </a:bodyPr>
            <a:lstStyle/>
            <a:p>
              <a:pPr algn="l" marL="0" indent="0" lvl="0">
                <a:lnSpc>
                  <a:spcPts val="1966"/>
                </a:lnSpc>
              </a:pPr>
              <a:r>
                <a:rPr lang="en-US" sz="2398">
                  <a:solidFill>
                    <a:srgbClr val="000000"/>
                  </a:solidFill>
                  <a:latin typeface="Poppins Light"/>
                  <a:ea typeface="Poppins Light"/>
                  <a:cs typeface="Poppins Light"/>
                  <a:sym typeface="Poppins Light"/>
                </a:rPr>
                <a:t>Data Analitik</a:t>
              </a:r>
            </a:p>
          </p:txBody>
        </p:sp>
      </p:grpSp>
      <p:sp>
        <p:nvSpPr>
          <p:cNvPr name="Freeform 12" id="12"/>
          <p:cNvSpPr/>
          <p:nvPr/>
        </p:nvSpPr>
        <p:spPr>
          <a:xfrm flipH="false" flipV="false" rot="0">
            <a:off x="-129433996" y="-24219237"/>
            <a:ext cx="219911559" cy="62537350"/>
          </a:xfrm>
          <a:custGeom>
            <a:avLst/>
            <a:gdLst/>
            <a:ahLst/>
            <a:cxnLst/>
            <a:rect r="r" b="b" t="t" l="l"/>
            <a:pathLst>
              <a:path h="62537350" w="219911559">
                <a:moveTo>
                  <a:pt x="0" y="0"/>
                </a:moveTo>
                <a:lnTo>
                  <a:pt x="219911559" y="0"/>
                </a:lnTo>
                <a:lnTo>
                  <a:pt x="219911559" y="62537350"/>
                </a:lnTo>
                <a:lnTo>
                  <a:pt x="0" y="62537350"/>
                </a:lnTo>
                <a:lnTo>
                  <a:pt x="0" y="0"/>
                </a:lnTo>
                <a:close/>
              </a:path>
            </a:pathLst>
          </a:custGeom>
          <a:blipFill>
            <a:blip r:embed="rId8"/>
            <a:stretch>
              <a:fillRect l="0" t="0" r="0" b="0"/>
            </a:stretch>
          </a:blipFill>
        </p:spPr>
      </p:sp>
      <p:grpSp>
        <p:nvGrpSpPr>
          <p:cNvPr name="Group 13" id="13"/>
          <p:cNvGrpSpPr/>
          <p:nvPr/>
        </p:nvGrpSpPr>
        <p:grpSpPr>
          <a:xfrm rot="0">
            <a:off x="10964610" y="9399997"/>
            <a:ext cx="7867824" cy="6244946"/>
            <a:chOff x="0" y="0"/>
            <a:chExt cx="2072184" cy="1644760"/>
          </a:xfrm>
        </p:grpSpPr>
        <p:sp>
          <p:nvSpPr>
            <p:cNvPr name="Freeform 14" id="14"/>
            <p:cNvSpPr/>
            <p:nvPr/>
          </p:nvSpPr>
          <p:spPr>
            <a:xfrm flipH="false" flipV="false" rot="0">
              <a:off x="0" y="0"/>
              <a:ext cx="2072184" cy="1644759"/>
            </a:xfrm>
            <a:custGeom>
              <a:avLst/>
              <a:gdLst/>
              <a:ahLst/>
              <a:cxnLst/>
              <a:rect r="r" b="b" t="t" l="l"/>
              <a:pathLst>
                <a:path h="1644759" w="2072184">
                  <a:moveTo>
                    <a:pt x="0" y="0"/>
                  </a:moveTo>
                  <a:lnTo>
                    <a:pt x="2072184" y="0"/>
                  </a:lnTo>
                  <a:lnTo>
                    <a:pt x="2072184" y="1644759"/>
                  </a:lnTo>
                  <a:lnTo>
                    <a:pt x="0" y="1644759"/>
                  </a:lnTo>
                  <a:close/>
                </a:path>
              </a:pathLst>
            </a:custGeom>
            <a:solidFill>
              <a:srgbClr val="FFFFFF"/>
            </a:solidFill>
          </p:spPr>
        </p:sp>
        <p:sp>
          <p:nvSpPr>
            <p:cNvPr name="TextBox 15" id="15"/>
            <p:cNvSpPr txBox="true"/>
            <p:nvPr/>
          </p:nvSpPr>
          <p:spPr>
            <a:xfrm>
              <a:off x="0" y="66675"/>
              <a:ext cx="2072184" cy="1578085"/>
            </a:xfrm>
            <a:prstGeom prst="rect">
              <a:avLst/>
            </a:prstGeom>
          </p:spPr>
          <p:txBody>
            <a:bodyPr anchor="ctr" rtlCol="false" tIns="50800" lIns="50800" bIns="50800" rIns="50800"/>
            <a:lstStyle/>
            <a:p>
              <a:pPr algn="ctr">
                <a:lnSpc>
                  <a:spcPts val="1966"/>
                </a:lnSpc>
              </a:pPr>
            </a:p>
          </p:txBody>
        </p:sp>
      </p:grpSp>
      <p:grpSp>
        <p:nvGrpSpPr>
          <p:cNvPr name="Group 16" id="16"/>
          <p:cNvGrpSpPr/>
          <p:nvPr/>
        </p:nvGrpSpPr>
        <p:grpSpPr>
          <a:xfrm rot="0">
            <a:off x="10420176" y="0"/>
            <a:ext cx="7867824" cy="4910935"/>
            <a:chOff x="0" y="0"/>
            <a:chExt cx="2072184" cy="1293415"/>
          </a:xfrm>
        </p:grpSpPr>
        <p:sp>
          <p:nvSpPr>
            <p:cNvPr name="Freeform 17" id="17"/>
            <p:cNvSpPr/>
            <p:nvPr/>
          </p:nvSpPr>
          <p:spPr>
            <a:xfrm flipH="false" flipV="false" rot="0">
              <a:off x="0" y="0"/>
              <a:ext cx="2072184" cy="1293415"/>
            </a:xfrm>
            <a:custGeom>
              <a:avLst/>
              <a:gdLst/>
              <a:ahLst/>
              <a:cxnLst/>
              <a:rect r="r" b="b" t="t" l="l"/>
              <a:pathLst>
                <a:path h="1293415" w="2072184">
                  <a:moveTo>
                    <a:pt x="0" y="0"/>
                  </a:moveTo>
                  <a:lnTo>
                    <a:pt x="2072184" y="0"/>
                  </a:lnTo>
                  <a:lnTo>
                    <a:pt x="2072184" y="1293415"/>
                  </a:lnTo>
                  <a:lnTo>
                    <a:pt x="0" y="1293415"/>
                  </a:lnTo>
                  <a:close/>
                </a:path>
              </a:pathLst>
            </a:custGeom>
            <a:solidFill>
              <a:srgbClr val="FFFFFF"/>
            </a:solidFill>
          </p:spPr>
        </p:sp>
        <p:sp>
          <p:nvSpPr>
            <p:cNvPr name="TextBox 18" id="18"/>
            <p:cNvSpPr txBox="true"/>
            <p:nvPr/>
          </p:nvSpPr>
          <p:spPr>
            <a:xfrm>
              <a:off x="0" y="66675"/>
              <a:ext cx="2072184" cy="1226740"/>
            </a:xfrm>
            <a:prstGeom prst="rect">
              <a:avLst/>
            </a:prstGeom>
          </p:spPr>
          <p:txBody>
            <a:bodyPr anchor="ctr" rtlCol="false" tIns="50800" lIns="50800" bIns="50800" rIns="50800"/>
            <a:lstStyle/>
            <a:p>
              <a:pPr algn="ctr">
                <a:lnSpc>
                  <a:spcPts val="1966"/>
                </a:lnSpc>
              </a:pPr>
            </a:p>
          </p:txBody>
        </p:sp>
      </p:grpSp>
      <p:grpSp>
        <p:nvGrpSpPr>
          <p:cNvPr name="Group 19" id="19"/>
          <p:cNvGrpSpPr/>
          <p:nvPr/>
        </p:nvGrpSpPr>
        <p:grpSpPr>
          <a:xfrm rot="0">
            <a:off x="9829887" y="0"/>
            <a:ext cx="2843541" cy="10287000"/>
            <a:chOff x="0" y="0"/>
            <a:chExt cx="748916" cy="2709333"/>
          </a:xfrm>
        </p:grpSpPr>
        <p:sp>
          <p:nvSpPr>
            <p:cNvPr name="Freeform 20" id="20"/>
            <p:cNvSpPr/>
            <p:nvPr/>
          </p:nvSpPr>
          <p:spPr>
            <a:xfrm flipH="false" flipV="false" rot="0">
              <a:off x="0" y="0"/>
              <a:ext cx="748916" cy="2709333"/>
            </a:xfrm>
            <a:custGeom>
              <a:avLst/>
              <a:gdLst/>
              <a:ahLst/>
              <a:cxnLst/>
              <a:rect r="r" b="b" t="t" l="l"/>
              <a:pathLst>
                <a:path h="2709333" w="748916">
                  <a:moveTo>
                    <a:pt x="0" y="0"/>
                  </a:moveTo>
                  <a:lnTo>
                    <a:pt x="748916" y="0"/>
                  </a:lnTo>
                  <a:lnTo>
                    <a:pt x="748916" y="2709333"/>
                  </a:lnTo>
                  <a:lnTo>
                    <a:pt x="0" y="2709333"/>
                  </a:lnTo>
                  <a:close/>
                </a:path>
              </a:pathLst>
            </a:custGeom>
            <a:solidFill>
              <a:srgbClr val="FFFFFF"/>
            </a:solidFill>
          </p:spPr>
        </p:sp>
        <p:sp>
          <p:nvSpPr>
            <p:cNvPr name="TextBox 21" id="21"/>
            <p:cNvSpPr txBox="true"/>
            <p:nvPr/>
          </p:nvSpPr>
          <p:spPr>
            <a:xfrm>
              <a:off x="0" y="66675"/>
              <a:ext cx="748916" cy="2642658"/>
            </a:xfrm>
            <a:prstGeom prst="rect">
              <a:avLst/>
            </a:prstGeom>
          </p:spPr>
          <p:txBody>
            <a:bodyPr anchor="ctr" rtlCol="false" tIns="50800" lIns="50800" bIns="50800" rIns="50800"/>
            <a:lstStyle/>
            <a:p>
              <a:pPr algn="ctr">
                <a:lnSpc>
                  <a:spcPts val="1966"/>
                </a:lnSpc>
              </a:pPr>
            </a:p>
          </p:txBody>
        </p:sp>
      </p:grpSp>
      <p:grpSp>
        <p:nvGrpSpPr>
          <p:cNvPr name="Group 22" id="22"/>
          <p:cNvGrpSpPr/>
          <p:nvPr/>
        </p:nvGrpSpPr>
        <p:grpSpPr>
          <a:xfrm rot="0">
            <a:off x="0" y="0"/>
            <a:ext cx="9829887" cy="10287000"/>
            <a:chOff x="0" y="0"/>
            <a:chExt cx="2588941" cy="2709333"/>
          </a:xfrm>
        </p:grpSpPr>
        <p:sp>
          <p:nvSpPr>
            <p:cNvPr name="Freeform 23" id="23"/>
            <p:cNvSpPr/>
            <p:nvPr/>
          </p:nvSpPr>
          <p:spPr>
            <a:xfrm flipH="false" flipV="false" rot="0">
              <a:off x="0" y="0"/>
              <a:ext cx="2588941" cy="2709333"/>
            </a:xfrm>
            <a:custGeom>
              <a:avLst/>
              <a:gdLst/>
              <a:ahLst/>
              <a:cxnLst/>
              <a:rect r="r" b="b" t="t" l="l"/>
              <a:pathLst>
                <a:path h="2709333" w="2588941">
                  <a:moveTo>
                    <a:pt x="0" y="0"/>
                  </a:moveTo>
                  <a:lnTo>
                    <a:pt x="2588941" y="0"/>
                  </a:lnTo>
                  <a:lnTo>
                    <a:pt x="2588941" y="2709333"/>
                  </a:lnTo>
                  <a:lnTo>
                    <a:pt x="0" y="2709333"/>
                  </a:lnTo>
                  <a:close/>
                </a:path>
              </a:pathLst>
            </a:custGeom>
            <a:solidFill>
              <a:srgbClr val="FFFFFF"/>
            </a:solidFill>
          </p:spPr>
        </p:sp>
        <p:sp>
          <p:nvSpPr>
            <p:cNvPr name="TextBox 24" id="24"/>
            <p:cNvSpPr txBox="true"/>
            <p:nvPr/>
          </p:nvSpPr>
          <p:spPr>
            <a:xfrm>
              <a:off x="0" y="66675"/>
              <a:ext cx="2588941" cy="2642658"/>
            </a:xfrm>
            <a:prstGeom prst="rect">
              <a:avLst/>
            </a:prstGeom>
          </p:spPr>
          <p:txBody>
            <a:bodyPr anchor="ctr" rtlCol="false" tIns="50800" lIns="50800" bIns="50800" rIns="50800"/>
            <a:lstStyle/>
            <a:p>
              <a:pPr algn="ctr">
                <a:lnSpc>
                  <a:spcPts val="1966"/>
                </a:lnSpc>
              </a:pPr>
            </a:p>
          </p:txBody>
        </p:sp>
      </p:grpSp>
      <p:sp>
        <p:nvSpPr>
          <p:cNvPr name="Freeform 25" id="25"/>
          <p:cNvSpPr/>
          <p:nvPr/>
        </p:nvSpPr>
        <p:spPr>
          <a:xfrm flipH="false" flipV="false" rot="0">
            <a:off x="-2105443" y="-2025655"/>
            <a:ext cx="7417732" cy="7417732"/>
          </a:xfrm>
          <a:custGeom>
            <a:avLst/>
            <a:gdLst/>
            <a:ahLst/>
            <a:cxnLst/>
            <a:rect r="r" b="b" t="t" l="l"/>
            <a:pathLst>
              <a:path h="7417732" w="7417732">
                <a:moveTo>
                  <a:pt x="0" y="0"/>
                </a:moveTo>
                <a:lnTo>
                  <a:pt x="7417732" y="0"/>
                </a:lnTo>
                <a:lnTo>
                  <a:pt x="7417732" y="7417733"/>
                </a:lnTo>
                <a:lnTo>
                  <a:pt x="0" y="7417733"/>
                </a:lnTo>
                <a:lnTo>
                  <a:pt x="0" y="0"/>
                </a:lnTo>
                <a:close/>
              </a:path>
            </a:pathLst>
          </a:custGeom>
          <a:blipFill>
            <a:blip r:embed="rId6">
              <a:alphaModFix amt="5000"/>
              <a:extLst>
                <a:ext uri="{96DAC541-7B7A-43D3-8B79-37D633B846F1}">
                  <asvg:svgBlip xmlns:asvg="http://schemas.microsoft.com/office/drawing/2016/SVG/main" r:embed="rId7"/>
                </a:ext>
              </a:extLst>
            </a:blip>
            <a:stretch>
              <a:fillRect l="0" t="0" r="0" b="0"/>
            </a:stretch>
          </a:blipFill>
        </p:spPr>
      </p:sp>
      <p:grpSp>
        <p:nvGrpSpPr>
          <p:cNvPr name="Group 26" id="26"/>
          <p:cNvGrpSpPr/>
          <p:nvPr/>
        </p:nvGrpSpPr>
        <p:grpSpPr>
          <a:xfrm rot="0">
            <a:off x="12682953" y="4889673"/>
            <a:ext cx="4431139" cy="4489062"/>
            <a:chOff x="0" y="0"/>
            <a:chExt cx="516716" cy="523470"/>
          </a:xfrm>
        </p:grpSpPr>
        <p:sp>
          <p:nvSpPr>
            <p:cNvPr name="Freeform 27" id="27"/>
            <p:cNvSpPr/>
            <p:nvPr/>
          </p:nvSpPr>
          <p:spPr>
            <a:xfrm flipH="false" flipV="false" rot="0">
              <a:off x="0" y="0"/>
              <a:ext cx="516716" cy="523470"/>
            </a:xfrm>
            <a:custGeom>
              <a:avLst/>
              <a:gdLst/>
              <a:ahLst/>
              <a:cxnLst/>
              <a:rect r="r" b="b" t="t" l="l"/>
              <a:pathLst>
                <a:path h="523470" w="516716">
                  <a:moveTo>
                    <a:pt x="0" y="0"/>
                  </a:moveTo>
                  <a:lnTo>
                    <a:pt x="516716" y="0"/>
                  </a:lnTo>
                  <a:lnTo>
                    <a:pt x="516716" y="523470"/>
                  </a:lnTo>
                  <a:lnTo>
                    <a:pt x="0" y="523470"/>
                  </a:lnTo>
                  <a:close/>
                </a:path>
              </a:pathLst>
            </a:custGeom>
            <a:solidFill>
              <a:srgbClr val="FF3131">
                <a:alpha val="23922"/>
              </a:srgbClr>
            </a:solidFill>
          </p:spPr>
        </p:sp>
        <p:sp>
          <p:nvSpPr>
            <p:cNvPr name="TextBox 28" id="28"/>
            <p:cNvSpPr txBox="true"/>
            <p:nvPr/>
          </p:nvSpPr>
          <p:spPr>
            <a:xfrm>
              <a:off x="0" y="66675"/>
              <a:ext cx="516716" cy="456795"/>
            </a:xfrm>
            <a:prstGeom prst="rect">
              <a:avLst/>
            </a:prstGeom>
          </p:spPr>
          <p:txBody>
            <a:bodyPr anchor="ctr" rtlCol="false" tIns="50800" lIns="50800" bIns="50800" rIns="50800"/>
            <a:lstStyle/>
            <a:p>
              <a:pPr algn="ctr">
                <a:lnSpc>
                  <a:spcPts val="1966"/>
                </a:lnSpc>
              </a:pPr>
            </a:p>
          </p:txBody>
        </p:sp>
      </p:grpSp>
      <p:sp>
        <p:nvSpPr>
          <p:cNvPr name="Freeform 29" id="29"/>
          <p:cNvSpPr/>
          <p:nvPr/>
        </p:nvSpPr>
        <p:spPr>
          <a:xfrm flipH="false" flipV="false" rot="0">
            <a:off x="17259300" y="0"/>
            <a:ext cx="2057400" cy="2057400"/>
          </a:xfrm>
          <a:custGeom>
            <a:avLst/>
            <a:gdLst/>
            <a:ahLst/>
            <a:cxnLst/>
            <a:rect r="r" b="b" t="t" l="l"/>
            <a:pathLst>
              <a:path h="2057400" w="2057400">
                <a:moveTo>
                  <a:pt x="0" y="0"/>
                </a:moveTo>
                <a:lnTo>
                  <a:pt x="2057400" y="0"/>
                </a:lnTo>
                <a:lnTo>
                  <a:pt x="2057400" y="2057400"/>
                </a:lnTo>
                <a:lnTo>
                  <a:pt x="0" y="20574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AutoShape 30" id="30"/>
          <p:cNvSpPr/>
          <p:nvPr/>
        </p:nvSpPr>
        <p:spPr>
          <a:xfrm>
            <a:off x="10016869" y="2932441"/>
            <a:ext cx="5510197" cy="0"/>
          </a:xfrm>
          <a:prstGeom prst="line">
            <a:avLst/>
          </a:prstGeom>
          <a:ln cap="flat" w="38100">
            <a:solidFill>
              <a:srgbClr val="FFB547"/>
            </a:solidFill>
            <a:prstDash val="solid"/>
            <a:headEnd type="none" len="sm" w="sm"/>
            <a:tailEnd type="none" len="sm" w="sm"/>
          </a:ln>
        </p:spPr>
      </p:sp>
      <p:sp>
        <p:nvSpPr>
          <p:cNvPr name="Freeform 31" id="31"/>
          <p:cNvSpPr/>
          <p:nvPr/>
        </p:nvSpPr>
        <p:spPr>
          <a:xfrm flipH="false" flipV="false" rot="0">
            <a:off x="1028700" y="989795"/>
            <a:ext cx="957340" cy="954946"/>
          </a:xfrm>
          <a:custGeom>
            <a:avLst/>
            <a:gdLst/>
            <a:ahLst/>
            <a:cxnLst/>
            <a:rect r="r" b="b" t="t" l="l"/>
            <a:pathLst>
              <a:path h="954946" w="957340">
                <a:moveTo>
                  <a:pt x="0" y="0"/>
                </a:moveTo>
                <a:lnTo>
                  <a:pt x="957340" y="0"/>
                </a:lnTo>
                <a:lnTo>
                  <a:pt x="957340" y="954946"/>
                </a:lnTo>
                <a:lnTo>
                  <a:pt x="0" y="95494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2" id="32"/>
          <p:cNvSpPr/>
          <p:nvPr/>
        </p:nvSpPr>
        <p:spPr>
          <a:xfrm flipH="false" flipV="false" rot="0">
            <a:off x="1028700" y="2207485"/>
            <a:ext cx="957340" cy="954946"/>
          </a:xfrm>
          <a:custGeom>
            <a:avLst/>
            <a:gdLst/>
            <a:ahLst/>
            <a:cxnLst/>
            <a:rect r="r" b="b" t="t" l="l"/>
            <a:pathLst>
              <a:path h="954946" w="957340">
                <a:moveTo>
                  <a:pt x="0" y="0"/>
                </a:moveTo>
                <a:lnTo>
                  <a:pt x="957340" y="0"/>
                </a:lnTo>
                <a:lnTo>
                  <a:pt x="957340" y="954946"/>
                </a:lnTo>
                <a:lnTo>
                  <a:pt x="0" y="95494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3" id="33"/>
          <p:cNvSpPr/>
          <p:nvPr/>
        </p:nvSpPr>
        <p:spPr>
          <a:xfrm flipH="false" flipV="false" rot="0">
            <a:off x="1028700" y="3429131"/>
            <a:ext cx="957340" cy="719202"/>
          </a:xfrm>
          <a:custGeom>
            <a:avLst/>
            <a:gdLst/>
            <a:ahLst/>
            <a:cxnLst/>
            <a:rect r="r" b="b" t="t" l="l"/>
            <a:pathLst>
              <a:path h="719202" w="957340">
                <a:moveTo>
                  <a:pt x="0" y="0"/>
                </a:moveTo>
                <a:lnTo>
                  <a:pt x="957340" y="0"/>
                </a:lnTo>
                <a:lnTo>
                  <a:pt x="957340" y="719202"/>
                </a:lnTo>
                <a:lnTo>
                  <a:pt x="0" y="71920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4" id="34"/>
          <p:cNvSpPr txBox="true"/>
          <p:nvPr/>
        </p:nvSpPr>
        <p:spPr>
          <a:xfrm rot="0">
            <a:off x="10016869" y="1238250"/>
            <a:ext cx="7329305" cy="1800482"/>
          </a:xfrm>
          <a:prstGeom prst="rect">
            <a:avLst/>
          </a:prstGeom>
        </p:spPr>
        <p:txBody>
          <a:bodyPr anchor="t" rtlCol="false" tIns="0" lIns="0" bIns="0" rIns="0">
            <a:spAutoFit/>
          </a:bodyPr>
          <a:lstStyle/>
          <a:p>
            <a:pPr algn="l" marL="0" indent="0" lvl="0">
              <a:lnSpc>
                <a:spcPts val="6443"/>
              </a:lnSpc>
            </a:pPr>
            <a:r>
              <a:rPr lang="en-US" sz="7858">
                <a:solidFill>
                  <a:srgbClr val="000000"/>
                </a:solidFill>
                <a:latin typeface="Poppins Light"/>
                <a:ea typeface="Poppins Light"/>
                <a:cs typeface="Poppins Light"/>
                <a:sym typeface="Poppins Light"/>
              </a:rPr>
              <a:t>Dataset 1 </a:t>
            </a:r>
          </a:p>
          <a:p>
            <a:pPr algn="l" marL="0" indent="0" lvl="0">
              <a:lnSpc>
                <a:spcPts val="6443"/>
              </a:lnSpc>
            </a:pPr>
            <a:r>
              <a:rPr lang="en-US" sz="7858">
                <a:solidFill>
                  <a:srgbClr val="000000"/>
                </a:solidFill>
                <a:latin typeface="Poppins Light"/>
                <a:ea typeface="Poppins Light"/>
                <a:cs typeface="Poppins Light"/>
                <a:sym typeface="Poppins Light"/>
              </a:rPr>
              <a:t>NASA FIRMS</a:t>
            </a:r>
          </a:p>
        </p:txBody>
      </p:sp>
      <p:sp>
        <p:nvSpPr>
          <p:cNvPr name="Freeform 35" id="35"/>
          <p:cNvSpPr/>
          <p:nvPr/>
        </p:nvSpPr>
        <p:spPr>
          <a:xfrm flipH="false" flipV="false" rot="0">
            <a:off x="11694249" y="2932441"/>
            <a:ext cx="7417732" cy="7417732"/>
          </a:xfrm>
          <a:custGeom>
            <a:avLst/>
            <a:gdLst/>
            <a:ahLst/>
            <a:cxnLst/>
            <a:rect r="r" b="b" t="t" l="l"/>
            <a:pathLst>
              <a:path h="7417732" w="7417732">
                <a:moveTo>
                  <a:pt x="0" y="0"/>
                </a:moveTo>
                <a:lnTo>
                  <a:pt x="7417733" y="0"/>
                </a:lnTo>
                <a:lnTo>
                  <a:pt x="7417733" y="7417732"/>
                </a:lnTo>
                <a:lnTo>
                  <a:pt x="0" y="7417732"/>
                </a:lnTo>
                <a:lnTo>
                  <a:pt x="0" y="0"/>
                </a:lnTo>
                <a:close/>
              </a:path>
            </a:pathLst>
          </a:custGeom>
          <a:blipFill>
            <a:blip r:embed="rId6">
              <a:alphaModFix amt="5000"/>
              <a:extLst>
                <a:ext uri="{96DAC541-7B7A-43D3-8B79-37D633B846F1}">
                  <asvg:svgBlip xmlns:asvg="http://schemas.microsoft.com/office/drawing/2016/SVG/main" r:embed="rId7"/>
                </a:ext>
              </a:extLst>
            </a:blip>
            <a:stretch>
              <a:fillRect l="0" t="0" r="0" b="0"/>
            </a:stretch>
          </a:blipFill>
        </p:spPr>
      </p:sp>
      <p:grpSp>
        <p:nvGrpSpPr>
          <p:cNvPr name="Group 36" id="36"/>
          <p:cNvGrpSpPr/>
          <p:nvPr/>
        </p:nvGrpSpPr>
        <p:grpSpPr>
          <a:xfrm rot="0">
            <a:off x="17124941" y="4011731"/>
            <a:ext cx="7867824" cy="6244946"/>
            <a:chOff x="0" y="0"/>
            <a:chExt cx="2072184" cy="1644760"/>
          </a:xfrm>
        </p:grpSpPr>
        <p:sp>
          <p:nvSpPr>
            <p:cNvPr name="Freeform 37" id="37"/>
            <p:cNvSpPr/>
            <p:nvPr/>
          </p:nvSpPr>
          <p:spPr>
            <a:xfrm flipH="false" flipV="false" rot="0">
              <a:off x="0" y="0"/>
              <a:ext cx="2072184" cy="1644759"/>
            </a:xfrm>
            <a:custGeom>
              <a:avLst/>
              <a:gdLst/>
              <a:ahLst/>
              <a:cxnLst/>
              <a:rect r="r" b="b" t="t" l="l"/>
              <a:pathLst>
                <a:path h="1644759" w="2072184">
                  <a:moveTo>
                    <a:pt x="0" y="0"/>
                  </a:moveTo>
                  <a:lnTo>
                    <a:pt x="2072184" y="0"/>
                  </a:lnTo>
                  <a:lnTo>
                    <a:pt x="2072184" y="1644759"/>
                  </a:lnTo>
                  <a:lnTo>
                    <a:pt x="0" y="1644759"/>
                  </a:lnTo>
                  <a:close/>
                </a:path>
              </a:pathLst>
            </a:custGeom>
            <a:solidFill>
              <a:srgbClr val="FFFFFF"/>
            </a:solidFill>
          </p:spPr>
        </p:sp>
        <p:sp>
          <p:nvSpPr>
            <p:cNvPr name="TextBox 38" id="38"/>
            <p:cNvSpPr txBox="true"/>
            <p:nvPr/>
          </p:nvSpPr>
          <p:spPr>
            <a:xfrm>
              <a:off x="0" y="66675"/>
              <a:ext cx="2072184" cy="1578085"/>
            </a:xfrm>
            <a:prstGeom prst="rect">
              <a:avLst/>
            </a:prstGeom>
          </p:spPr>
          <p:txBody>
            <a:bodyPr anchor="ctr" rtlCol="false" tIns="50800" lIns="50800" bIns="50800" rIns="50800"/>
            <a:lstStyle/>
            <a:p>
              <a:pPr algn="ctr">
                <a:lnSpc>
                  <a:spcPts val="1966"/>
                </a:lnSpc>
              </a:pPr>
            </a:p>
          </p:txBody>
        </p:sp>
      </p:grpSp>
      <p:sp>
        <p:nvSpPr>
          <p:cNvPr name="AutoShape 39" id="39"/>
          <p:cNvSpPr/>
          <p:nvPr/>
        </p:nvSpPr>
        <p:spPr>
          <a:xfrm>
            <a:off x="12682953" y="4910935"/>
            <a:ext cx="4441988" cy="0"/>
          </a:xfrm>
          <a:prstGeom prst="line">
            <a:avLst/>
          </a:prstGeom>
          <a:ln cap="flat" w="38100">
            <a:solidFill>
              <a:srgbClr val="FFB547"/>
            </a:solidFill>
            <a:prstDash val="solid"/>
            <a:headEnd type="none" len="sm" w="sm"/>
            <a:tailEnd type="none" len="sm" w="sm"/>
          </a:ln>
        </p:spPr>
      </p:sp>
      <p:sp>
        <p:nvSpPr>
          <p:cNvPr name="AutoShape 40" id="40"/>
          <p:cNvSpPr/>
          <p:nvPr/>
        </p:nvSpPr>
        <p:spPr>
          <a:xfrm>
            <a:off x="12673428" y="4910935"/>
            <a:ext cx="0" cy="4467801"/>
          </a:xfrm>
          <a:prstGeom prst="line">
            <a:avLst/>
          </a:prstGeom>
          <a:ln cap="flat" w="38100">
            <a:solidFill>
              <a:srgbClr val="FFB547"/>
            </a:solidFill>
            <a:prstDash val="solid"/>
            <a:headEnd type="none" len="sm" w="sm"/>
            <a:tailEnd type="none" len="sm" w="sm"/>
          </a:ln>
        </p:spPr>
      </p:sp>
      <p:sp>
        <p:nvSpPr>
          <p:cNvPr name="AutoShape 41" id="41"/>
          <p:cNvSpPr/>
          <p:nvPr/>
        </p:nvSpPr>
        <p:spPr>
          <a:xfrm flipH="true">
            <a:off x="12682953" y="9399997"/>
            <a:ext cx="4441988" cy="0"/>
          </a:xfrm>
          <a:prstGeom prst="line">
            <a:avLst/>
          </a:prstGeom>
          <a:ln cap="flat" w="38100">
            <a:solidFill>
              <a:srgbClr val="FFB547"/>
            </a:solidFill>
            <a:prstDash val="solid"/>
            <a:headEnd type="none" len="sm" w="sm"/>
            <a:tailEnd type="none" len="sm" w="sm"/>
          </a:ln>
        </p:spPr>
      </p:sp>
      <p:sp>
        <p:nvSpPr>
          <p:cNvPr name="AutoShape 42" id="42"/>
          <p:cNvSpPr/>
          <p:nvPr/>
        </p:nvSpPr>
        <p:spPr>
          <a:xfrm flipH="true" flipV="true">
            <a:off x="17124941" y="4910935"/>
            <a:ext cx="0" cy="4467801"/>
          </a:xfrm>
          <a:prstGeom prst="line">
            <a:avLst/>
          </a:prstGeom>
          <a:ln cap="flat" w="38100">
            <a:solidFill>
              <a:srgbClr val="FFB547"/>
            </a:solidFill>
            <a:prstDash val="solid"/>
            <a:headEnd type="none" len="sm" w="sm"/>
            <a:tailEnd type="none" len="sm" w="sm"/>
          </a:ln>
        </p:spPr>
      </p:sp>
      <p:graphicFrame>
        <p:nvGraphicFramePr>
          <p:cNvPr name="Object 43" id="43"/>
          <p:cNvGraphicFramePr/>
          <p:nvPr/>
        </p:nvGraphicFramePr>
        <p:xfrm>
          <a:off x="1028700" y="4413733"/>
          <a:ext cx="6172200" cy="8229600"/>
        </p:xfrm>
        <a:graphic>
          <a:graphicData uri="http://schemas.openxmlformats.org/presentationml/2006/ole">
            <p:oleObj imgW="7810500" imgH="9867900" r:id="rId18" progId="Excel.Sheet.12" name="Worksheet">
              <p:embed/>
              <p:pic>
                <p:nvPicPr>
                  <p:cNvPr name="" id="0"/>
                  <p:cNvPicPr/>
                  <p:nvPr/>
                </p:nvPicPr>
                <p:blipFill>
                  <a:blip r:embed="rId17"/>
                  <a:stretch>
                    <a:fillRect/>
                  </a:stretch>
                </p:blipFill>
                <p:spPr>
                  <a:xfrm>
                    <a:off x="1270000" y="1270000"/>
                    <a:ext cx="1270000" cy="1270000"/>
                  </a:xfrm>
                  <a:prstGeom prst="rect"/>
                </p:spPr>
              </p:pic>
            </p:oleObj>
          </a:graphicData>
        </a:graphic>
      </p:graphicFrame>
      <p:sp>
        <p:nvSpPr>
          <p:cNvPr name="TextBox 44" id="44"/>
          <p:cNvSpPr txBox="true"/>
          <p:nvPr/>
        </p:nvSpPr>
        <p:spPr>
          <a:xfrm rot="0">
            <a:off x="1028700" y="461176"/>
            <a:ext cx="3783942" cy="296718"/>
          </a:xfrm>
          <a:prstGeom prst="rect">
            <a:avLst/>
          </a:prstGeom>
        </p:spPr>
        <p:txBody>
          <a:bodyPr anchor="t" rtlCol="false" tIns="0" lIns="0" bIns="0" rIns="0">
            <a:spAutoFit/>
          </a:bodyPr>
          <a:lstStyle/>
          <a:p>
            <a:pPr algn="l" marL="0" indent="0" lvl="0">
              <a:lnSpc>
                <a:spcPts val="1966"/>
              </a:lnSpc>
            </a:pPr>
            <a:r>
              <a:rPr lang="en-US" b="true" sz="2398">
                <a:solidFill>
                  <a:srgbClr val="000000"/>
                </a:solidFill>
                <a:latin typeface="Poppins Bold"/>
                <a:ea typeface="Poppins Bold"/>
                <a:cs typeface="Poppins Bold"/>
                <a:sym typeface="Poppins Bold"/>
              </a:rPr>
              <a:t>NASA FIRMS</a:t>
            </a:r>
          </a:p>
        </p:txBody>
      </p:sp>
      <p:sp>
        <p:nvSpPr>
          <p:cNvPr name="TextBox 45" id="45"/>
          <p:cNvSpPr txBox="true"/>
          <p:nvPr/>
        </p:nvSpPr>
        <p:spPr>
          <a:xfrm rot="0">
            <a:off x="2302424" y="2178910"/>
            <a:ext cx="3080660" cy="281545"/>
          </a:xfrm>
          <a:prstGeom prst="rect">
            <a:avLst/>
          </a:prstGeom>
        </p:spPr>
        <p:txBody>
          <a:bodyPr anchor="t" rtlCol="false" tIns="0" lIns="0" bIns="0" rIns="0">
            <a:spAutoFit/>
          </a:bodyPr>
          <a:lstStyle/>
          <a:p>
            <a:pPr algn="l" marL="0" indent="0" lvl="0">
              <a:lnSpc>
                <a:spcPts val="2180"/>
              </a:lnSpc>
            </a:pPr>
            <a:r>
              <a:rPr lang="en-US" b="true" sz="1664">
                <a:solidFill>
                  <a:srgbClr val="545454"/>
                </a:solidFill>
                <a:latin typeface="Poppins Bold"/>
                <a:ea typeface="Poppins Bold"/>
                <a:cs typeface="Poppins Bold"/>
                <a:sym typeface="Poppins Bold"/>
              </a:rPr>
              <a:t>Active Fire / Anomali Termal</a:t>
            </a:r>
          </a:p>
        </p:txBody>
      </p:sp>
      <p:sp>
        <p:nvSpPr>
          <p:cNvPr name="TextBox 46" id="46"/>
          <p:cNvSpPr txBox="true"/>
          <p:nvPr/>
        </p:nvSpPr>
        <p:spPr>
          <a:xfrm rot="0">
            <a:off x="2333367" y="1380857"/>
            <a:ext cx="6224472" cy="576377"/>
          </a:xfrm>
          <a:prstGeom prst="rect">
            <a:avLst/>
          </a:prstGeom>
        </p:spPr>
        <p:txBody>
          <a:bodyPr anchor="t" rtlCol="false" tIns="0" lIns="0" bIns="0" rIns="0">
            <a:spAutoFit/>
          </a:bodyPr>
          <a:lstStyle/>
          <a:p>
            <a:pPr algn="l" marL="0" indent="0" lvl="0">
              <a:lnSpc>
                <a:spcPts val="2222"/>
              </a:lnSpc>
            </a:pPr>
            <a:r>
              <a:rPr lang="en-US" b="true" sz="1696">
                <a:solidFill>
                  <a:srgbClr val="545454"/>
                </a:solidFill>
                <a:latin typeface="Poppins Bold"/>
                <a:ea typeface="Poppins Bold"/>
                <a:cs typeface="Poppins Bold"/>
                <a:sym typeface="Poppins Bold"/>
              </a:rPr>
              <a:t>Sumber resmi: NASA FIRMS </a:t>
            </a:r>
          </a:p>
          <a:p>
            <a:pPr algn="l" marL="0" indent="0" lvl="0">
              <a:lnSpc>
                <a:spcPts val="2222"/>
              </a:lnSpc>
            </a:pPr>
            <a:r>
              <a:rPr lang="en-US" sz="1696">
                <a:solidFill>
                  <a:srgbClr val="545454"/>
                </a:solidFill>
                <a:latin typeface="Poppins Light"/>
                <a:ea typeface="Poppins Light"/>
                <a:cs typeface="Poppins Light"/>
                <a:sym typeface="Poppins Light"/>
              </a:rPr>
              <a:t>Sensor: VIIRS Suomi NPP dengan resolusi spasial 375 m.</a:t>
            </a:r>
          </a:p>
        </p:txBody>
      </p:sp>
      <p:sp>
        <p:nvSpPr>
          <p:cNvPr name="TextBox 47" id="47"/>
          <p:cNvSpPr txBox="true"/>
          <p:nvPr/>
        </p:nvSpPr>
        <p:spPr>
          <a:xfrm rot="0">
            <a:off x="2320259" y="942170"/>
            <a:ext cx="3581948" cy="419285"/>
          </a:xfrm>
          <a:prstGeom prst="rect">
            <a:avLst/>
          </a:prstGeom>
        </p:spPr>
        <p:txBody>
          <a:bodyPr anchor="t" rtlCol="false" tIns="0" lIns="0" bIns="0" rIns="0">
            <a:spAutoFit/>
          </a:bodyPr>
          <a:lstStyle/>
          <a:p>
            <a:pPr algn="l" marL="0" indent="0" lvl="0">
              <a:lnSpc>
                <a:spcPts val="3258"/>
              </a:lnSpc>
            </a:pPr>
            <a:r>
              <a:rPr lang="en-US" sz="2487">
                <a:solidFill>
                  <a:srgbClr val="2E2E72"/>
                </a:solidFill>
                <a:latin typeface="Poppins Light"/>
                <a:ea typeface="Poppins Light"/>
                <a:cs typeface="Poppins Light"/>
                <a:sym typeface="Poppins Light"/>
              </a:rPr>
              <a:t>Deskripsi Data</a:t>
            </a:r>
          </a:p>
        </p:txBody>
      </p:sp>
      <p:sp>
        <p:nvSpPr>
          <p:cNvPr name="TextBox 48" id="48"/>
          <p:cNvSpPr txBox="true"/>
          <p:nvPr/>
        </p:nvSpPr>
        <p:spPr>
          <a:xfrm rot="0">
            <a:off x="10050714" y="561194"/>
            <a:ext cx="2470161" cy="296718"/>
          </a:xfrm>
          <a:prstGeom prst="rect">
            <a:avLst/>
          </a:prstGeom>
        </p:spPr>
        <p:txBody>
          <a:bodyPr anchor="t" rtlCol="false" tIns="0" lIns="0" bIns="0" rIns="0">
            <a:spAutoFit/>
          </a:bodyPr>
          <a:lstStyle/>
          <a:p>
            <a:pPr algn="l" marL="0" indent="0" lvl="0">
              <a:lnSpc>
                <a:spcPts val="1966"/>
              </a:lnSpc>
            </a:pPr>
            <a:r>
              <a:rPr lang="en-US" sz="2398">
                <a:solidFill>
                  <a:srgbClr val="000000"/>
                </a:solidFill>
                <a:latin typeface="Poppins Light"/>
                <a:ea typeface="Poppins Light"/>
                <a:cs typeface="Poppins Light"/>
                <a:sym typeface="Poppins Light"/>
              </a:rPr>
              <a:t>Description</a:t>
            </a:r>
          </a:p>
        </p:txBody>
      </p:sp>
      <p:sp>
        <p:nvSpPr>
          <p:cNvPr name="TextBox 49" id="49"/>
          <p:cNvSpPr txBox="true"/>
          <p:nvPr/>
        </p:nvSpPr>
        <p:spPr>
          <a:xfrm rot="0">
            <a:off x="2333367" y="2421529"/>
            <a:ext cx="5830266" cy="537068"/>
          </a:xfrm>
          <a:prstGeom prst="rect">
            <a:avLst/>
          </a:prstGeom>
        </p:spPr>
        <p:txBody>
          <a:bodyPr anchor="t" rtlCol="false" tIns="0" lIns="0" bIns="0" rIns="0">
            <a:spAutoFit/>
          </a:bodyPr>
          <a:lstStyle/>
          <a:p>
            <a:pPr algn="l" marL="0" indent="0" lvl="0">
              <a:lnSpc>
                <a:spcPts val="2180"/>
              </a:lnSpc>
            </a:pPr>
            <a:r>
              <a:rPr lang="en-US" sz="1664">
                <a:solidFill>
                  <a:srgbClr val="545454"/>
                </a:solidFill>
                <a:latin typeface="Poppins Light"/>
                <a:ea typeface="Poppins Light"/>
                <a:cs typeface="Poppins Light"/>
                <a:sym typeface="Poppins Light"/>
              </a:rPr>
              <a:t>Merekam titik api aktif dan anomali termal di cakupan wilayah Pulau Borneo.</a:t>
            </a:r>
          </a:p>
        </p:txBody>
      </p:sp>
      <p:sp>
        <p:nvSpPr>
          <p:cNvPr name="TextBox 50" id="50"/>
          <p:cNvSpPr txBox="true"/>
          <p:nvPr/>
        </p:nvSpPr>
        <p:spPr>
          <a:xfrm rot="0">
            <a:off x="2333367" y="3168147"/>
            <a:ext cx="3978062" cy="281545"/>
          </a:xfrm>
          <a:prstGeom prst="rect">
            <a:avLst/>
          </a:prstGeom>
        </p:spPr>
        <p:txBody>
          <a:bodyPr anchor="t" rtlCol="false" tIns="0" lIns="0" bIns="0" rIns="0">
            <a:spAutoFit/>
          </a:bodyPr>
          <a:lstStyle/>
          <a:p>
            <a:pPr algn="l" marL="0" indent="0" lvl="0">
              <a:lnSpc>
                <a:spcPts val="2180"/>
              </a:lnSpc>
            </a:pPr>
            <a:r>
              <a:rPr lang="en-US" b="true" sz="1664">
                <a:solidFill>
                  <a:srgbClr val="545454"/>
                </a:solidFill>
                <a:latin typeface="Poppins Bold"/>
                <a:ea typeface="Poppins Bold"/>
                <a:cs typeface="Poppins Bold"/>
                <a:sym typeface="Poppins Bold"/>
              </a:rPr>
              <a:t>1.408.321 baris, 15 kolom</a:t>
            </a:r>
          </a:p>
        </p:txBody>
      </p:sp>
      <p:sp>
        <p:nvSpPr>
          <p:cNvPr name="TextBox 51" id="51"/>
          <p:cNvSpPr txBox="true"/>
          <p:nvPr/>
        </p:nvSpPr>
        <p:spPr>
          <a:xfrm rot="0">
            <a:off x="2320259" y="3477441"/>
            <a:ext cx="5830266" cy="802942"/>
          </a:xfrm>
          <a:prstGeom prst="rect">
            <a:avLst/>
          </a:prstGeom>
        </p:spPr>
        <p:txBody>
          <a:bodyPr anchor="t" rtlCol="false" tIns="0" lIns="0" bIns="0" rIns="0">
            <a:spAutoFit/>
          </a:bodyPr>
          <a:lstStyle/>
          <a:p>
            <a:pPr algn="l" marL="0" indent="0" lvl="0">
              <a:lnSpc>
                <a:spcPts val="2180"/>
              </a:lnSpc>
            </a:pPr>
            <a:r>
              <a:rPr lang="en-US" sz="1664">
                <a:solidFill>
                  <a:srgbClr val="545454"/>
                </a:solidFill>
                <a:latin typeface="Poppins Light"/>
                <a:ea typeface="Poppins Light"/>
                <a:cs typeface="Poppins Light"/>
                <a:sym typeface="Poppins Light"/>
              </a:rPr>
              <a:t>Dataset berukuran besar dengan 1.408.321 baris dan 15 kolom atribut observasi dalam rentang 20 Januari 2012 hingga 30 Juni 2026. </a:t>
            </a:r>
          </a:p>
        </p:txBody>
      </p:sp>
      <p:sp>
        <p:nvSpPr>
          <p:cNvPr name="TextBox 52" id="52"/>
          <p:cNvSpPr txBox="true"/>
          <p:nvPr/>
        </p:nvSpPr>
        <p:spPr>
          <a:xfrm rot="0">
            <a:off x="10016869" y="3129636"/>
            <a:ext cx="7108073" cy="1962785"/>
          </a:xfrm>
          <a:prstGeom prst="rect">
            <a:avLst/>
          </a:prstGeom>
        </p:spPr>
        <p:txBody>
          <a:bodyPr anchor="t" rtlCol="false" tIns="0" lIns="0" bIns="0" rIns="0">
            <a:spAutoFit/>
          </a:bodyPr>
          <a:lstStyle/>
          <a:p>
            <a:pPr algn="just" marL="0" indent="0" lvl="0">
              <a:lnSpc>
                <a:spcPts val="2620"/>
              </a:lnSpc>
            </a:pPr>
            <a:r>
              <a:rPr lang="en-US" sz="2000">
                <a:solidFill>
                  <a:srgbClr val="545454"/>
                </a:solidFill>
                <a:latin typeface="Poppins Light"/>
                <a:ea typeface="Poppins Light"/>
                <a:cs typeface="Poppins Light"/>
                <a:sym typeface="Poppins Light"/>
              </a:rPr>
              <a:t>NASA FIRMS VIIRS Suomi NPP 375 m Active Fire Data (Borneo Area) adalah dataset time-series yang bersumber dari NASA FIRMS. Dataset ini merekam anomali termal dan titik api aktif di Pulau Borneo menggunakan sensor VIIRS dengan resolusi spasial 375m mencakup </a:t>
            </a:r>
          </a:p>
        </p:txBody>
      </p:sp>
      <p:sp>
        <p:nvSpPr>
          <p:cNvPr name="TextBox 53" id="53"/>
          <p:cNvSpPr txBox="true"/>
          <p:nvPr/>
        </p:nvSpPr>
        <p:spPr>
          <a:xfrm rot="0">
            <a:off x="10016869" y="5049140"/>
            <a:ext cx="2477364" cy="3582035"/>
          </a:xfrm>
          <a:prstGeom prst="rect">
            <a:avLst/>
          </a:prstGeom>
        </p:spPr>
        <p:txBody>
          <a:bodyPr anchor="t" rtlCol="false" tIns="0" lIns="0" bIns="0" rIns="0">
            <a:spAutoFit/>
          </a:bodyPr>
          <a:lstStyle/>
          <a:p>
            <a:pPr algn="just" marL="0" indent="0" lvl="0">
              <a:lnSpc>
                <a:spcPts val="2620"/>
              </a:lnSpc>
            </a:pPr>
            <a:r>
              <a:rPr lang="en-US" sz="2000">
                <a:solidFill>
                  <a:srgbClr val="545454"/>
                </a:solidFill>
                <a:latin typeface="Poppins Light"/>
                <a:ea typeface="Poppins Light"/>
                <a:cs typeface="Poppins Light"/>
                <a:sym typeface="Poppins Light"/>
              </a:rPr>
              <a:t>periode </a:t>
            </a:r>
            <a:r>
              <a:rPr lang="en-US" sz="2000">
                <a:solidFill>
                  <a:srgbClr val="545454"/>
                </a:solidFill>
                <a:latin typeface="Poppins Light"/>
                <a:ea typeface="Poppins Light"/>
                <a:cs typeface="Poppins Light"/>
                <a:sym typeface="Poppins Light"/>
              </a:rPr>
              <a:t>20 Januari 2012 hingga 30 Juni 2026. Dataset difokuskan pada wilayah sekitar Borneo berdasarkan koordinat observasi untuk memperoleh cakupan waktu yang lebih panjang</a:t>
            </a:r>
          </a:p>
        </p:txBody>
      </p:sp>
      <p:sp>
        <p:nvSpPr>
          <p:cNvPr name="TextBox 54" id="54"/>
          <p:cNvSpPr txBox="true"/>
          <p:nvPr/>
        </p:nvSpPr>
        <p:spPr>
          <a:xfrm rot="-5400000">
            <a:off x="-390492" y="6839796"/>
            <a:ext cx="2095248" cy="419285"/>
          </a:xfrm>
          <a:prstGeom prst="rect">
            <a:avLst/>
          </a:prstGeom>
        </p:spPr>
        <p:txBody>
          <a:bodyPr anchor="t" rtlCol="false" tIns="0" lIns="0" bIns="0" rIns="0">
            <a:spAutoFit/>
          </a:bodyPr>
          <a:lstStyle/>
          <a:p>
            <a:pPr algn="l" marL="0" indent="0" lvl="0">
              <a:lnSpc>
                <a:spcPts val="3258"/>
              </a:lnSpc>
            </a:pPr>
            <a:r>
              <a:rPr lang="en-US" sz="2487">
                <a:solidFill>
                  <a:srgbClr val="2E2E72"/>
                </a:solidFill>
                <a:latin typeface="Poppins Light"/>
                <a:ea typeface="Poppins Light"/>
                <a:cs typeface="Poppins Light"/>
                <a:sym typeface="Poppins Light"/>
              </a:rPr>
              <a:t>Struktur Data</a:t>
            </a:r>
          </a:p>
        </p:txBody>
      </p:sp>
    </p:spTree>
  </p:cSld>
  <p:clrMapOvr>
    <a:masterClrMapping/>
  </p:clrMapOvr>
  <p:transition spd="med">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837575"/>
            <a:ext cx="1282573" cy="864134"/>
          </a:xfrm>
          <a:custGeom>
            <a:avLst/>
            <a:gdLst/>
            <a:ahLst/>
            <a:cxnLst/>
            <a:rect r="r" b="b" t="t" l="l"/>
            <a:pathLst>
              <a:path h="864134" w="1282573">
                <a:moveTo>
                  <a:pt x="0" y="0"/>
                </a:moveTo>
                <a:lnTo>
                  <a:pt x="1282573" y="0"/>
                </a:lnTo>
                <a:lnTo>
                  <a:pt x="1282573" y="864133"/>
                </a:lnTo>
                <a:lnTo>
                  <a:pt x="0" y="8641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4575862"/>
            <a:ext cx="1282573" cy="864134"/>
          </a:xfrm>
          <a:custGeom>
            <a:avLst/>
            <a:gdLst/>
            <a:ahLst/>
            <a:cxnLst/>
            <a:rect r="r" b="b" t="t" l="l"/>
            <a:pathLst>
              <a:path h="864134" w="1282573">
                <a:moveTo>
                  <a:pt x="0" y="0"/>
                </a:moveTo>
                <a:lnTo>
                  <a:pt x="1282573" y="0"/>
                </a:lnTo>
                <a:lnTo>
                  <a:pt x="1282573" y="864134"/>
                </a:lnTo>
                <a:lnTo>
                  <a:pt x="0" y="864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6870075"/>
            <a:ext cx="1282573" cy="864134"/>
          </a:xfrm>
          <a:custGeom>
            <a:avLst/>
            <a:gdLst/>
            <a:ahLst/>
            <a:cxnLst/>
            <a:rect r="r" b="b" t="t" l="l"/>
            <a:pathLst>
              <a:path h="864134" w="1282573">
                <a:moveTo>
                  <a:pt x="0" y="0"/>
                </a:moveTo>
                <a:lnTo>
                  <a:pt x="1282573" y="0"/>
                </a:lnTo>
                <a:lnTo>
                  <a:pt x="1282573" y="864134"/>
                </a:lnTo>
                <a:lnTo>
                  <a:pt x="0" y="8641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186665" y="-173403"/>
            <a:ext cx="7417732" cy="7417732"/>
          </a:xfrm>
          <a:custGeom>
            <a:avLst/>
            <a:gdLst/>
            <a:ahLst/>
            <a:cxnLst/>
            <a:rect r="r" b="b" t="t" l="l"/>
            <a:pathLst>
              <a:path h="7417732" w="7417732">
                <a:moveTo>
                  <a:pt x="0" y="0"/>
                </a:moveTo>
                <a:lnTo>
                  <a:pt x="7417732" y="0"/>
                </a:lnTo>
                <a:lnTo>
                  <a:pt x="7417732" y="7417732"/>
                </a:lnTo>
                <a:lnTo>
                  <a:pt x="0" y="7417732"/>
                </a:lnTo>
                <a:lnTo>
                  <a:pt x="0" y="0"/>
                </a:lnTo>
                <a:close/>
              </a:path>
            </a:pathLst>
          </a:custGeom>
          <a:blipFill>
            <a:blip r:embed="rId6">
              <a:alphaModFix amt="5000"/>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73632" y="867321"/>
            <a:ext cx="4398817" cy="3708542"/>
          </a:xfrm>
          <a:custGeom>
            <a:avLst/>
            <a:gdLst/>
            <a:ahLst/>
            <a:cxnLst/>
            <a:rect r="r" b="b" t="t" l="l"/>
            <a:pathLst>
              <a:path h="3708542" w="4398817">
                <a:moveTo>
                  <a:pt x="0" y="0"/>
                </a:moveTo>
                <a:lnTo>
                  <a:pt x="4398817" y="0"/>
                </a:lnTo>
                <a:lnTo>
                  <a:pt x="4398817" y="3708541"/>
                </a:lnTo>
                <a:lnTo>
                  <a:pt x="0" y="3708541"/>
                </a:lnTo>
                <a:lnTo>
                  <a:pt x="0" y="0"/>
                </a:lnTo>
                <a:close/>
              </a:path>
            </a:pathLst>
          </a:custGeom>
          <a:blipFill>
            <a:blip r:embed="rId8"/>
            <a:stretch>
              <a:fillRect l="0" t="0" r="0" b="0"/>
            </a:stretch>
          </a:blipFill>
        </p:spPr>
      </p:sp>
      <p:sp>
        <p:nvSpPr>
          <p:cNvPr name="Freeform 7" id="7"/>
          <p:cNvSpPr/>
          <p:nvPr/>
        </p:nvSpPr>
        <p:spPr>
          <a:xfrm flipH="false" flipV="false" rot="0">
            <a:off x="13895531" y="877466"/>
            <a:ext cx="3993435" cy="6898741"/>
          </a:xfrm>
          <a:custGeom>
            <a:avLst/>
            <a:gdLst/>
            <a:ahLst/>
            <a:cxnLst/>
            <a:rect r="r" b="b" t="t" l="l"/>
            <a:pathLst>
              <a:path h="6898741" w="3993435">
                <a:moveTo>
                  <a:pt x="0" y="0"/>
                </a:moveTo>
                <a:lnTo>
                  <a:pt x="3993435" y="0"/>
                </a:lnTo>
                <a:lnTo>
                  <a:pt x="3993435" y="6898741"/>
                </a:lnTo>
                <a:lnTo>
                  <a:pt x="0" y="6898741"/>
                </a:lnTo>
                <a:lnTo>
                  <a:pt x="0" y="0"/>
                </a:lnTo>
                <a:close/>
              </a:path>
            </a:pathLst>
          </a:custGeom>
          <a:blipFill>
            <a:blip r:embed="rId9"/>
            <a:stretch>
              <a:fillRect l="0" t="0" r="0" b="0"/>
            </a:stretch>
          </a:blipFill>
        </p:spPr>
      </p:sp>
      <p:sp>
        <p:nvSpPr>
          <p:cNvPr name="TextBox 8" id="8"/>
          <p:cNvSpPr txBox="true"/>
          <p:nvPr/>
        </p:nvSpPr>
        <p:spPr>
          <a:xfrm rot="0">
            <a:off x="1028700" y="413029"/>
            <a:ext cx="7555850" cy="985083"/>
          </a:xfrm>
          <a:prstGeom prst="rect">
            <a:avLst/>
          </a:prstGeom>
        </p:spPr>
        <p:txBody>
          <a:bodyPr anchor="t" rtlCol="false" tIns="0" lIns="0" bIns="0" rIns="0">
            <a:spAutoFit/>
          </a:bodyPr>
          <a:lstStyle/>
          <a:p>
            <a:pPr algn="l" marL="0" indent="0" lvl="0">
              <a:lnSpc>
                <a:spcPts val="6443"/>
              </a:lnSpc>
            </a:pPr>
            <a:r>
              <a:rPr lang="en-US" sz="7858">
                <a:solidFill>
                  <a:srgbClr val="000000"/>
                </a:solidFill>
                <a:latin typeface="Poppins Light"/>
                <a:ea typeface="Poppins Light"/>
                <a:cs typeface="Poppins Light"/>
                <a:sym typeface="Poppins Light"/>
              </a:rPr>
              <a:t>Hasil Profiling I</a:t>
            </a:r>
          </a:p>
        </p:txBody>
      </p:sp>
      <p:sp>
        <p:nvSpPr>
          <p:cNvPr name="TextBox 9" id="9"/>
          <p:cNvSpPr txBox="true"/>
          <p:nvPr/>
        </p:nvSpPr>
        <p:spPr>
          <a:xfrm rot="0">
            <a:off x="2980087" y="2445524"/>
            <a:ext cx="4556380" cy="1109419"/>
          </a:xfrm>
          <a:prstGeom prst="rect">
            <a:avLst/>
          </a:prstGeom>
        </p:spPr>
        <p:txBody>
          <a:bodyPr anchor="t" rtlCol="false" tIns="0" lIns="0" bIns="0" rIns="0">
            <a:spAutoFit/>
          </a:bodyPr>
          <a:lstStyle/>
          <a:p>
            <a:pPr algn="l" marL="0" indent="0" lvl="0">
              <a:lnSpc>
                <a:spcPts val="3035"/>
              </a:lnSpc>
            </a:pPr>
            <a:r>
              <a:rPr lang="en-US" sz="2317">
                <a:solidFill>
                  <a:srgbClr val="545454"/>
                </a:solidFill>
                <a:latin typeface="Poppins Light"/>
                <a:ea typeface="Poppins Light"/>
                <a:cs typeface="Poppins Light"/>
                <a:sym typeface="Poppins Light"/>
              </a:rPr>
              <a:t>0 missing value pada seluruh 1.408.321 baris, data 100% lengkap, sangat baik.</a:t>
            </a:r>
          </a:p>
        </p:txBody>
      </p:sp>
      <p:sp>
        <p:nvSpPr>
          <p:cNvPr name="TextBox 10" id="10"/>
          <p:cNvSpPr txBox="true"/>
          <p:nvPr/>
        </p:nvSpPr>
        <p:spPr>
          <a:xfrm rot="0">
            <a:off x="2980087" y="5109379"/>
            <a:ext cx="10389906" cy="741521"/>
          </a:xfrm>
          <a:prstGeom prst="rect">
            <a:avLst/>
          </a:prstGeom>
        </p:spPr>
        <p:txBody>
          <a:bodyPr anchor="t" rtlCol="false" tIns="0" lIns="0" bIns="0" rIns="0">
            <a:spAutoFit/>
          </a:bodyPr>
          <a:lstStyle/>
          <a:p>
            <a:pPr algn="l" marL="0" indent="0" lvl="0">
              <a:lnSpc>
                <a:spcPts val="3035"/>
              </a:lnSpc>
            </a:pPr>
            <a:r>
              <a:rPr lang="en-US" sz="2317">
                <a:solidFill>
                  <a:srgbClr val="545454"/>
                </a:solidFill>
                <a:latin typeface="Poppins Light"/>
                <a:ea typeface="Poppins Light"/>
                <a:cs typeface="Poppins Light"/>
                <a:sym typeface="Poppins Light"/>
              </a:rPr>
              <a:t>Tidak ditemukan indikasi kesalahan internal; validasi penuh memerlukan ground truth eksternal.</a:t>
            </a:r>
          </a:p>
        </p:txBody>
      </p:sp>
      <p:sp>
        <p:nvSpPr>
          <p:cNvPr name="TextBox 11" id="11"/>
          <p:cNvSpPr txBox="true"/>
          <p:nvPr/>
        </p:nvSpPr>
        <p:spPr>
          <a:xfrm rot="0">
            <a:off x="2980087" y="1909712"/>
            <a:ext cx="9483486" cy="460857"/>
          </a:xfrm>
          <a:prstGeom prst="rect">
            <a:avLst/>
          </a:prstGeom>
        </p:spPr>
        <p:txBody>
          <a:bodyPr anchor="t" rtlCol="false" tIns="0" lIns="0" bIns="0" rIns="0">
            <a:spAutoFit/>
          </a:bodyPr>
          <a:lstStyle/>
          <a:p>
            <a:pPr algn="l" marL="0" indent="0" lvl="0">
              <a:lnSpc>
                <a:spcPts val="3541"/>
              </a:lnSpc>
              <a:spcBef>
                <a:spcPct val="0"/>
              </a:spcBef>
            </a:pPr>
            <a:r>
              <a:rPr lang="en-US" sz="2703" strike="noStrike" u="none">
                <a:solidFill>
                  <a:srgbClr val="2E2E72"/>
                </a:solidFill>
                <a:latin typeface="Poppins Light"/>
                <a:ea typeface="Poppins Light"/>
                <a:cs typeface="Poppins Light"/>
                <a:sym typeface="Poppins Light"/>
              </a:rPr>
              <a:t>Completeness</a:t>
            </a:r>
          </a:p>
        </p:txBody>
      </p:sp>
      <p:sp>
        <p:nvSpPr>
          <p:cNvPr name="TextBox 12" id="12"/>
          <p:cNvSpPr txBox="true"/>
          <p:nvPr/>
        </p:nvSpPr>
        <p:spPr>
          <a:xfrm rot="0">
            <a:off x="2980087" y="4647999"/>
            <a:ext cx="9483486" cy="460857"/>
          </a:xfrm>
          <a:prstGeom prst="rect">
            <a:avLst/>
          </a:prstGeom>
        </p:spPr>
        <p:txBody>
          <a:bodyPr anchor="t" rtlCol="false" tIns="0" lIns="0" bIns="0" rIns="0">
            <a:spAutoFit/>
          </a:bodyPr>
          <a:lstStyle/>
          <a:p>
            <a:pPr algn="l" marL="0" indent="0" lvl="0">
              <a:lnSpc>
                <a:spcPts val="3541"/>
              </a:lnSpc>
              <a:spcBef>
                <a:spcPct val="0"/>
              </a:spcBef>
            </a:pPr>
            <a:r>
              <a:rPr lang="en-US" sz="2703">
                <a:solidFill>
                  <a:srgbClr val="FFB547"/>
                </a:solidFill>
                <a:latin typeface="Poppins Light"/>
                <a:ea typeface="Poppins Light"/>
                <a:cs typeface="Poppins Light"/>
                <a:sym typeface="Poppins Light"/>
              </a:rPr>
              <a:t>Accuracy</a:t>
            </a:r>
          </a:p>
        </p:txBody>
      </p:sp>
      <p:sp>
        <p:nvSpPr>
          <p:cNvPr name="TextBox 13" id="13"/>
          <p:cNvSpPr txBox="true"/>
          <p:nvPr/>
        </p:nvSpPr>
        <p:spPr>
          <a:xfrm rot="0">
            <a:off x="2980087" y="7364969"/>
            <a:ext cx="10389906" cy="741521"/>
          </a:xfrm>
          <a:prstGeom prst="rect">
            <a:avLst/>
          </a:prstGeom>
        </p:spPr>
        <p:txBody>
          <a:bodyPr anchor="t" rtlCol="false" tIns="0" lIns="0" bIns="0" rIns="0">
            <a:spAutoFit/>
          </a:bodyPr>
          <a:lstStyle/>
          <a:p>
            <a:pPr algn="l" marL="0" indent="0" lvl="0">
              <a:lnSpc>
                <a:spcPts val="3035"/>
              </a:lnSpc>
            </a:pPr>
            <a:r>
              <a:rPr lang="en-US" sz="2317">
                <a:solidFill>
                  <a:srgbClr val="545454"/>
                </a:solidFill>
                <a:latin typeface="Poppins Light"/>
                <a:ea typeface="Poppins Light"/>
                <a:cs typeface="Poppins Light"/>
                <a:sym typeface="Poppins Light"/>
              </a:rPr>
              <a:t>Format tanggal, satellite, instrument, confidence, daynight, dan type konsisten, kualitas data baik.</a:t>
            </a:r>
          </a:p>
        </p:txBody>
      </p:sp>
      <p:sp>
        <p:nvSpPr>
          <p:cNvPr name="TextBox 14" id="14"/>
          <p:cNvSpPr txBox="true"/>
          <p:nvPr/>
        </p:nvSpPr>
        <p:spPr>
          <a:xfrm rot="0">
            <a:off x="2980087" y="6942212"/>
            <a:ext cx="9483486" cy="460857"/>
          </a:xfrm>
          <a:prstGeom prst="rect">
            <a:avLst/>
          </a:prstGeom>
        </p:spPr>
        <p:txBody>
          <a:bodyPr anchor="t" rtlCol="false" tIns="0" lIns="0" bIns="0" rIns="0">
            <a:spAutoFit/>
          </a:bodyPr>
          <a:lstStyle/>
          <a:p>
            <a:pPr algn="l" marL="0" indent="0" lvl="0">
              <a:lnSpc>
                <a:spcPts val="3541"/>
              </a:lnSpc>
              <a:spcBef>
                <a:spcPct val="0"/>
              </a:spcBef>
            </a:pPr>
            <a:r>
              <a:rPr lang="en-US" sz="2703">
                <a:solidFill>
                  <a:srgbClr val="2E2E72"/>
                </a:solidFill>
                <a:latin typeface="Poppins Light"/>
                <a:ea typeface="Poppins Light"/>
                <a:cs typeface="Poppins Light"/>
                <a:sym typeface="Poppins Light"/>
              </a:rPr>
              <a:t>Consistency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80166" y="-2326049"/>
            <a:ext cx="7417732" cy="7417732"/>
          </a:xfrm>
          <a:custGeom>
            <a:avLst/>
            <a:gdLst/>
            <a:ahLst/>
            <a:cxnLst/>
            <a:rect r="r" b="b" t="t" l="l"/>
            <a:pathLst>
              <a:path h="7417732" w="7417732">
                <a:moveTo>
                  <a:pt x="0" y="0"/>
                </a:moveTo>
                <a:lnTo>
                  <a:pt x="7417732" y="0"/>
                </a:lnTo>
                <a:lnTo>
                  <a:pt x="7417732" y="7417732"/>
                </a:lnTo>
                <a:lnTo>
                  <a:pt x="0" y="7417732"/>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823847"/>
            <a:ext cx="660985" cy="462690"/>
          </a:xfrm>
          <a:custGeom>
            <a:avLst/>
            <a:gdLst/>
            <a:ahLst/>
            <a:cxnLst/>
            <a:rect r="r" b="b" t="t" l="l"/>
            <a:pathLst>
              <a:path h="462690" w="660985">
                <a:moveTo>
                  <a:pt x="0" y="0"/>
                </a:moveTo>
                <a:lnTo>
                  <a:pt x="660985" y="0"/>
                </a:lnTo>
                <a:lnTo>
                  <a:pt x="660985" y="462690"/>
                </a:lnTo>
                <a:lnTo>
                  <a:pt x="0" y="462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8229600"/>
            <a:ext cx="2057400" cy="2057400"/>
          </a:xfrm>
          <a:custGeom>
            <a:avLst/>
            <a:gdLst/>
            <a:ahLst/>
            <a:cxnLst/>
            <a:rect r="r" b="b" t="t" l="l"/>
            <a:pathLst>
              <a:path h="2057400" w="2057400">
                <a:moveTo>
                  <a:pt x="0" y="0"/>
                </a:moveTo>
                <a:lnTo>
                  <a:pt x="2057400" y="0"/>
                </a:lnTo>
                <a:lnTo>
                  <a:pt x="2057400"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5" id="5"/>
          <p:cNvSpPr/>
          <p:nvPr/>
        </p:nvSpPr>
        <p:spPr>
          <a:xfrm>
            <a:off x="12882773" y="1305587"/>
            <a:ext cx="949220" cy="0"/>
          </a:xfrm>
          <a:prstGeom prst="line">
            <a:avLst/>
          </a:prstGeom>
          <a:ln cap="flat" w="38100">
            <a:solidFill>
              <a:srgbClr val="FFB547"/>
            </a:solidFill>
            <a:prstDash val="solid"/>
            <a:headEnd type="none" len="sm" w="sm"/>
            <a:tailEnd type="none" len="sm" w="sm"/>
          </a:ln>
        </p:spPr>
      </p:sp>
      <p:sp>
        <p:nvSpPr>
          <p:cNvPr name="Freeform 6" id="6"/>
          <p:cNvSpPr/>
          <p:nvPr/>
        </p:nvSpPr>
        <p:spPr>
          <a:xfrm flipH="false" flipV="false" rot="0">
            <a:off x="10054068" y="2625075"/>
            <a:ext cx="3625893" cy="4339344"/>
          </a:xfrm>
          <a:custGeom>
            <a:avLst/>
            <a:gdLst/>
            <a:ahLst/>
            <a:cxnLst/>
            <a:rect r="r" b="b" t="t" l="l"/>
            <a:pathLst>
              <a:path h="4339344" w="3625893">
                <a:moveTo>
                  <a:pt x="0" y="0"/>
                </a:moveTo>
                <a:lnTo>
                  <a:pt x="3625893" y="0"/>
                </a:lnTo>
                <a:lnTo>
                  <a:pt x="3625893" y="4339343"/>
                </a:lnTo>
                <a:lnTo>
                  <a:pt x="0" y="4339343"/>
                </a:lnTo>
                <a:lnTo>
                  <a:pt x="0" y="0"/>
                </a:lnTo>
                <a:close/>
              </a:path>
            </a:pathLst>
          </a:custGeom>
          <a:blipFill>
            <a:blip r:embed="rId8"/>
            <a:stretch>
              <a:fillRect l="0" t="0" r="0" b="0"/>
            </a:stretch>
          </a:blipFill>
        </p:spPr>
      </p:sp>
      <p:sp>
        <p:nvSpPr>
          <p:cNvPr name="Freeform 7" id="7"/>
          <p:cNvSpPr/>
          <p:nvPr/>
        </p:nvSpPr>
        <p:spPr>
          <a:xfrm flipH="false" flipV="false" rot="0">
            <a:off x="13831993" y="2829758"/>
            <a:ext cx="4185079" cy="5782609"/>
          </a:xfrm>
          <a:custGeom>
            <a:avLst/>
            <a:gdLst/>
            <a:ahLst/>
            <a:cxnLst/>
            <a:rect r="r" b="b" t="t" l="l"/>
            <a:pathLst>
              <a:path h="5782609" w="4185079">
                <a:moveTo>
                  <a:pt x="0" y="0"/>
                </a:moveTo>
                <a:lnTo>
                  <a:pt x="4185079" y="0"/>
                </a:lnTo>
                <a:lnTo>
                  <a:pt x="4185079" y="5782610"/>
                </a:lnTo>
                <a:lnTo>
                  <a:pt x="0" y="5782610"/>
                </a:lnTo>
                <a:lnTo>
                  <a:pt x="0" y="0"/>
                </a:lnTo>
                <a:close/>
              </a:path>
            </a:pathLst>
          </a:custGeom>
          <a:blipFill>
            <a:blip r:embed="rId9"/>
            <a:stretch>
              <a:fillRect l="0" t="0" r="0" b="0"/>
            </a:stretch>
          </a:blipFill>
        </p:spPr>
      </p:sp>
      <p:sp>
        <p:nvSpPr>
          <p:cNvPr name="Freeform 8" id="8"/>
          <p:cNvSpPr/>
          <p:nvPr/>
        </p:nvSpPr>
        <p:spPr>
          <a:xfrm flipH="false" flipV="false" rot="0">
            <a:off x="10054068" y="7012043"/>
            <a:ext cx="3625893" cy="1202168"/>
          </a:xfrm>
          <a:custGeom>
            <a:avLst/>
            <a:gdLst/>
            <a:ahLst/>
            <a:cxnLst/>
            <a:rect r="r" b="b" t="t" l="l"/>
            <a:pathLst>
              <a:path h="1202168" w="3625893">
                <a:moveTo>
                  <a:pt x="0" y="0"/>
                </a:moveTo>
                <a:lnTo>
                  <a:pt x="3625893" y="0"/>
                </a:lnTo>
                <a:lnTo>
                  <a:pt x="3625893" y="1202168"/>
                </a:lnTo>
                <a:lnTo>
                  <a:pt x="0" y="1202168"/>
                </a:lnTo>
                <a:lnTo>
                  <a:pt x="0" y="0"/>
                </a:lnTo>
                <a:close/>
              </a:path>
            </a:pathLst>
          </a:custGeom>
          <a:blipFill>
            <a:blip r:embed="rId10"/>
            <a:stretch>
              <a:fillRect l="0" t="0" r="0" b="0"/>
            </a:stretch>
          </a:blipFill>
        </p:spPr>
      </p:sp>
      <p:sp>
        <p:nvSpPr>
          <p:cNvPr name="TextBox 9" id="9"/>
          <p:cNvSpPr txBox="true"/>
          <p:nvPr/>
        </p:nvSpPr>
        <p:spPr>
          <a:xfrm rot="0">
            <a:off x="3283590" y="2548875"/>
            <a:ext cx="6393513" cy="1024082"/>
          </a:xfrm>
          <a:prstGeom prst="rect">
            <a:avLst/>
          </a:prstGeom>
        </p:spPr>
        <p:txBody>
          <a:bodyPr anchor="t" rtlCol="false" tIns="0" lIns="0" bIns="0" rIns="0">
            <a:spAutoFit/>
          </a:bodyPr>
          <a:lstStyle/>
          <a:p>
            <a:pPr algn="l" marL="0" indent="0" lvl="0">
              <a:lnSpc>
                <a:spcPts val="2099"/>
              </a:lnSpc>
            </a:pPr>
            <a:r>
              <a:rPr lang="en-US" sz="1602">
                <a:solidFill>
                  <a:srgbClr val="545454"/>
                </a:solidFill>
                <a:latin typeface="Poppins Light"/>
                <a:ea typeface="Poppins Light"/>
                <a:cs typeface="Poppins Light"/>
                <a:sym typeface="Poppins Light"/>
              </a:rPr>
              <a:t>Koordinat, atribut numerik, acq_time, dan kategori berada dalam rentang atau format yang valid. Tidak ditemukan nilai yang melanggar pemeriksaan.</a:t>
            </a:r>
          </a:p>
          <a:p>
            <a:pPr algn="l" marL="0" indent="0" lvl="0">
              <a:lnSpc>
                <a:spcPts val="2099"/>
              </a:lnSpc>
            </a:pPr>
          </a:p>
        </p:txBody>
      </p:sp>
      <p:sp>
        <p:nvSpPr>
          <p:cNvPr name="TextBox 10" id="10"/>
          <p:cNvSpPr txBox="true"/>
          <p:nvPr/>
        </p:nvSpPr>
        <p:spPr>
          <a:xfrm rot="0">
            <a:off x="3283590" y="4249354"/>
            <a:ext cx="6393513" cy="515132"/>
          </a:xfrm>
          <a:prstGeom prst="rect">
            <a:avLst/>
          </a:prstGeom>
        </p:spPr>
        <p:txBody>
          <a:bodyPr anchor="t" rtlCol="false" tIns="0" lIns="0" bIns="0" rIns="0">
            <a:spAutoFit/>
          </a:bodyPr>
          <a:lstStyle/>
          <a:p>
            <a:pPr algn="l" marL="0" indent="0" lvl="0">
              <a:lnSpc>
                <a:spcPts val="2099"/>
              </a:lnSpc>
            </a:pPr>
            <a:r>
              <a:rPr lang="en-US" sz="1602">
                <a:solidFill>
                  <a:srgbClr val="545454"/>
                </a:solidFill>
                <a:latin typeface="Poppins Light"/>
                <a:ea typeface="Poppins Light"/>
                <a:cs typeface="Poppins Light"/>
                <a:sym typeface="Poppins Light"/>
              </a:rPr>
              <a:t>Tidak ditemukan</a:t>
            </a:r>
            <a:r>
              <a:rPr lang="en-US" sz="1602">
                <a:solidFill>
                  <a:srgbClr val="545454"/>
                </a:solidFill>
                <a:latin typeface="Poppins Light"/>
                <a:ea typeface="Poppins Light"/>
                <a:cs typeface="Poppins Light"/>
                <a:sym typeface="Poppins Light"/>
              </a:rPr>
              <a:t> exact duplicate pada 1.408.321 baris. Seluruh record bersifat unik (100%).</a:t>
            </a:r>
          </a:p>
        </p:txBody>
      </p:sp>
      <p:sp>
        <p:nvSpPr>
          <p:cNvPr name="TextBox 11" id="11"/>
          <p:cNvSpPr txBox="true"/>
          <p:nvPr/>
        </p:nvSpPr>
        <p:spPr>
          <a:xfrm rot="0">
            <a:off x="3283590" y="2094224"/>
            <a:ext cx="3022225" cy="351684"/>
          </a:xfrm>
          <a:prstGeom prst="rect">
            <a:avLst/>
          </a:prstGeom>
        </p:spPr>
        <p:txBody>
          <a:bodyPr anchor="t" rtlCol="false" tIns="0" lIns="0" bIns="0" rIns="0">
            <a:spAutoFit/>
          </a:bodyPr>
          <a:lstStyle/>
          <a:p>
            <a:pPr algn="l" marL="0" indent="0" lvl="0">
              <a:lnSpc>
                <a:spcPts val="2749"/>
              </a:lnSpc>
            </a:pPr>
            <a:r>
              <a:rPr lang="en-US" sz="2098">
                <a:solidFill>
                  <a:srgbClr val="2E2E72"/>
                </a:solidFill>
                <a:latin typeface="Poppins Light"/>
                <a:ea typeface="Poppins Light"/>
                <a:cs typeface="Poppins Light"/>
                <a:sym typeface="Poppins Light"/>
              </a:rPr>
              <a:t>Validity</a:t>
            </a:r>
          </a:p>
        </p:txBody>
      </p:sp>
      <p:sp>
        <p:nvSpPr>
          <p:cNvPr name="TextBox 12" id="12"/>
          <p:cNvSpPr txBox="true"/>
          <p:nvPr/>
        </p:nvSpPr>
        <p:spPr>
          <a:xfrm rot="0">
            <a:off x="1687079" y="2079299"/>
            <a:ext cx="1032381" cy="882001"/>
          </a:xfrm>
          <a:prstGeom prst="rect">
            <a:avLst/>
          </a:prstGeom>
        </p:spPr>
        <p:txBody>
          <a:bodyPr anchor="t" rtlCol="false" tIns="0" lIns="0" bIns="0" rIns="0">
            <a:spAutoFit/>
          </a:bodyPr>
          <a:lstStyle/>
          <a:p>
            <a:pPr algn="l" marL="0" indent="0" lvl="0">
              <a:lnSpc>
                <a:spcPts val="6610"/>
              </a:lnSpc>
            </a:pPr>
            <a:r>
              <a:rPr lang="en-US" sz="5046">
                <a:solidFill>
                  <a:srgbClr val="FFB547"/>
                </a:solidFill>
                <a:latin typeface="Poppins Light"/>
                <a:ea typeface="Poppins Light"/>
                <a:cs typeface="Poppins Light"/>
                <a:sym typeface="Poppins Light"/>
              </a:rPr>
              <a:t>4</a:t>
            </a:r>
          </a:p>
        </p:txBody>
      </p:sp>
      <p:sp>
        <p:nvSpPr>
          <p:cNvPr name="TextBox 13" id="13"/>
          <p:cNvSpPr txBox="true"/>
          <p:nvPr/>
        </p:nvSpPr>
        <p:spPr>
          <a:xfrm rot="0">
            <a:off x="1687079" y="3882485"/>
            <a:ext cx="1034987" cy="882001"/>
          </a:xfrm>
          <a:prstGeom prst="rect">
            <a:avLst/>
          </a:prstGeom>
        </p:spPr>
        <p:txBody>
          <a:bodyPr anchor="t" rtlCol="false" tIns="0" lIns="0" bIns="0" rIns="0">
            <a:spAutoFit/>
          </a:bodyPr>
          <a:lstStyle/>
          <a:p>
            <a:pPr algn="l" marL="0" indent="0" lvl="0">
              <a:lnSpc>
                <a:spcPts val="6610"/>
              </a:lnSpc>
            </a:pPr>
            <a:r>
              <a:rPr lang="en-US" sz="5046">
                <a:solidFill>
                  <a:srgbClr val="2E2E72"/>
                </a:solidFill>
                <a:latin typeface="Poppins Light"/>
                <a:ea typeface="Poppins Light"/>
                <a:cs typeface="Poppins Light"/>
                <a:sym typeface="Poppins Light"/>
              </a:rPr>
              <a:t>5</a:t>
            </a:r>
          </a:p>
        </p:txBody>
      </p:sp>
      <p:sp>
        <p:nvSpPr>
          <p:cNvPr name="TextBox 14" id="14"/>
          <p:cNvSpPr txBox="true"/>
          <p:nvPr/>
        </p:nvSpPr>
        <p:spPr>
          <a:xfrm rot="0">
            <a:off x="3283590" y="3783371"/>
            <a:ext cx="3022225" cy="351684"/>
          </a:xfrm>
          <a:prstGeom prst="rect">
            <a:avLst/>
          </a:prstGeom>
        </p:spPr>
        <p:txBody>
          <a:bodyPr anchor="t" rtlCol="false" tIns="0" lIns="0" bIns="0" rIns="0">
            <a:spAutoFit/>
          </a:bodyPr>
          <a:lstStyle/>
          <a:p>
            <a:pPr algn="l" marL="0" indent="0" lvl="0">
              <a:lnSpc>
                <a:spcPts val="2749"/>
              </a:lnSpc>
            </a:pPr>
            <a:r>
              <a:rPr lang="en-US" sz="2098">
                <a:solidFill>
                  <a:srgbClr val="FFB547"/>
                </a:solidFill>
                <a:latin typeface="Poppins Light"/>
                <a:ea typeface="Poppins Light"/>
                <a:cs typeface="Poppins Light"/>
                <a:sym typeface="Poppins Light"/>
              </a:rPr>
              <a:t>Uniqueness</a:t>
            </a:r>
          </a:p>
        </p:txBody>
      </p:sp>
      <p:sp>
        <p:nvSpPr>
          <p:cNvPr name="TextBox 15" id="15"/>
          <p:cNvSpPr txBox="true"/>
          <p:nvPr/>
        </p:nvSpPr>
        <p:spPr>
          <a:xfrm rot="0">
            <a:off x="3283590" y="5928976"/>
            <a:ext cx="6393513" cy="515132"/>
          </a:xfrm>
          <a:prstGeom prst="rect">
            <a:avLst/>
          </a:prstGeom>
        </p:spPr>
        <p:txBody>
          <a:bodyPr anchor="t" rtlCol="false" tIns="0" lIns="0" bIns="0" rIns="0">
            <a:spAutoFit/>
          </a:bodyPr>
          <a:lstStyle/>
          <a:p>
            <a:pPr algn="l" marL="0" indent="0" lvl="0">
              <a:lnSpc>
                <a:spcPts val="2099"/>
              </a:lnSpc>
            </a:pPr>
            <a:r>
              <a:rPr lang="en-US" sz="1602">
                <a:solidFill>
                  <a:srgbClr val="545454"/>
                </a:solidFill>
                <a:latin typeface="Poppins Light"/>
                <a:ea typeface="Poppins Light"/>
                <a:cs typeface="Poppins Light"/>
                <a:sym typeface="Poppins Light"/>
              </a:rPr>
              <a:t>Terdapat </a:t>
            </a:r>
            <a:r>
              <a:rPr lang="en-US" sz="1602">
                <a:solidFill>
                  <a:srgbClr val="545454"/>
                </a:solidFill>
                <a:latin typeface="Poppins Light"/>
                <a:ea typeface="Poppins Light"/>
                <a:cs typeface="Poppins Light"/>
                <a:sym typeface="Poppins Light"/>
              </a:rPr>
              <a:t>5.147 tanggal observasi. Sebanyak 129 hari tidak memiliki observasi, dengan jeda terpanjang 37 hari.</a:t>
            </a:r>
          </a:p>
        </p:txBody>
      </p:sp>
      <p:sp>
        <p:nvSpPr>
          <p:cNvPr name="TextBox 16" id="16"/>
          <p:cNvSpPr txBox="true"/>
          <p:nvPr/>
        </p:nvSpPr>
        <p:spPr>
          <a:xfrm rot="0">
            <a:off x="3283590" y="5472517"/>
            <a:ext cx="3022225" cy="351684"/>
          </a:xfrm>
          <a:prstGeom prst="rect">
            <a:avLst/>
          </a:prstGeom>
        </p:spPr>
        <p:txBody>
          <a:bodyPr anchor="t" rtlCol="false" tIns="0" lIns="0" bIns="0" rIns="0">
            <a:spAutoFit/>
          </a:bodyPr>
          <a:lstStyle/>
          <a:p>
            <a:pPr algn="l" marL="0" indent="0" lvl="0">
              <a:lnSpc>
                <a:spcPts val="2749"/>
              </a:lnSpc>
            </a:pPr>
            <a:r>
              <a:rPr lang="en-US" sz="2098">
                <a:solidFill>
                  <a:srgbClr val="2E2E72"/>
                </a:solidFill>
                <a:latin typeface="Poppins Light"/>
                <a:ea typeface="Poppins Light"/>
                <a:cs typeface="Poppins Light"/>
                <a:sym typeface="Poppins Light"/>
              </a:rPr>
              <a:t>Timeliness</a:t>
            </a:r>
          </a:p>
        </p:txBody>
      </p:sp>
      <p:sp>
        <p:nvSpPr>
          <p:cNvPr name="TextBox 17" id="17"/>
          <p:cNvSpPr txBox="true"/>
          <p:nvPr/>
        </p:nvSpPr>
        <p:spPr>
          <a:xfrm rot="0">
            <a:off x="1687079" y="7720200"/>
            <a:ext cx="7990024" cy="964173"/>
          </a:xfrm>
          <a:prstGeom prst="rect">
            <a:avLst/>
          </a:prstGeom>
        </p:spPr>
        <p:txBody>
          <a:bodyPr anchor="t" rtlCol="false" tIns="0" lIns="0" bIns="0" rIns="0">
            <a:spAutoFit/>
          </a:bodyPr>
          <a:lstStyle/>
          <a:p>
            <a:pPr algn="l" marL="0" indent="0" lvl="0">
              <a:lnSpc>
                <a:spcPts val="2624"/>
              </a:lnSpc>
            </a:pPr>
            <a:r>
              <a:rPr lang="en-US" sz="2003">
                <a:solidFill>
                  <a:srgbClr val="545454"/>
                </a:solidFill>
                <a:latin typeface="Poppins Light"/>
                <a:ea typeface="Poppins Light"/>
                <a:cs typeface="Poppins Light"/>
                <a:sym typeface="Poppins Light"/>
              </a:rPr>
              <a:t>Validity dan Uniqueness menunjukkan hasil yang baik. Pada Timeliness, terdapat gap dan ketidakmerataan observasi yang perlu diperhatikan dalam analisis time-series.</a:t>
            </a:r>
          </a:p>
        </p:txBody>
      </p:sp>
      <p:sp>
        <p:nvSpPr>
          <p:cNvPr name="TextBox 18" id="18"/>
          <p:cNvSpPr txBox="true"/>
          <p:nvPr/>
        </p:nvSpPr>
        <p:spPr>
          <a:xfrm rot="0">
            <a:off x="1687079" y="7152139"/>
            <a:ext cx="3776898" cy="439513"/>
          </a:xfrm>
          <a:prstGeom prst="rect">
            <a:avLst/>
          </a:prstGeom>
        </p:spPr>
        <p:txBody>
          <a:bodyPr anchor="t" rtlCol="false" tIns="0" lIns="0" bIns="0" rIns="0">
            <a:spAutoFit/>
          </a:bodyPr>
          <a:lstStyle/>
          <a:p>
            <a:pPr algn="l" marL="0" indent="0" lvl="0">
              <a:lnSpc>
                <a:spcPts val="3435"/>
              </a:lnSpc>
            </a:pPr>
            <a:r>
              <a:rPr lang="en-US" sz="2622">
                <a:solidFill>
                  <a:srgbClr val="FFB547"/>
                </a:solidFill>
                <a:latin typeface="Poppins Light"/>
                <a:ea typeface="Poppins Light"/>
                <a:cs typeface="Poppins Light"/>
                <a:sym typeface="Poppins Light"/>
              </a:rPr>
              <a:t>Kesimpulan</a:t>
            </a:r>
          </a:p>
        </p:txBody>
      </p:sp>
      <p:sp>
        <p:nvSpPr>
          <p:cNvPr name="TextBox 19" id="19"/>
          <p:cNvSpPr txBox="true"/>
          <p:nvPr/>
        </p:nvSpPr>
        <p:spPr>
          <a:xfrm rot="0">
            <a:off x="2004485" y="913638"/>
            <a:ext cx="3783942" cy="296718"/>
          </a:xfrm>
          <a:prstGeom prst="rect">
            <a:avLst/>
          </a:prstGeom>
        </p:spPr>
        <p:txBody>
          <a:bodyPr anchor="t" rtlCol="false" tIns="0" lIns="0" bIns="0" rIns="0">
            <a:spAutoFit/>
          </a:bodyPr>
          <a:lstStyle/>
          <a:p>
            <a:pPr algn="l" marL="0" indent="0" lvl="0">
              <a:lnSpc>
                <a:spcPts val="1966"/>
              </a:lnSpc>
            </a:pPr>
            <a:r>
              <a:rPr lang="en-US" sz="2398">
                <a:solidFill>
                  <a:srgbClr val="000000"/>
                </a:solidFill>
                <a:latin typeface="Poppins Light"/>
                <a:ea typeface="Poppins Light"/>
                <a:cs typeface="Poppins Light"/>
                <a:sym typeface="Poppins Light"/>
              </a:rPr>
              <a:t>Sebastian Abe Santoso</a:t>
            </a:r>
          </a:p>
        </p:txBody>
      </p:sp>
      <p:sp>
        <p:nvSpPr>
          <p:cNvPr name="TextBox 20" id="20"/>
          <p:cNvSpPr txBox="true"/>
          <p:nvPr/>
        </p:nvSpPr>
        <p:spPr>
          <a:xfrm rot="0">
            <a:off x="14789139" y="940130"/>
            <a:ext cx="2470161" cy="296718"/>
          </a:xfrm>
          <a:prstGeom prst="rect">
            <a:avLst/>
          </a:prstGeom>
        </p:spPr>
        <p:txBody>
          <a:bodyPr anchor="t" rtlCol="false" tIns="0" lIns="0" bIns="0" rIns="0">
            <a:spAutoFit/>
          </a:bodyPr>
          <a:lstStyle/>
          <a:p>
            <a:pPr algn="ctr" marL="0" indent="0" lvl="0">
              <a:lnSpc>
                <a:spcPts val="1966"/>
              </a:lnSpc>
            </a:pPr>
            <a:r>
              <a:rPr lang="en-US" sz="2398">
                <a:solidFill>
                  <a:srgbClr val="000000"/>
                </a:solidFill>
                <a:latin typeface="Poppins Light"/>
                <a:ea typeface="Poppins Light"/>
                <a:cs typeface="Poppins Light"/>
                <a:sym typeface="Poppins Light"/>
              </a:rPr>
              <a:t>Kesimpulan</a:t>
            </a:r>
          </a:p>
        </p:txBody>
      </p:sp>
      <p:sp>
        <p:nvSpPr>
          <p:cNvPr name="TextBox 21" id="21"/>
          <p:cNvSpPr txBox="true"/>
          <p:nvPr/>
        </p:nvSpPr>
        <p:spPr>
          <a:xfrm rot="0">
            <a:off x="12122303" y="940130"/>
            <a:ext cx="2470161" cy="296718"/>
          </a:xfrm>
          <a:prstGeom prst="rect">
            <a:avLst/>
          </a:prstGeom>
        </p:spPr>
        <p:txBody>
          <a:bodyPr anchor="t" rtlCol="false" tIns="0" lIns="0" bIns="0" rIns="0">
            <a:spAutoFit/>
          </a:bodyPr>
          <a:lstStyle/>
          <a:p>
            <a:pPr algn="ctr" marL="0" indent="0" lvl="0">
              <a:lnSpc>
                <a:spcPts val="1966"/>
              </a:lnSpc>
            </a:pPr>
            <a:r>
              <a:rPr lang="en-US" sz="2398">
                <a:solidFill>
                  <a:srgbClr val="000000"/>
                </a:solidFill>
                <a:latin typeface="Poppins Light"/>
                <a:ea typeface="Poppins Light"/>
                <a:cs typeface="Poppins Light"/>
                <a:sym typeface="Poppins Light"/>
              </a:rPr>
              <a:t>NASA FIRMS</a:t>
            </a:r>
          </a:p>
        </p:txBody>
      </p:sp>
      <p:sp>
        <p:nvSpPr>
          <p:cNvPr name="TextBox 22" id="22"/>
          <p:cNvSpPr txBox="true"/>
          <p:nvPr/>
        </p:nvSpPr>
        <p:spPr>
          <a:xfrm rot="0">
            <a:off x="9455467" y="940130"/>
            <a:ext cx="2470161" cy="296718"/>
          </a:xfrm>
          <a:prstGeom prst="rect">
            <a:avLst/>
          </a:prstGeom>
        </p:spPr>
        <p:txBody>
          <a:bodyPr anchor="t" rtlCol="false" tIns="0" lIns="0" bIns="0" rIns="0">
            <a:spAutoFit/>
          </a:bodyPr>
          <a:lstStyle/>
          <a:p>
            <a:pPr algn="ctr" marL="0" indent="0" lvl="0">
              <a:lnSpc>
                <a:spcPts val="1966"/>
              </a:lnSpc>
            </a:pPr>
            <a:r>
              <a:rPr lang="en-US" sz="2398">
                <a:solidFill>
                  <a:srgbClr val="000000"/>
                </a:solidFill>
                <a:latin typeface="Poppins Light"/>
                <a:ea typeface="Poppins Light"/>
                <a:cs typeface="Poppins Light"/>
                <a:sym typeface="Poppins Light"/>
              </a:rPr>
              <a:t>Beranda</a:t>
            </a:r>
          </a:p>
        </p:txBody>
      </p:sp>
      <p:sp>
        <p:nvSpPr>
          <p:cNvPr name="TextBox 23" id="23"/>
          <p:cNvSpPr txBox="true"/>
          <p:nvPr/>
        </p:nvSpPr>
        <p:spPr>
          <a:xfrm rot="0">
            <a:off x="1689685" y="5485590"/>
            <a:ext cx="1032381" cy="882001"/>
          </a:xfrm>
          <a:prstGeom prst="rect">
            <a:avLst/>
          </a:prstGeom>
        </p:spPr>
        <p:txBody>
          <a:bodyPr anchor="t" rtlCol="false" tIns="0" lIns="0" bIns="0" rIns="0">
            <a:spAutoFit/>
          </a:bodyPr>
          <a:lstStyle/>
          <a:p>
            <a:pPr algn="l" marL="0" indent="0" lvl="0">
              <a:lnSpc>
                <a:spcPts val="6610"/>
              </a:lnSpc>
            </a:pPr>
            <a:r>
              <a:rPr lang="en-US" sz="5046">
                <a:solidFill>
                  <a:srgbClr val="FFB547"/>
                </a:solidFill>
                <a:latin typeface="Poppins Light"/>
                <a:ea typeface="Poppins Light"/>
                <a:cs typeface="Poppins Light"/>
                <a:sym typeface="Poppins Light"/>
              </a:rPr>
              <a:t>6</a:t>
            </a:r>
          </a:p>
        </p:txBody>
      </p:sp>
      <p:sp>
        <p:nvSpPr>
          <p:cNvPr name="TextBox 24" id="24"/>
          <p:cNvSpPr txBox="true"/>
          <p:nvPr/>
        </p:nvSpPr>
        <p:spPr>
          <a:xfrm rot="0">
            <a:off x="10054068" y="1592367"/>
            <a:ext cx="7555850" cy="985083"/>
          </a:xfrm>
          <a:prstGeom prst="rect">
            <a:avLst/>
          </a:prstGeom>
        </p:spPr>
        <p:txBody>
          <a:bodyPr anchor="t" rtlCol="false" tIns="0" lIns="0" bIns="0" rIns="0">
            <a:spAutoFit/>
          </a:bodyPr>
          <a:lstStyle/>
          <a:p>
            <a:pPr algn="l" marL="0" indent="0" lvl="0">
              <a:lnSpc>
                <a:spcPts val="6443"/>
              </a:lnSpc>
            </a:pPr>
            <a:r>
              <a:rPr lang="en-US" sz="7858">
                <a:solidFill>
                  <a:srgbClr val="000000"/>
                </a:solidFill>
                <a:latin typeface="Poppins Light"/>
                <a:ea typeface="Poppins Light"/>
                <a:cs typeface="Poppins Light"/>
                <a:sym typeface="Poppins Light"/>
              </a:rPr>
              <a:t>Hasil Profiling 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823847"/>
            <a:ext cx="660985" cy="462690"/>
          </a:xfrm>
          <a:custGeom>
            <a:avLst/>
            <a:gdLst/>
            <a:ahLst/>
            <a:cxnLst/>
            <a:rect r="r" b="b" t="t" l="l"/>
            <a:pathLst>
              <a:path h="462690" w="660985">
                <a:moveTo>
                  <a:pt x="0" y="0"/>
                </a:moveTo>
                <a:lnTo>
                  <a:pt x="660985" y="0"/>
                </a:lnTo>
                <a:lnTo>
                  <a:pt x="660985" y="462690"/>
                </a:lnTo>
                <a:lnTo>
                  <a:pt x="0" y="4626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09431" y="1434634"/>
            <a:ext cx="7417732" cy="7417732"/>
          </a:xfrm>
          <a:custGeom>
            <a:avLst/>
            <a:gdLst/>
            <a:ahLst/>
            <a:cxnLst/>
            <a:rect r="r" b="b" t="t" l="l"/>
            <a:pathLst>
              <a:path h="7417732" w="7417732">
                <a:moveTo>
                  <a:pt x="0" y="0"/>
                </a:moveTo>
                <a:lnTo>
                  <a:pt x="7417732" y="0"/>
                </a:lnTo>
                <a:lnTo>
                  <a:pt x="7417732" y="7417732"/>
                </a:lnTo>
                <a:lnTo>
                  <a:pt x="0" y="7417732"/>
                </a:lnTo>
                <a:lnTo>
                  <a:pt x="0" y="0"/>
                </a:lnTo>
                <a:close/>
              </a:path>
            </a:pathLst>
          </a:custGeom>
          <a:blipFill>
            <a:blip r:embed="rId4">
              <a:alphaModFix amt="5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109903" y="6152019"/>
            <a:ext cx="7417732" cy="7417732"/>
          </a:xfrm>
          <a:custGeom>
            <a:avLst/>
            <a:gdLst/>
            <a:ahLst/>
            <a:cxnLst/>
            <a:rect r="r" b="b" t="t" l="l"/>
            <a:pathLst>
              <a:path h="7417732" w="7417732">
                <a:moveTo>
                  <a:pt x="0" y="0"/>
                </a:moveTo>
                <a:lnTo>
                  <a:pt x="7417732" y="0"/>
                </a:lnTo>
                <a:lnTo>
                  <a:pt x="7417732" y="7417732"/>
                </a:lnTo>
                <a:lnTo>
                  <a:pt x="0" y="7417732"/>
                </a:lnTo>
                <a:lnTo>
                  <a:pt x="0" y="0"/>
                </a:lnTo>
                <a:close/>
              </a:path>
            </a:pathLst>
          </a:custGeom>
          <a:blipFill>
            <a:blip r:embed="rId4">
              <a:alphaModFix amt="5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09172" y="2051035"/>
            <a:ext cx="1090263" cy="1090263"/>
          </a:xfrm>
          <a:custGeom>
            <a:avLst/>
            <a:gdLst/>
            <a:ahLst/>
            <a:cxnLst/>
            <a:rect r="r" b="b" t="t" l="l"/>
            <a:pathLst>
              <a:path h="1090263" w="1090263">
                <a:moveTo>
                  <a:pt x="0" y="0"/>
                </a:moveTo>
                <a:lnTo>
                  <a:pt x="1090263" y="0"/>
                </a:lnTo>
                <a:lnTo>
                  <a:pt x="1090263" y="1090262"/>
                </a:lnTo>
                <a:lnTo>
                  <a:pt x="0" y="10902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409172" y="3450409"/>
            <a:ext cx="1090263" cy="10902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47"/>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marL="0" indent="0" lvl="0">
                <a:lnSpc>
                  <a:spcPts val="2358"/>
                </a:lnSpc>
              </a:pPr>
            </a:p>
          </p:txBody>
        </p:sp>
      </p:grpSp>
      <p:grpSp>
        <p:nvGrpSpPr>
          <p:cNvPr name="Group 9" id="9"/>
          <p:cNvGrpSpPr/>
          <p:nvPr/>
        </p:nvGrpSpPr>
        <p:grpSpPr>
          <a:xfrm rot="0">
            <a:off x="10155983" y="3735349"/>
            <a:ext cx="1090263" cy="109026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547"/>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marL="0" indent="0" lvl="0">
                <a:lnSpc>
                  <a:spcPts val="2358"/>
                </a:lnSpc>
              </a:pPr>
            </a:p>
          </p:txBody>
        </p:sp>
      </p:grpSp>
      <p:sp>
        <p:nvSpPr>
          <p:cNvPr name="Freeform 12" id="12"/>
          <p:cNvSpPr/>
          <p:nvPr/>
        </p:nvSpPr>
        <p:spPr>
          <a:xfrm flipH="false" flipV="false" rot="0">
            <a:off x="10155983" y="5134723"/>
            <a:ext cx="1090263" cy="1090263"/>
          </a:xfrm>
          <a:custGeom>
            <a:avLst/>
            <a:gdLst/>
            <a:ahLst/>
            <a:cxnLst/>
            <a:rect r="r" b="b" t="t" l="l"/>
            <a:pathLst>
              <a:path h="1090263" w="1090263">
                <a:moveTo>
                  <a:pt x="0" y="0"/>
                </a:moveTo>
                <a:lnTo>
                  <a:pt x="1090263" y="0"/>
                </a:lnTo>
                <a:lnTo>
                  <a:pt x="1090263" y="1090263"/>
                </a:lnTo>
                <a:lnTo>
                  <a:pt x="0" y="10902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3" id="13"/>
          <p:cNvGrpSpPr/>
          <p:nvPr/>
        </p:nvGrpSpPr>
        <p:grpSpPr>
          <a:xfrm rot="0">
            <a:off x="10863838" y="297955"/>
            <a:ext cx="3272718" cy="327271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0" t="-24906" r="0" b="-24906"/>
              </a:stretch>
            </a:blipFill>
          </p:spPr>
        </p:sp>
      </p:grpSp>
      <p:grpSp>
        <p:nvGrpSpPr>
          <p:cNvPr name="Group 15" id="15"/>
          <p:cNvGrpSpPr/>
          <p:nvPr/>
        </p:nvGrpSpPr>
        <p:grpSpPr>
          <a:xfrm rot="0">
            <a:off x="15257834" y="312114"/>
            <a:ext cx="1793141" cy="179314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9"/>
              <a:stretch>
                <a:fillRect l="-25471" t="0" r="-25471" b="0"/>
              </a:stretch>
            </a:blipFill>
          </p:spPr>
        </p:sp>
      </p:grpSp>
      <p:sp>
        <p:nvSpPr>
          <p:cNvPr name="Freeform 17" id="17"/>
          <p:cNvSpPr/>
          <p:nvPr/>
        </p:nvSpPr>
        <p:spPr>
          <a:xfrm flipH="false" flipV="false" rot="-5400000">
            <a:off x="16239268" y="8230457"/>
            <a:ext cx="2059114" cy="4114800"/>
          </a:xfrm>
          <a:custGeom>
            <a:avLst/>
            <a:gdLst/>
            <a:ahLst/>
            <a:cxnLst/>
            <a:rect r="r" b="b" t="t" l="l"/>
            <a:pathLst>
              <a:path h="4114800" w="2059114">
                <a:moveTo>
                  <a:pt x="0" y="0"/>
                </a:moveTo>
                <a:lnTo>
                  <a:pt x="2059114" y="0"/>
                </a:lnTo>
                <a:lnTo>
                  <a:pt x="2059114"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8" id="18"/>
          <p:cNvSpPr/>
          <p:nvPr/>
        </p:nvSpPr>
        <p:spPr>
          <a:xfrm flipH="false" flipV="false" rot="0">
            <a:off x="-1189185" y="9258300"/>
            <a:ext cx="2378369" cy="2378369"/>
          </a:xfrm>
          <a:custGeom>
            <a:avLst/>
            <a:gdLst/>
            <a:ahLst/>
            <a:cxnLst/>
            <a:rect r="r" b="b" t="t" l="l"/>
            <a:pathLst>
              <a:path h="2378369" w="2378369">
                <a:moveTo>
                  <a:pt x="0" y="0"/>
                </a:moveTo>
                <a:lnTo>
                  <a:pt x="2378370" y="0"/>
                </a:lnTo>
                <a:lnTo>
                  <a:pt x="2378370" y="2378369"/>
                </a:lnTo>
                <a:lnTo>
                  <a:pt x="0" y="23783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9" id="19"/>
          <p:cNvSpPr/>
          <p:nvPr/>
        </p:nvSpPr>
        <p:spPr>
          <a:xfrm flipH="false" flipV="false" rot="0">
            <a:off x="1737804" y="2374400"/>
            <a:ext cx="432999" cy="443533"/>
          </a:xfrm>
          <a:custGeom>
            <a:avLst/>
            <a:gdLst/>
            <a:ahLst/>
            <a:cxnLst/>
            <a:rect r="r" b="b" t="t" l="l"/>
            <a:pathLst>
              <a:path h="443533" w="432999">
                <a:moveTo>
                  <a:pt x="0" y="0"/>
                </a:moveTo>
                <a:lnTo>
                  <a:pt x="432999" y="0"/>
                </a:lnTo>
                <a:lnTo>
                  <a:pt x="432999" y="443533"/>
                </a:lnTo>
                <a:lnTo>
                  <a:pt x="0" y="44353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0" id="20"/>
          <p:cNvSpPr/>
          <p:nvPr/>
        </p:nvSpPr>
        <p:spPr>
          <a:xfrm flipH="false" flipV="false" rot="0">
            <a:off x="1690758" y="3735349"/>
            <a:ext cx="527091" cy="520382"/>
          </a:xfrm>
          <a:custGeom>
            <a:avLst/>
            <a:gdLst/>
            <a:ahLst/>
            <a:cxnLst/>
            <a:rect r="r" b="b" t="t" l="l"/>
            <a:pathLst>
              <a:path h="520382" w="527091">
                <a:moveTo>
                  <a:pt x="0" y="0"/>
                </a:moveTo>
                <a:lnTo>
                  <a:pt x="527091" y="0"/>
                </a:lnTo>
                <a:lnTo>
                  <a:pt x="527091" y="520382"/>
                </a:lnTo>
                <a:lnTo>
                  <a:pt x="0" y="52038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1" id="21"/>
          <p:cNvSpPr/>
          <p:nvPr/>
        </p:nvSpPr>
        <p:spPr>
          <a:xfrm flipH="false" flipV="false" rot="0">
            <a:off x="10437408" y="4029959"/>
            <a:ext cx="527413" cy="501042"/>
          </a:xfrm>
          <a:custGeom>
            <a:avLst/>
            <a:gdLst/>
            <a:ahLst/>
            <a:cxnLst/>
            <a:rect r="r" b="b" t="t" l="l"/>
            <a:pathLst>
              <a:path h="501042" w="527413">
                <a:moveTo>
                  <a:pt x="0" y="0"/>
                </a:moveTo>
                <a:lnTo>
                  <a:pt x="527413" y="0"/>
                </a:lnTo>
                <a:lnTo>
                  <a:pt x="527413" y="501043"/>
                </a:lnTo>
                <a:lnTo>
                  <a:pt x="0" y="501043"/>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2" id="22"/>
          <p:cNvSpPr/>
          <p:nvPr/>
        </p:nvSpPr>
        <p:spPr>
          <a:xfrm flipH="false" flipV="false" rot="0">
            <a:off x="10467073" y="5449643"/>
            <a:ext cx="468082" cy="460423"/>
          </a:xfrm>
          <a:custGeom>
            <a:avLst/>
            <a:gdLst/>
            <a:ahLst/>
            <a:cxnLst/>
            <a:rect r="r" b="b" t="t" l="l"/>
            <a:pathLst>
              <a:path h="460423" w="468082">
                <a:moveTo>
                  <a:pt x="0" y="0"/>
                </a:moveTo>
                <a:lnTo>
                  <a:pt x="468082" y="0"/>
                </a:lnTo>
                <a:lnTo>
                  <a:pt x="468082" y="460423"/>
                </a:lnTo>
                <a:lnTo>
                  <a:pt x="0" y="460423"/>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23" id="23"/>
          <p:cNvSpPr txBox="true"/>
          <p:nvPr/>
        </p:nvSpPr>
        <p:spPr>
          <a:xfrm rot="0">
            <a:off x="2004485" y="913638"/>
            <a:ext cx="3783942" cy="296718"/>
          </a:xfrm>
          <a:prstGeom prst="rect">
            <a:avLst/>
          </a:prstGeom>
        </p:spPr>
        <p:txBody>
          <a:bodyPr anchor="t" rtlCol="false" tIns="0" lIns="0" bIns="0" rIns="0">
            <a:spAutoFit/>
          </a:bodyPr>
          <a:lstStyle/>
          <a:p>
            <a:pPr algn="l" marL="0" indent="0" lvl="0">
              <a:lnSpc>
                <a:spcPts val="1966"/>
              </a:lnSpc>
            </a:pPr>
            <a:r>
              <a:rPr lang="en-US" sz="2398">
                <a:solidFill>
                  <a:srgbClr val="000000"/>
                </a:solidFill>
                <a:latin typeface="Poppins Light"/>
                <a:ea typeface="Poppins Light"/>
                <a:cs typeface="Poppins Light"/>
                <a:sym typeface="Poppins Light"/>
              </a:rPr>
              <a:t>Warner &amp; Spencer</a:t>
            </a:r>
          </a:p>
        </p:txBody>
      </p:sp>
      <p:sp>
        <p:nvSpPr>
          <p:cNvPr name="TextBox 24" id="24"/>
          <p:cNvSpPr txBox="true"/>
          <p:nvPr/>
        </p:nvSpPr>
        <p:spPr>
          <a:xfrm rot="0">
            <a:off x="1548623" y="7045746"/>
            <a:ext cx="7139515" cy="573786"/>
          </a:xfrm>
          <a:prstGeom prst="rect">
            <a:avLst/>
          </a:prstGeom>
        </p:spPr>
        <p:txBody>
          <a:bodyPr anchor="t" rtlCol="false" tIns="0" lIns="0" bIns="0" rIns="0">
            <a:spAutoFit/>
          </a:bodyPr>
          <a:lstStyle/>
          <a:p>
            <a:pPr algn="l" marL="0" indent="0" lvl="0">
              <a:lnSpc>
                <a:spcPts val="1572"/>
              </a:lnSpc>
            </a:pPr>
            <a:r>
              <a:rPr lang="en-US" sz="1200">
                <a:solidFill>
                  <a:srgbClr val="545454"/>
                </a:solidFill>
                <a:latin typeface="Poppins Light"/>
                <a:ea typeface="Poppins Light"/>
                <a:cs typeface="Poppins Light"/>
                <a:sym typeface="Poppins Light"/>
              </a:rPr>
              <a:t>Online Shoppers Purchasing Intention Dataset merupakan dataset non-time-series dari UCI Machine Learning Repository. Setiap baris merepresentasikan satu sesi kunjungan pengguna ke toko online.</a:t>
            </a:r>
          </a:p>
        </p:txBody>
      </p:sp>
      <p:sp>
        <p:nvSpPr>
          <p:cNvPr name="TextBox 25" id="25"/>
          <p:cNvSpPr txBox="true"/>
          <p:nvPr/>
        </p:nvSpPr>
        <p:spPr>
          <a:xfrm rot="0">
            <a:off x="3047987" y="4131228"/>
            <a:ext cx="5290379" cy="192786"/>
          </a:xfrm>
          <a:prstGeom prst="rect">
            <a:avLst/>
          </a:prstGeom>
        </p:spPr>
        <p:txBody>
          <a:bodyPr anchor="t" rtlCol="false" tIns="0" lIns="0" bIns="0" rIns="0">
            <a:spAutoFit/>
          </a:bodyPr>
          <a:lstStyle/>
          <a:p>
            <a:pPr algn="l" marL="0" indent="0" lvl="0">
              <a:lnSpc>
                <a:spcPts val="1572"/>
              </a:lnSpc>
            </a:pPr>
            <a:r>
              <a:rPr lang="en-US" sz="1200">
                <a:solidFill>
                  <a:srgbClr val="545454"/>
                </a:solidFill>
                <a:latin typeface="Poppins Light"/>
                <a:ea typeface="Poppins Light"/>
                <a:cs typeface="Poppins Light"/>
                <a:sym typeface="Poppins Light"/>
              </a:rPr>
              <a:t>12.330 baris, 18 kolom; satu baris = satu sesi kunjungan</a:t>
            </a:r>
          </a:p>
        </p:txBody>
      </p:sp>
      <p:sp>
        <p:nvSpPr>
          <p:cNvPr name="TextBox 26" id="26"/>
          <p:cNvSpPr txBox="true"/>
          <p:nvPr/>
        </p:nvSpPr>
        <p:spPr>
          <a:xfrm rot="0">
            <a:off x="3047987" y="3532573"/>
            <a:ext cx="4140786" cy="351684"/>
          </a:xfrm>
          <a:prstGeom prst="rect">
            <a:avLst/>
          </a:prstGeom>
        </p:spPr>
        <p:txBody>
          <a:bodyPr anchor="t" rtlCol="false" tIns="0" lIns="0" bIns="0" rIns="0">
            <a:spAutoFit/>
          </a:bodyPr>
          <a:lstStyle/>
          <a:p>
            <a:pPr algn="l" marL="0" indent="0" lvl="0">
              <a:lnSpc>
                <a:spcPts val="2749"/>
              </a:lnSpc>
            </a:pPr>
            <a:r>
              <a:rPr lang="en-US" sz="2098">
                <a:solidFill>
                  <a:srgbClr val="2E2E72"/>
                </a:solidFill>
                <a:latin typeface="Poppins Light"/>
                <a:ea typeface="Poppins Light"/>
                <a:cs typeface="Poppins Light"/>
                <a:sym typeface="Poppins Light"/>
              </a:rPr>
              <a:t>Ukuran Data:</a:t>
            </a:r>
          </a:p>
        </p:txBody>
      </p:sp>
      <p:sp>
        <p:nvSpPr>
          <p:cNvPr name="TextBox 27" id="27"/>
          <p:cNvSpPr txBox="true"/>
          <p:nvPr/>
        </p:nvSpPr>
        <p:spPr>
          <a:xfrm rot="0">
            <a:off x="3047987" y="2719519"/>
            <a:ext cx="5290379" cy="383286"/>
          </a:xfrm>
          <a:prstGeom prst="rect">
            <a:avLst/>
          </a:prstGeom>
        </p:spPr>
        <p:txBody>
          <a:bodyPr anchor="t" rtlCol="false" tIns="0" lIns="0" bIns="0" rIns="0">
            <a:spAutoFit/>
          </a:bodyPr>
          <a:lstStyle/>
          <a:p>
            <a:pPr algn="l" marL="0" indent="0" lvl="0">
              <a:lnSpc>
                <a:spcPts val="1572"/>
              </a:lnSpc>
            </a:pPr>
            <a:r>
              <a:rPr lang="en-US" sz="1200">
                <a:solidFill>
                  <a:srgbClr val="545454"/>
                </a:solidFill>
                <a:latin typeface="Poppins Light"/>
                <a:ea typeface="Poppins Light"/>
                <a:cs typeface="Poppins Light"/>
                <a:sym typeface="Poppins Light"/>
              </a:rPr>
              <a:t>UCI Machine Learning Repository; Online Shoppers Purchasing Intention Dataset</a:t>
            </a:r>
          </a:p>
        </p:txBody>
      </p:sp>
      <p:sp>
        <p:nvSpPr>
          <p:cNvPr name="TextBox 28" id="28"/>
          <p:cNvSpPr txBox="true"/>
          <p:nvPr/>
        </p:nvSpPr>
        <p:spPr>
          <a:xfrm rot="0">
            <a:off x="3047987" y="2120863"/>
            <a:ext cx="4565556" cy="351684"/>
          </a:xfrm>
          <a:prstGeom prst="rect">
            <a:avLst/>
          </a:prstGeom>
        </p:spPr>
        <p:txBody>
          <a:bodyPr anchor="t" rtlCol="false" tIns="0" lIns="0" bIns="0" rIns="0">
            <a:spAutoFit/>
          </a:bodyPr>
          <a:lstStyle/>
          <a:p>
            <a:pPr algn="l" marL="0" indent="0" lvl="0">
              <a:lnSpc>
                <a:spcPts val="2749"/>
              </a:lnSpc>
            </a:pPr>
            <a:r>
              <a:rPr lang="en-US" sz="2098">
                <a:solidFill>
                  <a:srgbClr val="FFB547"/>
                </a:solidFill>
                <a:latin typeface="Poppins Light"/>
                <a:ea typeface="Poppins Light"/>
                <a:cs typeface="Poppins Light"/>
                <a:sym typeface="Poppins Light"/>
              </a:rPr>
              <a:t>Sumber &amp; Identitas Dataset:</a:t>
            </a:r>
          </a:p>
        </p:txBody>
      </p:sp>
      <p:sp>
        <p:nvSpPr>
          <p:cNvPr name="TextBox 29" id="29"/>
          <p:cNvSpPr txBox="true"/>
          <p:nvPr/>
        </p:nvSpPr>
        <p:spPr>
          <a:xfrm rot="0">
            <a:off x="11760596" y="5821710"/>
            <a:ext cx="5290379" cy="383286"/>
          </a:xfrm>
          <a:prstGeom prst="rect">
            <a:avLst/>
          </a:prstGeom>
        </p:spPr>
        <p:txBody>
          <a:bodyPr anchor="t" rtlCol="false" tIns="0" lIns="0" bIns="0" rIns="0">
            <a:spAutoFit/>
          </a:bodyPr>
          <a:lstStyle/>
          <a:p>
            <a:pPr algn="l" marL="0" indent="0" lvl="0">
              <a:lnSpc>
                <a:spcPts val="1572"/>
              </a:lnSpc>
            </a:pPr>
            <a:r>
              <a:rPr lang="en-US" sz="1200">
                <a:solidFill>
                  <a:srgbClr val="545454"/>
                </a:solidFill>
                <a:latin typeface="Poppins Light"/>
                <a:ea typeface="Poppins Light"/>
                <a:cs typeface="Poppins Light"/>
                <a:sym typeface="Poppins Light"/>
              </a:rPr>
              <a:t>Bukan time-series; tidak ada timestamp individual; data dikumpulkan selama satu tahun</a:t>
            </a:r>
          </a:p>
        </p:txBody>
      </p:sp>
      <p:sp>
        <p:nvSpPr>
          <p:cNvPr name="TextBox 30" id="30"/>
          <p:cNvSpPr txBox="true"/>
          <p:nvPr/>
        </p:nvSpPr>
        <p:spPr>
          <a:xfrm rot="0">
            <a:off x="11760596" y="5223055"/>
            <a:ext cx="3022225" cy="351684"/>
          </a:xfrm>
          <a:prstGeom prst="rect">
            <a:avLst/>
          </a:prstGeom>
        </p:spPr>
        <p:txBody>
          <a:bodyPr anchor="t" rtlCol="false" tIns="0" lIns="0" bIns="0" rIns="0">
            <a:spAutoFit/>
          </a:bodyPr>
          <a:lstStyle/>
          <a:p>
            <a:pPr algn="l" marL="0" indent="0" lvl="0">
              <a:lnSpc>
                <a:spcPts val="2749"/>
              </a:lnSpc>
            </a:pPr>
            <a:r>
              <a:rPr lang="en-US" sz="2098">
                <a:solidFill>
                  <a:srgbClr val="FFB547"/>
                </a:solidFill>
                <a:latin typeface="Poppins Light"/>
                <a:ea typeface="Poppins Light"/>
                <a:cs typeface="Poppins Light"/>
                <a:sym typeface="Poppins Light"/>
              </a:rPr>
              <a:t>Sifat Temporal:</a:t>
            </a:r>
          </a:p>
        </p:txBody>
      </p:sp>
      <p:sp>
        <p:nvSpPr>
          <p:cNvPr name="TextBox 31" id="31"/>
          <p:cNvSpPr txBox="true"/>
          <p:nvPr/>
        </p:nvSpPr>
        <p:spPr>
          <a:xfrm rot="0">
            <a:off x="11760596" y="4410001"/>
            <a:ext cx="5290379" cy="383286"/>
          </a:xfrm>
          <a:prstGeom prst="rect">
            <a:avLst/>
          </a:prstGeom>
        </p:spPr>
        <p:txBody>
          <a:bodyPr anchor="t" rtlCol="false" tIns="0" lIns="0" bIns="0" rIns="0">
            <a:spAutoFit/>
          </a:bodyPr>
          <a:lstStyle/>
          <a:p>
            <a:pPr algn="l" marL="0" indent="0" lvl="0">
              <a:lnSpc>
                <a:spcPts val="1572"/>
              </a:lnSpc>
            </a:pPr>
            <a:r>
              <a:rPr lang="en-US" sz="1200">
                <a:solidFill>
                  <a:srgbClr val="545454"/>
                </a:solidFill>
                <a:latin typeface="Poppins Light"/>
                <a:ea typeface="Poppins Light"/>
                <a:cs typeface="Poppins Light"/>
                <a:sym typeface="Poppins Light"/>
              </a:rPr>
              <a:t>Target: Revenue (pendapatan); atribut Month dan Weekend hanya karakteristik sesi</a:t>
            </a:r>
          </a:p>
        </p:txBody>
      </p:sp>
      <p:sp>
        <p:nvSpPr>
          <p:cNvPr name="TextBox 32" id="32"/>
          <p:cNvSpPr txBox="true"/>
          <p:nvPr/>
        </p:nvSpPr>
        <p:spPr>
          <a:xfrm rot="0">
            <a:off x="11760596" y="3811345"/>
            <a:ext cx="4268217" cy="351684"/>
          </a:xfrm>
          <a:prstGeom prst="rect">
            <a:avLst/>
          </a:prstGeom>
        </p:spPr>
        <p:txBody>
          <a:bodyPr anchor="t" rtlCol="false" tIns="0" lIns="0" bIns="0" rIns="0">
            <a:spAutoFit/>
          </a:bodyPr>
          <a:lstStyle/>
          <a:p>
            <a:pPr algn="l" marL="0" indent="0" lvl="0">
              <a:lnSpc>
                <a:spcPts val="2749"/>
              </a:lnSpc>
            </a:pPr>
            <a:r>
              <a:rPr lang="en-US" sz="2098">
                <a:solidFill>
                  <a:srgbClr val="2E2E72"/>
                </a:solidFill>
                <a:latin typeface="Poppins Light"/>
                <a:ea typeface="Poppins Light"/>
                <a:cs typeface="Poppins Light"/>
                <a:sym typeface="Poppins Light"/>
              </a:rPr>
              <a:t>Target &amp; Atribut Utama: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34990" y="-8276169"/>
            <a:ext cx="20186658" cy="8852366"/>
            <a:chOff x="0" y="0"/>
            <a:chExt cx="26915544" cy="11803155"/>
          </a:xfrm>
        </p:grpSpPr>
        <p:grpSp>
          <p:nvGrpSpPr>
            <p:cNvPr name="Group 3" id="3"/>
            <p:cNvGrpSpPr/>
            <p:nvPr/>
          </p:nvGrpSpPr>
          <p:grpSpPr>
            <a:xfrm rot="0">
              <a:off x="0" y="5831990"/>
              <a:ext cx="25050481" cy="5964933"/>
              <a:chOff x="0" y="0"/>
              <a:chExt cx="4948243" cy="1178258"/>
            </a:xfrm>
          </p:grpSpPr>
          <p:sp>
            <p:nvSpPr>
              <p:cNvPr name="Freeform 4" id="4"/>
              <p:cNvSpPr/>
              <p:nvPr/>
            </p:nvSpPr>
            <p:spPr>
              <a:xfrm flipH="false" flipV="false" rot="0">
                <a:off x="0" y="0"/>
                <a:ext cx="4948243" cy="1178258"/>
              </a:xfrm>
              <a:custGeom>
                <a:avLst/>
                <a:gdLst/>
                <a:ahLst/>
                <a:cxnLst/>
                <a:rect r="r" b="b" t="t" l="l"/>
                <a:pathLst>
                  <a:path h="1178258" w="4948243">
                    <a:moveTo>
                      <a:pt x="0" y="0"/>
                    </a:moveTo>
                    <a:lnTo>
                      <a:pt x="4948243" y="0"/>
                    </a:lnTo>
                    <a:lnTo>
                      <a:pt x="4948243" y="1178258"/>
                    </a:lnTo>
                    <a:lnTo>
                      <a:pt x="0" y="1178258"/>
                    </a:lnTo>
                    <a:close/>
                  </a:path>
                </a:pathLst>
              </a:custGeom>
              <a:solidFill>
                <a:srgbClr val="FFFFFF"/>
              </a:solidFill>
            </p:spPr>
          </p:sp>
          <p:sp>
            <p:nvSpPr>
              <p:cNvPr name="TextBox 5" id="5"/>
              <p:cNvSpPr txBox="true"/>
              <p:nvPr/>
            </p:nvSpPr>
            <p:spPr>
              <a:xfrm>
                <a:off x="0" y="66675"/>
                <a:ext cx="4948243" cy="1111583"/>
              </a:xfrm>
              <a:prstGeom prst="rect">
                <a:avLst/>
              </a:prstGeom>
            </p:spPr>
            <p:txBody>
              <a:bodyPr anchor="ctr" rtlCol="false" tIns="50800" lIns="50800" bIns="50800" rIns="50800"/>
              <a:lstStyle/>
              <a:p>
                <a:pPr algn="ctr">
                  <a:lnSpc>
                    <a:spcPts val="1966"/>
                  </a:lnSpc>
                </a:pPr>
              </a:p>
            </p:txBody>
          </p:sp>
        </p:grpSp>
        <p:sp>
          <p:nvSpPr>
            <p:cNvPr name="TextBox 6" id="6"/>
            <p:cNvSpPr txBox="true"/>
            <p:nvPr/>
          </p:nvSpPr>
          <p:spPr>
            <a:xfrm rot="0">
              <a:off x="691747" y="3576890"/>
              <a:ext cx="16783972" cy="5372762"/>
            </a:xfrm>
            <a:prstGeom prst="rect">
              <a:avLst/>
            </a:prstGeom>
          </p:spPr>
          <p:txBody>
            <a:bodyPr anchor="t" rtlCol="false" tIns="0" lIns="0" bIns="0" rIns="0">
              <a:spAutoFit/>
            </a:bodyPr>
            <a:lstStyle/>
            <a:p>
              <a:pPr algn="l" marL="0" indent="0" lvl="0">
                <a:lnSpc>
                  <a:spcPts val="9744"/>
                </a:lnSpc>
              </a:pPr>
              <a:r>
                <a:rPr lang="en-US" sz="11883">
                  <a:solidFill>
                    <a:srgbClr val="000000"/>
                  </a:solidFill>
                  <a:latin typeface="Poppins Light"/>
                  <a:ea typeface="Poppins Light"/>
                  <a:cs typeface="Poppins Light"/>
                  <a:sym typeface="Poppins Light"/>
                </a:rPr>
                <a:t>Profiling Dataset</a:t>
              </a:r>
            </a:p>
            <a:p>
              <a:pPr algn="l" marL="0" indent="0" lvl="0">
                <a:lnSpc>
                  <a:spcPts val="9744"/>
                </a:lnSpc>
              </a:pPr>
              <a:r>
                <a:rPr lang="en-US" sz="11883">
                  <a:solidFill>
                    <a:srgbClr val="000000"/>
                  </a:solidFill>
                  <a:latin typeface="Poppins Light"/>
                  <a:ea typeface="Poppins Light"/>
                  <a:cs typeface="Poppins Light"/>
                  <a:sym typeface="Poppins Light"/>
                </a:rPr>
                <a:t>Time-Series &amp;</a:t>
              </a:r>
            </a:p>
            <a:p>
              <a:pPr algn="l" marL="0" indent="0" lvl="0">
                <a:lnSpc>
                  <a:spcPts val="9744"/>
                </a:lnSpc>
              </a:pPr>
              <a:r>
                <a:rPr lang="en-US" sz="11883">
                  <a:solidFill>
                    <a:srgbClr val="000000"/>
                  </a:solidFill>
                  <a:latin typeface="Poppins Light"/>
                  <a:ea typeface="Poppins Light"/>
                  <a:cs typeface="Poppins Light"/>
                  <a:sym typeface="Poppins Light"/>
                </a:rPr>
                <a:t>Non-Time-Series</a:t>
              </a:r>
            </a:p>
          </p:txBody>
        </p:sp>
        <p:sp>
          <p:nvSpPr>
            <p:cNvPr name="TextBox 7" id="7"/>
            <p:cNvSpPr txBox="true"/>
            <p:nvPr/>
          </p:nvSpPr>
          <p:spPr>
            <a:xfrm rot="0">
              <a:off x="2672646" y="1686808"/>
              <a:ext cx="5272751" cy="587405"/>
            </a:xfrm>
            <a:prstGeom prst="rect">
              <a:avLst/>
            </a:prstGeom>
          </p:spPr>
          <p:txBody>
            <a:bodyPr anchor="t" rtlCol="false" tIns="0" lIns="0" bIns="0" rIns="0">
              <a:spAutoFit/>
            </a:bodyPr>
            <a:lstStyle/>
            <a:p>
              <a:pPr algn="l" marL="0" indent="0" lvl="0">
                <a:lnSpc>
                  <a:spcPts val="1784"/>
                </a:lnSpc>
              </a:pPr>
              <a:r>
                <a:rPr lang="en-US" sz="1362">
                  <a:solidFill>
                    <a:srgbClr val="000000"/>
                  </a:solidFill>
                  <a:latin typeface="Poppins Light"/>
                  <a:ea typeface="Poppins Light"/>
                  <a:cs typeface="Poppins Light"/>
                  <a:sym typeface="Poppins Light"/>
                </a:rPr>
                <a:t>Sebastian Abe Santoso</a:t>
              </a:r>
            </a:p>
            <a:p>
              <a:pPr algn="l" marL="0" indent="0" lvl="0">
                <a:lnSpc>
                  <a:spcPts val="1784"/>
                </a:lnSpc>
              </a:pPr>
              <a:r>
                <a:rPr lang="en-US" sz="1362">
                  <a:solidFill>
                    <a:srgbClr val="000000"/>
                  </a:solidFill>
                  <a:latin typeface="Poppins Light"/>
                  <a:ea typeface="Poppins Light"/>
                  <a:cs typeface="Poppins Light"/>
                  <a:sym typeface="Poppins Light"/>
                </a:rPr>
                <a:t>NIM 2410817210002</a:t>
              </a:r>
            </a:p>
          </p:txBody>
        </p:sp>
        <p:sp>
          <p:nvSpPr>
            <p:cNvPr name="Freeform 8" id="8"/>
            <p:cNvSpPr/>
            <p:nvPr/>
          </p:nvSpPr>
          <p:spPr>
            <a:xfrm flipH="false" flipV="false" rot="0">
              <a:off x="1371600" y="1098463"/>
              <a:ext cx="881314" cy="616920"/>
            </a:xfrm>
            <a:custGeom>
              <a:avLst/>
              <a:gdLst/>
              <a:ahLst/>
              <a:cxnLst/>
              <a:rect r="r" b="b" t="t" l="l"/>
              <a:pathLst>
                <a:path h="616920" w="881314">
                  <a:moveTo>
                    <a:pt x="0" y="0"/>
                  </a:moveTo>
                  <a:lnTo>
                    <a:pt x="881314" y="0"/>
                  </a:lnTo>
                  <a:lnTo>
                    <a:pt x="881314" y="616920"/>
                  </a:lnTo>
                  <a:lnTo>
                    <a:pt x="0" y="6169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638514" y="0"/>
              <a:ext cx="2745486" cy="5486400"/>
            </a:xfrm>
            <a:custGeom>
              <a:avLst/>
              <a:gdLst/>
              <a:ahLst/>
              <a:cxnLst/>
              <a:rect r="r" b="b" t="t" l="l"/>
              <a:pathLst>
                <a:path h="5486400" w="2745486">
                  <a:moveTo>
                    <a:pt x="0" y="0"/>
                  </a:moveTo>
                  <a:lnTo>
                    <a:pt x="2745486" y="0"/>
                  </a:lnTo>
                  <a:lnTo>
                    <a:pt x="2745486" y="5486400"/>
                  </a:lnTo>
                  <a:lnTo>
                    <a:pt x="0" y="5486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7025234" y="1912845"/>
              <a:ext cx="9890310" cy="9890310"/>
            </a:xfrm>
            <a:custGeom>
              <a:avLst/>
              <a:gdLst/>
              <a:ahLst/>
              <a:cxnLst/>
              <a:rect r="r" b="b" t="t" l="l"/>
              <a:pathLst>
                <a:path h="9890310" w="9890310">
                  <a:moveTo>
                    <a:pt x="0" y="0"/>
                  </a:moveTo>
                  <a:lnTo>
                    <a:pt x="9890310" y="0"/>
                  </a:lnTo>
                  <a:lnTo>
                    <a:pt x="9890310" y="9890310"/>
                  </a:lnTo>
                  <a:lnTo>
                    <a:pt x="0" y="9890310"/>
                  </a:lnTo>
                  <a:lnTo>
                    <a:pt x="0" y="0"/>
                  </a:lnTo>
                  <a:close/>
                </a:path>
              </a:pathLst>
            </a:custGeom>
            <a:blipFill>
              <a:blip r:embed="rId6">
                <a:alphaModFix amt="18000"/>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2672646" y="1195959"/>
              <a:ext cx="5045256" cy="417848"/>
            </a:xfrm>
            <a:prstGeom prst="rect">
              <a:avLst/>
            </a:prstGeom>
          </p:spPr>
          <p:txBody>
            <a:bodyPr anchor="t" rtlCol="false" tIns="0" lIns="0" bIns="0" rIns="0">
              <a:spAutoFit/>
            </a:bodyPr>
            <a:lstStyle/>
            <a:p>
              <a:pPr algn="l" marL="0" indent="0" lvl="0">
                <a:lnSpc>
                  <a:spcPts val="1966"/>
                </a:lnSpc>
              </a:pPr>
              <a:r>
                <a:rPr lang="en-US" sz="2398">
                  <a:solidFill>
                    <a:srgbClr val="000000"/>
                  </a:solidFill>
                  <a:latin typeface="Poppins Light"/>
                  <a:ea typeface="Poppins Light"/>
                  <a:cs typeface="Poppins Light"/>
                  <a:sym typeface="Poppins Light"/>
                </a:rPr>
                <a:t>Data Analitik</a:t>
              </a:r>
            </a:p>
          </p:txBody>
        </p:sp>
      </p:grpSp>
      <p:grpSp>
        <p:nvGrpSpPr>
          <p:cNvPr name="Group 12" id="12"/>
          <p:cNvGrpSpPr/>
          <p:nvPr/>
        </p:nvGrpSpPr>
        <p:grpSpPr>
          <a:xfrm rot="0">
            <a:off x="10964610" y="9399997"/>
            <a:ext cx="7867824" cy="6244946"/>
            <a:chOff x="0" y="0"/>
            <a:chExt cx="2072184" cy="1644760"/>
          </a:xfrm>
        </p:grpSpPr>
        <p:sp>
          <p:nvSpPr>
            <p:cNvPr name="Freeform 13" id="13"/>
            <p:cNvSpPr/>
            <p:nvPr/>
          </p:nvSpPr>
          <p:spPr>
            <a:xfrm flipH="false" flipV="false" rot="0">
              <a:off x="0" y="0"/>
              <a:ext cx="2072184" cy="1644759"/>
            </a:xfrm>
            <a:custGeom>
              <a:avLst/>
              <a:gdLst/>
              <a:ahLst/>
              <a:cxnLst/>
              <a:rect r="r" b="b" t="t" l="l"/>
              <a:pathLst>
                <a:path h="1644759" w="2072184">
                  <a:moveTo>
                    <a:pt x="0" y="0"/>
                  </a:moveTo>
                  <a:lnTo>
                    <a:pt x="2072184" y="0"/>
                  </a:lnTo>
                  <a:lnTo>
                    <a:pt x="2072184" y="1644759"/>
                  </a:lnTo>
                  <a:lnTo>
                    <a:pt x="0" y="1644759"/>
                  </a:lnTo>
                  <a:close/>
                </a:path>
              </a:pathLst>
            </a:custGeom>
            <a:solidFill>
              <a:srgbClr val="FFFFFF"/>
            </a:solidFill>
          </p:spPr>
        </p:sp>
        <p:sp>
          <p:nvSpPr>
            <p:cNvPr name="TextBox 14" id="14"/>
            <p:cNvSpPr txBox="true"/>
            <p:nvPr/>
          </p:nvSpPr>
          <p:spPr>
            <a:xfrm>
              <a:off x="0" y="66675"/>
              <a:ext cx="2072184" cy="1578085"/>
            </a:xfrm>
            <a:prstGeom prst="rect">
              <a:avLst/>
            </a:prstGeom>
          </p:spPr>
          <p:txBody>
            <a:bodyPr anchor="ctr" rtlCol="false" tIns="50800" lIns="50800" bIns="50800" rIns="50800"/>
            <a:lstStyle/>
            <a:p>
              <a:pPr algn="ctr">
                <a:lnSpc>
                  <a:spcPts val="1966"/>
                </a:lnSpc>
              </a:pPr>
            </a:p>
          </p:txBody>
        </p:sp>
      </p:grpSp>
      <p:grpSp>
        <p:nvGrpSpPr>
          <p:cNvPr name="Group 15" id="15"/>
          <p:cNvGrpSpPr/>
          <p:nvPr/>
        </p:nvGrpSpPr>
        <p:grpSpPr>
          <a:xfrm rot="0">
            <a:off x="10420176" y="0"/>
            <a:ext cx="7867824" cy="4910935"/>
            <a:chOff x="0" y="0"/>
            <a:chExt cx="2072184" cy="1293415"/>
          </a:xfrm>
        </p:grpSpPr>
        <p:sp>
          <p:nvSpPr>
            <p:cNvPr name="Freeform 16" id="16"/>
            <p:cNvSpPr/>
            <p:nvPr/>
          </p:nvSpPr>
          <p:spPr>
            <a:xfrm flipH="false" flipV="false" rot="0">
              <a:off x="0" y="0"/>
              <a:ext cx="2072184" cy="1293415"/>
            </a:xfrm>
            <a:custGeom>
              <a:avLst/>
              <a:gdLst/>
              <a:ahLst/>
              <a:cxnLst/>
              <a:rect r="r" b="b" t="t" l="l"/>
              <a:pathLst>
                <a:path h="1293415" w="2072184">
                  <a:moveTo>
                    <a:pt x="0" y="0"/>
                  </a:moveTo>
                  <a:lnTo>
                    <a:pt x="2072184" y="0"/>
                  </a:lnTo>
                  <a:lnTo>
                    <a:pt x="2072184" y="1293415"/>
                  </a:lnTo>
                  <a:lnTo>
                    <a:pt x="0" y="1293415"/>
                  </a:lnTo>
                  <a:close/>
                </a:path>
              </a:pathLst>
            </a:custGeom>
            <a:solidFill>
              <a:srgbClr val="FFFFFF"/>
            </a:solidFill>
          </p:spPr>
        </p:sp>
        <p:sp>
          <p:nvSpPr>
            <p:cNvPr name="TextBox 17" id="17"/>
            <p:cNvSpPr txBox="true"/>
            <p:nvPr/>
          </p:nvSpPr>
          <p:spPr>
            <a:xfrm>
              <a:off x="0" y="66675"/>
              <a:ext cx="2072184" cy="1226740"/>
            </a:xfrm>
            <a:prstGeom prst="rect">
              <a:avLst/>
            </a:prstGeom>
          </p:spPr>
          <p:txBody>
            <a:bodyPr anchor="ctr" rtlCol="false" tIns="50800" lIns="50800" bIns="50800" rIns="50800"/>
            <a:lstStyle/>
            <a:p>
              <a:pPr algn="ctr">
                <a:lnSpc>
                  <a:spcPts val="1966"/>
                </a:lnSpc>
              </a:pPr>
            </a:p>
          </p:txBody>
        </p:sp>
      </p:grpSp>
      <p:grpSp>
        <p:nvGrpSpPr>
          <p:cNvPr name="Group 18" id="18"/>
          <p:cNvGrpSpPr/>
          <p:nvPr/>
        </p:nvGrpSpPr>
        <p:grpSpPr>
          <a:xfrm rot="0">
            <a:off x="9829887" y="0"/>
            <a:ext cx="2843541" cy="10287000"/>
            <a:chOff x="0" y="0"/>
            <a:chExt cx="748916" cy="2709333"/>
          </a:xfrm>
        </p:grpSpPr>
        <p:sp>
          <p:nvSpPr>
            <p:cNvPr name="Freeform 19" id="19"/>
            <p:cNvSpPr/>
            <p:nvPr/>
          </p:nvSpPr>
          <p:spPr>
            <a:xfrm flipH="false" flipV="false" rot="0">
              <a:off x="0" y="0"/>
              <a:ext cx="748916" cy="2709333"/>
            </a:xfrm>
            <a:custGeom>
              <a:avLst/>
              <a:gdLst/>
              <a:ahLst/>
              <a:cxnLst/>
              <a:rect r="r" b="b" t="t" l="l"/>
              <a:pathLst>
                <a:path h="2709333" w="748916">
                  <a:moveTo>
                    <a:pt x="0" y="0"/>
                  </a:moveTo>
                  <a:lnTo>
                    <a:pt x="748916" y="0"/>
                  </a:lnTo>
                  <a:lnTo>
                    <a:pt x="748916" y="2709333"/>
                  </a:lnTo>
                  <a:lnTo>
                    <a:pt x="0" y="2709333"/>
                  </a:lnTo>
                  <a:close/>
                </a:path>
              </a:pathLst>
            </a:custGeom>
            <a:solidFill>
              <a:srgbClr val="FFFFFF"/>
            </a:solidFill>
          </p:spPr>
        </p:sp>
        <p:sp>
          <p:nvSpPr>
            <p:cNvPr name="TextBox 20" id="20"/>
            <p:cNvSpPr txBox="true"/>
            <p:nvPr/>
          </p:nvSpPr>
          <p:spPr>
            <a:xfrm>
              <a:off x="0" y="66675"/>
              <a:ext cx="748916" cy="2642658"/>
            </a:xfrm>
            <a:prstGeom prst="rect">
              <a:avLst/>
            </a:prstGeom>
          </p:spPr>
          <p:txBody>
            <a:bodyPr anchor="ctr" rtlCol="false" tIns="50800" lIns="50800" bIns="50800" rIns="50800"/>
            <a:lstStyle/>
            <a:p>
              <a:pPr algn="ctr">
                <a:lnSpc>
                  <a:spcPts val="1966"/>
                </a:lnSpc>
              </a:pPr>
            </a:p>
          </p:txBody>
        </p:sp>
      </p:grpSp>
      <p:grpSp>
        <p:nvGrpSpPr>
          <p:cNvPr name="Group 21" id="21"/>
          <p:cNvGrpSpPr/>
          <p:nvPr/>
        </p:nvGrpSpPr>
        <p:grpSpPr>
          <a:xfrm rot="0">
            <a:off x="0" y="0"/>
            <a:ext cx="9829887" cy="10287000"/>
            <a:chOff x="0" y="0"/>
            <a:chExt cx="2588941" cy="2709333"/>
          </a:xfrm>
        </p:grpSpPr>
        <p:sp>
          <p:nvSpPr>
            <p:cNvPr name="Freeform 22" id="22"/>
            <p:cNvSpPr/>
            <p:nvPr/>
          </p:nvSpPr>
          <p:spPr>
            <a:xfrm flipH="false" flipV="false" rot="0">
              <a:off x="0" y="0"/>
              <a:ext cx="2588941" cy="2709333"/>
            </a:xfrm>
            <a:custGeom>
              <a:avLst/>
              <a:gdLst/>
              <a:ahLst/>
              <a:cxnLst/>
              <a:rect r="r" b="b" t="t" l="l"/>
              <a:pathLst>
                <a:path h="2709333" w="2588941">
                  <a:moveTo>
                    <a:pt x="0" y="0"/>
                  </a:moveTo>
                  <a:lnTo>
                    <a:pt x="2588941" y="0"/>
                  </a:lnTo>
                  <a:lnTo>
                    <a:pt x="2588941" y="2709333"/>
                  </a:lnTo>
                  <a:lnTo>
                    <a:pt x="0" y="2709333"/>
                  </a:lnTo>
                  <a:close/>
                </a:path>
              </a:pathLst>
            </a:custGeom>
            <a:solidFill>
              <a:srgbClr val="FFFFFF"/>
            </a:solidFill>
          </p:spPr>
        </p:sp>
        <p:sp>
          <p:nvSpPr>
            <p:cNvPr name="TextBox 23" id="23"/>
            <p:cNvSpPr txBox="true"/>
            <p:nvPr/>
          </p:nvSpPr>
          <p:spPr>
            <a:xfrm>
              <a:off x="0" y="66675"/>
              <a:ext cx="2588941" cy="2642658"/>
            </a:xfrm>
            <a:prstGeom prst="rect">
              <a:avLst/>
            </a:prstGeom>
          </p:spPr>
          <p:txBody>
            <a:bodyPr anchor="ctr" rtlCol="false" tIns="50800" lIns="50800" bIns="50800" rIns="50800"/>
            <a:lstStyle/>
            <a:p>
              <a:pPr algn="ctr">
                <a:lnSpc>
                  <a:spcPts val="1966"/>
                </a:lnSpc>
              </a:pPr>
            </a:p>
          </p:txBody>
        </p:sp>
      </p:grpSp>
      <p:sp>
        <p:nvSpPr>
          <p:cNvPr name="Freeform 24" id="24"/>
          <p:cNvSpPr/>
          <p:nvPr/>
        </p:nvSpPr>
        <p:spPr>
          <a:xfrm flipH="false" flipV="false" rot="0">
            <a:off x="-2105443" y="-2025655"/>
            <a:ext cx="7417732" cy="7417732"/>
          </a:xfrm>
          <a:custGeom>
            <a:avLst/>
            <a:gdLst/>
            <a:ahLst/>
            <a:cxnLst/>
            <a:rect r="r" b="b" t="t" l="l"/>
            <a:pathLst>
              <a:path h="7417732" w="7417732">
                <a:moveTo>
                  <a:pt x="0" y="0"/>
                </a:moveTo>
                <a:lnTo>
                  <a:pt x="7417732" y="0"/>
                </a:lnTo>
                <a:lnTo>
                  <a:pt x="7417732" y="7417733"/>
                </a:lnTo>
                <a:lnTo>
                  <a:pt x="0" y="7417733"/>
                </a:lnTo>
                <a:lnTo>
                  <a:pt x="0" y="0"/>
                </a:lnTo>
                <a:close/>
              </a:path>
            </a:pathLst>
          </a:custGeom>
          <a:blipFill>
            <a:blip r:embed="rId6">
              <a:alphaModFix amt="5000"/>
              <a:extLst>
                <a:ext uri="{96DAC541-7B7A-43D3-8B79-37D633B846F1}">
                  <asvg:svgBlip xmlns:asvg="http://schemas.microsoft.com/office/drawing/2016/SVG/main" r:embed="rId7"/>
                </a:ext>
              </a:extLst>
            </a:blip>
            <a:stretch>
              <a:fillRect l="0" t="0" r="0" b="0"/>
            </a:stretch>
          </a:blipFill>
        </p:spPr>
      </p:sp>
      <p:graphicFrame>
        <p:nvGraphicFramePr>
          <p:cNvPr name="Object 25" id="25"/>
          <p:cNvGraphicFramePr/>
          <p:nvPr/>
        </p:nvGraphicFramePr>
        <p:xfrm>
          <a:off x="9465299" y="883343"/>
          <a:ext cx="3898232" cy="8229600"/>
        </p:xfrm>
        <a:graphic>
          <a:graphicData uri="http://schemas.openxmlformats.org/presentationml/2006/ole">
            <p:oleObj imgW="5537200" imgH="98679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26" id="26"/>
          <p:cNvSpPr txBox="true"/>
          <p:nvPr/>
        </p:nvSpPr>
        <p:spPr>
          <a:xfrm rot="0">
            <a:off x="1025515" y="4792475"/>
            <a:ext cx="8532824" cy="1800482"/>
          </a:xfrm>
          <a:prstGeom prst="rect">
            <a:avLst/>
          </a:prstGeom>
        </p:spPr>
        <p:txBody>
          <a:bodyPr anchor="t" rtlCol="false" tIns="0" lIns="0" bIns="0" rIns="0">
            <a:spAutoFit/>
          </a:bodyPr>
          <a:lstStyle/>
          <a:p>
            <a:pPr algn="l" marL="0" indent="0" lvl="0">
              <a:lnSpc>
                <a:spcPts val="6443"/>
              </a:lnSpc>
            </a:pPr>
            <a:r>
              <a:rPr lang="en-US" sz="7858">
                <a:solidFill>
                  <a:srgbClr val="000000"/>
                </a:solidFill>
                <a:latin typeface="Poppins Light"/>
                <a:ea typeface="Poppins Light"/>
                <a:cs typeface="Poppins Light"/>
                <a:sym typeface="Poppins Light"/>
              </a:rPr>
              <a:t>Dataset 2 </a:t>
            </a:r>
          </a:p>
          <a:p>
            <a:pPr algn="l" marL="0" indent="0" lvl="0">
              <a:lnSpc>
                <a:spcPts val="6443"/>
              </a:lnSpc>
            </a:pPr>
            <a:r>
              <a:rPr lang="en-US" sz="7858">
                <a:solidFill>
                  <a:srgbClr val="000000"/>
                </a:solidFill>
                <a:latin typeface="Poppins Light"/>
                <a:ea typeface="Poppins Light"/>
                <a:cs typeface="Poppins Light"/>
                <a:sym typeface="Poppins Light"/>
              </a:rPr>
              <a:t>Online Shoppers</a:t>
            </a:r>
          </a:p>
        </p:txBody>
      </p:sp>
      <p:sp>
        <p:nvSpPr>
          <p:cNvPr name="TextBox 27" id="27"/>
          <p:cNvSpPr txBox="true"/>
          <p:nvPr/>
        </p:nvSpPr>
        <p:spPr>
          <a:xfrm rot="0">
            <a:off x="1028700" y="461176"/>
            <a:ext cx="3783942" cy="544368"/>
          </a:xfrm>
          <a:prstGeom prst="rect">
            <a:avLst/>
          </a:prstGeom>
        </p:spPr>
        <p:txBody>
          <a:bodyPr anchor="t" rtlCol="false" tIns="0" lIns="0" bIns="0" rIns="0">
            <a:spAutoFit/>
          </a:bodyPr>
          <a:lstStyle/>
          <a:p>
            <a:pPr algn="l">
              <a:lnSpc>
                <a:spcPts val="1966"/>
              </a:lnSpc>
            </a:pPr>
            <a:r>
              <a:rPr lang="en-US" sz="2398" b="true">
                <a:solidFill>
                  <a:srgbClr val="000000"/>
                </a:solidFill>
                <a:latin typeface="Poppins Bold"/>
                <a:ea typeface="Poppins Bold"/>
                <a:cs typeface="Poppins Bold"/>
                <a:sym typeface="Poppins Bold"/>
              </a:rPr>
              <a:t>Online Shoppers</a:t>
            </a:r>
          </a:p>
          <a:p>
            <a:pPr algn="l" marL="0" indent="0" lvl="0">
              <a:lnSpc>
                <a:spcPts val="1966"/>
              </a:lnSpc>
            </a:pPr>
          </a:p>
        </p:txBody>
      </p:sp>
      <p:sp>
        <p:nvSpPr>
          <p:cNvPr name="TextBox 28" id="28"/>
          <p:cNvSpPr txBox="true"/>
          <p:nvPr/>
        </p:nvSpPr>
        <p:spPr>
          <a:xfrm rot="0">
            <a:off x="1072751" y="1248975"/>
            <a:ext cx="6224472" cy="852602"/>
          </a:xfrm>
          <a:prstGeom prst="rect">
            <a:avLst/>
          </a:prstGeom>
        </p:spPr>
        <p:txBody>
          <a:bodyPr anchor="t" rtlCol="false" tIns="0" lIns="0" bIns="0" rIns="0">
            <a:spAutoFit/>
          </a:bodyPr>
          <a:lstStyle/>
          <a:p>
            <a:pPr algn="l" marL="0" indent="0" lvl="0">
              <a:lnSpc>
                <a:spcPts val="2222"/>
              </a:lnSpc>
            </a:pPr>
            <a:r>
              <a:rPr lang="en-US" b="true" sz="1696">
                <a:solidFill>
                  <a:srgbClr val="545454"/>
                </a:solidFill>
                <a:latin typeface="Poppins Bold"/>
                <a:ea typeface="Poppins Bold"/>
                <a:cs typeface="Poppins Bold"/>
                <a:sym typeface="Poppins Bold"/>
              </a:rPr>
              <a:t>Sumber resmi: UCI Machine Learning Repository</a:t>
            </a:r>
          </a:p>
          <a:p>
            <a:pPr algn="l" marL="0" indent="0" lvl="0">
              <a:lnSpc>
                <a:spcPts val="2222"/>
              </a:lnSpc>
            </a:pPr>
            <a:r>
              <a:rPr lang="en-US" sz="1696">
                <a:solidFill>
                  <a:srgbClr val="545454"/>
                </a:solidFill>
                <a:latin typeface="Poppins"/>
                <a:ea typeface="Poppins"/>
                <a:cs typeface="Poppins"/>
                <a:sym typeface="Poppins"/>
              </a:rPr>
              <a:t>Dataset multivariat yang merekam sesi kunjungan pengguna pada situs e-commerce.</a:t>
            </a:r>
          </a:p>
        </p:txBody>
      </p:sp>
      <p:sp>
        <p:nvSpPr>
          <p:cNvPr name="TextBox 29" id="29"/>
          <p:cNvSpPr txBox="true"/>
          <p:nvPr/>
        </p:nvSpPr>
        <p:spPr>
          <a:xfrm rot="0">
            <a:off x="1059643" y="810287"/>
            <a:ext cx="3581948" cy="419285"/>
          </a:xfrm>
          <a:prstGeom prst="rect">
            <a:avLst/>
          </a:prstGeom>
        </p:spPr>
        <p:txBody>
          <a:bodyPr anchor="t" rtlCol="false" tIns="0" lIns="0" bIns="0" rIns="0">
            <a:spAutoFit/>
          </a:bodyPr>
          <a:lstStyle/>
          <a:p>
            <a:pPr algn="l" marL="0" indent="0" lvl="0">
              <a:lnSpc>
                <a:spcPts val="3258"/>
              </a:lnSpc>
            </a:pPr>
            <a:r>
              <a:rPr lang="en-US" sz="2487">
                <a:solidFill>
                  <a:srgbClr val="2E2E72"/>
                </a:solidFill>
                <a:latin typeface="Poppins Light"/>
                <a:ea typeface="Poppins Light"/>
                <a:cs typeface="Poppins Light"/>
                <a:sym typeface="Poppins Light"/>
              </a:rPr>
              <a:t>Deskripsi Data</a:t>
            </a:r>
          </a:p>
        </p:txBody>
      </p:sp>
      <p:sp>
        <p:nvSpPr>
          <p:cNvPr name="TextBox 30" id="30"/>
          <p:cNvSpPr txBox="true"/>
          <p:nvPr/>
        </p:nvSpPr>
        <p:spPr>
          <a:xfrm rot="0">
            <a:off x="6029184" y="5210175"/>
            <a:ext cx="2470161" cy="296718"/>
          </a:xfrm>
          <a:prstGeom prst="rect">
            <a:avLst/>
          </a:prstGeom>
        </p:spPr>
        <p:txBody>
          <a:bodyPr anchor="t" rtlCol="false" tIns="0" lIns="0" bIns="0" rIns="0">
            <a:spAutoFit/>
          </a:bodyPr>
          <a:lstStyle/>
          <a:p>
            <a:pPr algn="l" marL="0" indent="0" lvl="0">
              <a:lnSpc>
                <a:spcPts val="1966"/>
              </a:lnSpc>
            </a:pPr>
            <a:r>
              <a:rPr lang="en-US" sz="2398">
                <a:solidFill>
                  <a:srgbClr val="000000"/>
                </a:solidFill>
                <a:latin typeface="Poppins Light"/>
                <a:ea typeface="Poppins Light"/>
                <a:cs typeface="Poppins Light"/>
                <a:sym typeface="Poppins Light"/>
              </a:rPr>
              <a:t>Description</a:t>
            </a:r>
          </a:p>
        </p:txBody>
      </p:sp>
      <p:sp>
        <p:nvSpPr>
          <p:cNvPr name="TextBox 31" id="31"/>
          <p:cNvSpPr txBox="true"/>
          <p:nvPr/>
        </p:nvSpPr>
        <p:spPr>
          <a:xfrm rot="0">
            <a:off x="1072751" y="2224931"/>
            <a:ext cx="5830266" cy="1110220"/>
          </a:xfrm>
          <a:prstGeom prst="rect">
            <a:avLst/>
          </a:prstGeom>
        </p:spPr>
        <p:txBody>
          <a:bodyPr anchor="t" rtlCol="false" tIns="0" lIns="0" bIns="0" rIns="0">
            <a:spAutoFit/>
          </a:bodyPr>
          <a:lstStyle/>
          <a:p>
            <a:pPr algn="l" marL="0" indent="0" lvl="0">
              <a:lnSpc>
                <a:spcPts val="2180"/>
              </a:lnSpc>
            </a:pPr>
            <a:r>
              <a:rPr lang="en-US" b="true" sz="1664">
                <a:solidFill>
                  <a:srgbClr val="545454"/>
                </a:solidFill>
                <a:latin typeface="Poppins Bold"/>
                <a:ea typeface="Poppins Bold"/>
                <a:cs typeface="Poppins Bold"/>
                <a:sym typeface="Poppins Bold"/>
              </a:rPr>
              <a:t>S</a:t>
            </a:r>
            <a:r>
              <a:rPr lang="en-US" b="true" sz="1664">
                <a:solidFill>
                  <a:srgbClr val="545454"/>
                </a:solidFill>
                <a:latin typeface="Poppins Bold"/>
                <a:ea typeface="Poppins Bold"/>
                <a:cs typeface="Poppins Bold"/>
                <a:sym typeface="Poppins Bold"/>
              </a:rPr>
              <a:t>esi Kunjungan Pengguna</a:t>
            </a:r>
          </a:p>
          <a:p>
            <a:pPr algn="l" marL="0" indent="0" lvl="0">
              <a:lnSpc>
                <a:spcPts val="2180"/>
              </a:lnSpc>
            </a:pPr>
            <a:r>
              <a:rPr lang="en-US" sz="1664">
                <a:solidFill>
                  <a:srgbClr val="545454"/>
                </a:solidFill>
                <a:latin typeface="Poppins Light"/>
                <a:ea typeface="Poppins Light"/>
                <a:cs typeface="Poppins Light"/>
                <a:sym typeface="Poppins Light"/>
              </a:rPr>
              <a:t>Setiap baris merepresentasikan satu sesi kunjungan pengguna, termasuk aktivitas halaman, durasi, karakteristik pengguna, dan informasi transaksi.</a:t>
            </a:r>
          </a:p>
        </p:txBody>
      </p:sp>
      <p:sp>
        <p:nvSpPr>
          <p:cNvPr name="TextBox 32" id="32"/>
          <p:cNvSpPr txBox="true"/>
          <p:nvPr/>
        </p:nvSpPr>
        <p:spPr>
          <a:xfrm rot="0">
            <a:off x="1059643" y="3458975"/>
            <a:ext cx="5830266" cy="1386445"/>
          </a:xfrm>
          <a:prstGeom prst="rect">
            <a:avLst/>
          </a:prstGeom>
        </p:spPr>
        <p:txBody>
          <a:bodyPr anchor="t" rtlCol="false" tIns="0" lIns="0" bIns="0" rIns="0">
            <a:spAutoFit/>
          </a:bodyPr>
          <a:lstStyle/>
          <a:p>
            <a:pPr algn="l">
              <a:lnSpc>
                <a:spcPts val="2180"/>
              </a:lnSpc>
            </a:pPr>
            <a:r>
              <a:rPr lang="en-US" sz="1664" b="true">
                <a:solidFill>
                  <a:srgbClr val="545454"/>
                </a:solidFill>
                <a:latin typeface="Poppins Bold"/>
                <a:ea typeface="Poppins Bold"/>
                <a:cs typeface="Poppins Bold"/>
                <a:sym typeface="Poppins Bold"/>
              </a:rPr>
              <a:t>12.330 baris, 18 kolom</a:t>
            </a:r>
          </a:p>
          <a:p>
            <a:pPr algn="l" marL="0" indent="0" lvl="0">
              <a:lnSpc>
                <a:spcPts val="2180"/>
              </a:lnSpc>
            </a:pPr>
            <a:r>
              <a:rPr lang="en-US" sz="1664">
                <a:solidFill>
                  <a:srgbClr val="545454"/>
                </a:solidFill>
                <a:latin typeface="Poppins Light"/>
                <a:ea typeface="Poppins Light"/>
                <a:cs typeface="Poppins Light"/>
                <a:sym typeface="Poppins Light"/>
              </a:rPr>
              <a:t>Dataset terdiri dari 12.330 baris dan 18 kolom dengan periode pengumpulan selama satu tahun. Variabel targetnya adalah Revenue. </a:t>
            </a:r>
          </a:p>
          <a:p>
            <a:pPr algn="l" marL="0" indent="0" lvl="0">
              <a:lnSpc>
                <a:spcPts val="2180"/>
              </a:lnSpc>
            </a:pPr>
          </a:p>
        </p:txBody>
      </p:sp>
      <p:sp>
        <p:nvSpPr>
          <p:cNvPr name="TextBox 33" id="33"/>
          <p:cNvSpPr txBox="true"/>
          <p:nvPr/>
        </p:nvSpPr>
        <p:spPr>
          <a:xfrm rot="0">
            <a:off x="1025515" y="6552318"/>
            <a:ext cx="7844343" cy="3258185"/>
          </a:xfrm>
          <a:prstGeom prst="rect">
            <a:avLst/>
          </a:prstGeom>
        </p:spPr>
        <p:txBody>
          <a:bodyPr anchor="t" rtlCol="false" tIns="0" lIns="0" bIns="0" rIns="0">
            <a:spAutoFit/>
          </a:bodyPr>
          <a:lstStyle/>
          <a:p>
            <a:pPr algn="just" marL="0" indent="0" lvl="0">
              <a:lnSpc>
                <a:spcPts val="2620"/>
              </a:lnSpc>
            </a:pPr>
            <a:r>
              <a:rPr lang="en-US" sz="2000">
                <a:solidFill>
                  <a:srgbClr val="545454"/>
                </a:solidFill>
                <a:latin typeface="Poppins Light"/>
                <a:ea typeface="Poppins Light"/>
                <a:cs typeface="Poppins Light"/>
                <a:sym typeface="Poppins Light"/>
              </a:rPr>
              <a:t>Online</a:t>
            </a:r>
            <a:r>
              <a:rPr lang="en-US" sz="2000">
                <a:solidFill>
                  <a:srgbClr val="545454"/>
                </a:solidFill>
                <a:latin typeface="Poppins Light"/>
                <a:ea typeface="Poppins Light"/>
                <a:cs typeface="Poppins Light"/>
                <a:sym typeface="Poppins Light"/>
              </a:rPr>
              <a:t> Shoppers Purchasing Intention Dataset adalah dataset non-time-series yang bersumber dari UCI Machine Learning Repository. Dataset ini berisi informasi mengenai sesi kunjungan pengguna pada situs e-commerce, seperti aktivitas halaman, durasi kunjungan, karakteristik pengguna, dan hasil transaksi. Dataset terdiri dari 12.330 sesi dan 18 atribut, dengan Revenue sebagai variabel target. Meskipun memiliki atribut Month dan Weekend, dataset ini tidak memiliki timestamp individual dan tidak merepresentasikan rangkaian observasi waktu yang kontinu. </a:t>
            </a:r>
          </a:p>
        </p:txBody>
      </p:sp>
      <p:sp>
        <p:nvSpPr>
          <p:cNvPr name="TextBox 34" id="34"/>
          <p:cNvSpPr txBox="true"/>
          <p:nvPr/>
        </p:nvSpPr>
        <p:spPr>
          <a:xfrm rot="0">
            <a:off x="12613111" y="280737"/>
            <a:ext cx="2095248" cy="419285"/>
          </a:xfrm>
          <a:prstGeom prst="rect">
            <a:avLst/>
          </a:prstGeom>
        </p:spPr>
        <p:txBody>
          <a:bodyPr anchor="t" rtlCol="false" tIns="0" lIns="0" bIns="0" rIns="0">
            <a:spAutoFit/>
          </a:bodyPr>
          <a:lstStyle/>
          <a:p>
            <a:pPr algn="l" marL="0" indent="0" lvl="0">
              <a:lnSpc>
                <a:spcPts val="3258"/>
              </a:lnSpc>
            </a:pPr>
            <a:r>
              <a:rPr lang="en-US" sz="2487">
                <a:solidFill>
                  <a:srgbClr val="2E2E72"/>
                </a:solidFill>
                <a:latin typeface="Poppins Light"/>
                <a:ea typeface="Poppins Light"/>
                <a:cs typeface="Poppins Light"/>
                <a:sym typeface="Poppins Light"/>
              </a:rPr>
              <a:t>Struktur Data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837575"/>
            <a:ext cx="1282573" cy="864134"/>
          </a:xfrm>
          <a:custGeom>
            <a:avLst/>
            <a:gdLst/>
            <a:ahLst/>
            <a:cxnLst/>
            <a:rect r="r" b="b" t="t" l="l"/>
            <a:pathLst>
              <a:path h="864134" w="1282573">
                <a:moveTo>
                  <a:pt x="0" y="0"/>
                </a:moveTo>
                <a:lnTo>
                  <a:pt x="1282573" y="0"/>
                </a:lnTo>
                <a:lnTo>
                  <a:pt x="1282573" y="864133"/>
                </a:lnTo>
                <a:lnTo>
                  <a:pt x="0" y="8641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4575862"/>
            <a:ext cx="1282573" cy="864134"/>
          </a:xfrm>
          <a:custGeom>
            <a:avLst/>
            <a:gdLst/>
            <a:ahLst/>
            <a:cxnLst/>
            <a:rect r="r" b="b" t="t" l="l"/>
            <a:pathLst>
              <a:path h="864134" w="1282573">
                <a:moveTo>
                  <a:pt x="0" y="0"/>
                </a:moveTo>
                <a:lnTo>
                  <a:pt x="1282573" y="0"/>
                </a:lnTo>
                <a:lnTo>
                  <a:pt x="1282573" y="864134"/>
                </a:lnTo>
                <a:lnTo>
                  <a:pt x="0" y="864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6870075"/>
            <a:ext cx="1282573" cy="864134"/>
          </a:xfrm>
          <a:custGeom>
            <a:avLst/>
            <a:gdLst/>
            <a:ahLst/>
            <a:cxnLst/>
            <a:rect r="r" b="b" t="t" l="l"/>
            <a:pathLst>
              <a:path h="864134" w="1282573">
                <a:moveTo>
                  <a:pt x="0" y="0"/>
                </a:moveTo>
                <a:lnTo>
                  <a:pt x="1282573" y="0"/>
                </a:lnTo>
                <a:lnTo>
                  <a:pt x="1282573" y="864134"/>
                </a:lnTo>
                <a:lnTo>
                  <a:pt x="0" y="8641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186665" y="-173403"/>
            <a:ext cx="7417732" cy="7417732"/>
          </a:xfrm>
          <a:custGeom>
            <a:avLst/>
            <a:gdLst/>
            <a:ahLst/>
            <a:cxnLst/>
            <a:rect r="r" b="b" t="t" l="l"/>
            <a:pathLst>
              <a:path h="7417732" w="7417732">
                <a:moveTo>
                  <a:pt x="0" y="0"/>
                </a:moveTo>
                <a:lnTo>
                  <a:pt x="7417732" y="0"/>
                </a:lnTo>
                <a:lnTo>
                  <a:pt x="7417732" y="7417732"/>
                </a:lnTo>
                <a:lnTo>
                  <a:pt x="0" y="7417732"/>
                </a:lnTo>
                <a:lnTo>
                  <a:pt x="0" y="0"/>
                </a:lnTo>
                <a:close/>
              </a:path>
            </a:pathLst>
          </a:custGeom>
          <a:blipFill>
            <a:blip r:embed="rId6">
              <a:alphaModFix amt="5000"/>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2085218" y="231723"/>
            <a:ext cx="2838959" cy="5267466"/>
          </a:xfrm>
          <a:custGeom>
            <a:avLst/>
            <a:gdLst/>
            <a:ahLst/>
            <a:cxnLst/>
            <a:rect r="r" b="b" t="t" l="l"/>
            <a:pathLst>
              <a:path h="5267466" w="2838959">
                <a:moveTo>
                  <a:pt x="0" y="0"/>
                </a:moveTo>
                <a:lnTo>
                  <a:pt x="2838959" y="0"/>
                </a:lnTo>
                <a:lnTo>
                  <a:pt x="2838959" y="5267467"/>
                </a:lnTo>
                <a:lnTo>
                  <a:pt x="0" y="5267467"/>
                </a:lnTo>
                <a:lnTo>
                  <a:pt x="0" y="0"/>
                </a:lnTo>
                <a:close/>
              </a:path>
            </a:pathLst>
          </a:custGeom>
          <a:blipFill>
            <a:blip r:embed="rId8"/>
            <a:stretch>
              <a:fillRect l="0" t="0" r="0" b="0"/>
            </a:stretch>
          </a:blipFill>
        </p:spPr>
      </p:sp>
      <p:sp>
        <p:nvSpPr>
          <p:cNvPr name="Freeform 7" id="7"/>
          <p:cNvSpPr/>
          <p:nvPr/>
        </p:nvSpPr>
        <p:spPr>
          <a:xfrm flipH="false" flipV="false" rot="0">
            <a:off x="15080250" y="203479"/>
            <a:ext cx="2835733" cy="8488543"/>
          </a:xfrm>
          <a:custGeom>
            <a:avLst/>
            <a:gdLst/>
            <a:ahLst/>
            <a:cxnLst/>
            <a:rect r="r" b="b" t="t" l="l"/>
            <a:pathLst>
              <a:path h="8488543" w="2835733">
                <a:moveTo>
                  <a:pt x="0" y="0"/>
                </a:moveTo>
                <a:lnTo>
                  <a:pt x="2835733" y="0"/>
                </a:lnTo>
                <a:lnTo>
                  <a:pt x="2835733" y="8488543"/>
                </a:lnTo>
                <a:lnTo>
                  <a:pt x="0" y="8488543"/>
                </a:lnTo>
                <a:lnTo>
                  <a:pt x="0" y="0"/>
                </a:lnTo>
                <a:close/>
              </a:path>
            </a:pathLst>
          </a:custGeom>
          <a:blipFill>
            <a:blip r:embed="rId9"/>
            <a:stretch>
              <a:fillRect l="0" t="0" r="0" b="0"/>
            </a:stretch>
          </a:blipFill>
        </p:spPr>
      </p:sp>
      <p:sp>
        <p:nvSpPr>
          <p:cNvPr name="TextBox 8" id="8"/>
          <p:cNvSpPr txBox="true"/>
          <p:nvPr/>
        </p:nvSpPr>
        <p:spPr>
          <a:xfrm rot="0">
            <a:off x="1028700" y="413029"/>
            <a:ext cx="7555850" cy="985083"/>
          </a:xfrm>
          <a:prstGeom prst="rect">
            <a:avLst/>
          </a:prstGeom>
        </p:spPr>
        <p:txBody>
          <a:bodyPr anchor="t" rtlCol="false" tIns="0" lIns="0" bIns="0" rIns="0">
            <a:spAutoFit/>
          </a:bodyPr>
          <a:lstStyle/>
          <a:p>
            <a:pPr algn="l" marL="0" indent="0" lvl="0">
              <a:lnSpc>
                <a:spcPts val="6443"/>
              </a:lnSpc>
            </a:pPr>
            <a:r>
              <a:rPr lang="en-US" sz="7858">
                <a:solidFill>
                  <a:srgbClr val="000000"/>
                </a:solidFill>
                <a:latin typeface="Poppins Light"/>
                <a:ea typeface="Poppins Light"/>
                <a:cs typeface="Poppins Light"/>
                <a:sym typeface="Poppins Light"/>
              </a:rPr>
              <a:t>Hasil Profiling I</a:t>
            </a:r>
          </a:p>
        </p:txBody>
      </p:sp>
      <p:sp>
        <p:nvSpPr>
          <p:cNvPr name="TextBox 9" id="9"/>
          <p:cNvSpPr txBox="true"/>
          <p:nvPr/>
        </p:nvSpPr>
        <p:spPr>
          <a:xfrm rot="0">
            <a:off x="2980087" y="2445524"/>
            <a:ext cx="4556380" cy="1477317"/>
          </a:xfrm>
          <a:prstGeom prst="rect">
            <a:avLst/>
          </a:prstGeom>
        </p:spPr>
        <p:txBody>
          <a:bodyPr anchor="t" rtlCol="false" tIns="0" lIns="0" bIns="0" rIns="0">
            <a:spAutoFit/>
          </a:bodyPr>
          <a:lstStyle/>
          <a:p>
            <a:pPr algn="l" marL="0" indent="0" lvl="0">
              <a:lnSpc>
                <a:spcPts val="3035"/>
              </a:lnSpc>
            </a:pPr>
            <a:r>
              <a:rPr lang="en-US" sz="2317">
                <a:solidFill>
                  <a:srgbClr val="545454"/>
                </a:solidFill>
                <a:latin typeface="Poppins Light"/>
                <a:ea typeface="Poppins Light"/>
                <a:cs typeface="Poppins Light"/>
                <a:sym typeface="Poppins Light"/>
              </a:rPr>
              <a:t>0 missing value pada seluruh 12.330 baris, sehingga data 100% lengkap.</a:t>
            </a:r>
          </a:p>
          <a:p>
            <a:pPr algn="l" marL="0" indent="0" lvl="0">
              <a:lnSpc>
                <a:spcPts val="3035"/>
              </a:lnSpc>
            </a:pPr>
          </a:p>
        </p:txBody>
      </p:sp>
      <p:sp>
        <p:nvSpPr>
          <p:cNvPr name="TextBox 10" id="10"/>
          <p:cNvSpPr txBox="true"/>
          <p:nvPr/>
        </p:nvSpPr>
        <p:spPr>
          <a:xfrm rot="0">
            <a:off x="2980087" y="5109379"/>
            <a:ext cx="10389906" cy="741521"/>
          </a:xfrm>
          <a:prstGeom prst="rect">
            <a:avLst/>
          </a:prstGeom>
        </p:spPr>
        <p:txBody>
          <a:bodyPr anchor="t" rtlCol="false" tIns="0" lIns="0" bIns="0" rIns="0">
            <a:spAutoFit/>
          </a:bodyPr>
          <a:lstStyle/>
          <a:p>
            <a:pPr algn="l" marL="0" indent="0" lvl="0">
              <a:lnSpc>
                <a:spcPts val="3035"/>
              </a:lnSpc>
            </a:pPr>
            <a:r>
              <a:rPr lang="en-US" sz="2317">
                <a:solidFill>
                  <a:srgbClr val="545454"/>
                </a:solidFill>
                <a:latin typeface="Poppins Light"/>
                <a:ea typeface="Poppins Light"/>
                <a:cs typeface="Poppins Light"/>
                <a:sym typeface="Poppins Light"/>
              </a:rPr>
              <a:t>Tidak ditemukan indikasi kesalahan internal. Validasi penuh memerlukan ground truth eksternal.</a:t>
            </a:r>
          </a:p>
        </p:txBody>
      </p:sp>
      <p:sp>
        <p:nvSpPr>
          <p:cNvPr name="TextBox 11" id="11"/>
          <p:cNvSpPr txBox="true"/>
          <p:nvPr/>
        </p:nvSpPr>
        <p:spPr>
          <a:xfrm rot="0">
            <a:off x="2980087" y="1909712"/>
            <a:ext cx="9483486" cy="460857"/>
          </a:xfrm>
          <a:prstGeom prst="rect">
            <a:avLst/>
          </a:prstGeom>
        </p:spPr>
        <p:txBody>
          <a:bodyPr anchor="t" rtlCol="false" tIns="0" lIns="0" bIns="0" rIns="0">
            <a:spAutoFit/>
          </a:bodyPr>
          <a:lstStyle/>
          <a:p>
            <a:pPr algn="l" marL="0" indent="0" lvl="0">
              <a:lnSpc>
                <a:spcPts val="3541"/>
              </a:lnSpc>
              <a:spcBef>
                <a:spcPct val="0"/>
              </a:spcBef>
            </a:pPr>
            <a:r>
              <a:rPr lang="en-US" sz="2703" strike="noStrike" u="none">
                <a:solidFill>
                  <a:srgbClr val="2E2E72"/>
                </a:solidFill>
                <a:latin typeface="Poppins Light"/>
                <a:ea typeface="Poppins Light"/>
                <a:cs typeface="Poppins Light"/>
                <a:sym typeface="Poppins Light"/>
              </a:rPr>
              <a:t>Completeness</a:t>
            </a:r>
          </a:p>
        </p:txBody>
      </p:sp>
      <p:sp>
        <p:nvSpPr>
          <p:cNvPr name="TextBox 12" id="12"/>
          <p:cNvSpPr txBox="true"/>
          <p:nvPr/>
        </p:nvSpPr>
        <p:spPr>
          <a:xfrm rot="0">
            <a:off x="2980087" y="4647999"/>
            <a:ext cx="9483486" cy="460857"/>
          </a:xfrm>
          <a:prstGeom prst="rect">
            <a:avLst/>
          </a:prstGeom>
        </p:spPr>
        <p:txBody>
          <a:bodyPr anchor="t" rtlCol="false" tIns="0" lIns="0" bIns="0" rIns="0">
            <a:spAutoFit/>
          </a:bodyPr>
          <a:lstStyle/>
          <a:p>
            <a:pPr algn="l" marL="0" indent="0" lvl="0">
              <a:lnSpc>
                <a:spcPts val="3541"/>
              </a:lnSpc>
              <a:spcBef>
                <a:spcPct val="0"/>
              </a:spcBef>
            </a:pPr>
            <a:r>
              <a:rPr lang="en-US" sz="2703">
                <a:solidFill>
                  <a:srgbClr val="FFB547"/>
                </a:solidFill>
                <a:latin typeface="Poppins Light"/>
                <a:ea typeface="Poppins Light"/>
                <a:cs typeface="Poppins Light"/>
                <a:sym typeface="Poppins Light"/>
              </a:rPr>
              <a:t>Accuracy</a:t>
            </a:r>
          </a:p>
        </p:txBody>
      </p:sp>
      <p:sp>
        <p:nvSpPr>
          <p:cNvPr name="TextBox 13" id="13"/>
          <p:cNvSpPr txBox="true"/>
          <p:nvPr/>
        </p:nvSpPr>
        <p:spPr>
          <a:xfrm rot="0">
            <a:off x="2980087" y="7364969"/>
            <a:ext cx="10389906" cy="741521"/>
          </a:xfrm>
          <a:prstGeom prst="rect">
            <a:avLst/>
          </a:prstGeom>
        </p:spPr>
        <p:txBody>
          <a:bodyPr anchor="t" rtlCol="false" tIns="0" lIns="0" bIns="0" rIns="0">
            <a:spAutoFit/>
          </a:bodyPr>
          <a:lstStyle/>
          <a:p>
            <a:pPr algn="l" marL="0" indent="0" lvl="0">
              <a:lnSpc>
                <a:spcPts val="3035"/>
              </a:lnSpc>
            </a:pPr>
            <a:r>
              <a:rPr lang="en-US" sz="2317">
                <a:solidFill>
                  <a:srgbClr val="545454"/>
                </a:solidFill>
                <a:latin typeface="Poppins Light"/>
                <a:ea typeface="Poppins Light"/>
                <a:cs typeface="Poppins Light"/>
                <a:sym typeface="Poppins Light"/>
              </a:rPr>
              <a:t>Format kategori dan Boolean konsisten. Month, VisitorType, Weekend, dan Revenue tidak menunjukkan ketidakkonsistenan.</a:t>
            </a:r>
          </a:p>
        </p:txBody>
      </p:sp>
      <p:sp>
        <p:nvSpPr>
          <p:cNvPr name="TextBox 14" id="14"/>
          <p:cNvSpPr txBox="true"/>
          <p:nvPr/>
        </p:nvSpPr>
        <p:spPr>
          <a:xfrm rot="0">
            <a:off x="2980087" y="6942212"/>
            <a:ext cx="9483486" cy="460857"/>
          </a:xfrm>
          <a:prstGeom prst="rect">
            <a:avLst/>
          </a:prstGeom>
        </p:spPr>
        <p:txBody>
          <a:bodyPr anchor="t" rtlCol="false" tIns="0" lIns="0" bIns="0" rIns="0">
            <a:spAutoFit/>
          </a:bodyPr>
          <a:lstStyle/>
          <a:p>
            <a:pPr algn="l" marL="0" indent="0" lvl="0">
              <a:lnSpc>
                <a:spcPts val="3541"/>
              </a:lnSpc>
              <a:spcBef>
                <a:spcPct val="0"/>
              </a:spcBef>
            </a:pPr>
            <a:r>
              <a:rPr lang="en-US" sz="2703">
                <a:solidFill>
                  <a:srgbClr val="2E2E72"/>
                </a:solidFill>
                <a:latin typeface="Poppins Light"/>
                <a:ea typeface="Poppins Light"/>
                <a:cs typeface="Poppins Light"/>
                <a:sym typeface="Poppins Light"/>
              </a:rPr>
              <a:t>Consistency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80166" y="-2326049"/>
            <a:ext cx="7417732" cy="7417732"/>
          </a:xfrm>
          <a:custGeom>
            <a:avLst/>
            <a:gdLst/>
            <a:ahLst/>
            <a:cxnLst/>
            <a:rect r="r" b="b" t="t" l="l"/>
            <a:pathLst>
              <a:path h="7417732" w="7417732">
                <a:moveTo>
                  <a:pt x="0" y="0"/>
                </a:moveTo>
                <a:lnTo>
                  <a:pt x="7417732" y="0"/>
                </a:lnTo>
                <a:lnTo>
                  <a:pt x="7417732" y="7417732"/>
                </a:lnTo>
                <a:lnTo>
                  <a:pt x="0" y="7417732"/>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823847"/>
            <a:ext cx="660985" cy="462690"/>
          </a:xfrm>
          <a:custGeom>
            <a:avLst/>
            <a:gdLst/>
            <a:ahLst/>
            <a:cxnLst/>
            <a:rect r="r" b="b" t="t" l="l"/>
            <a:pathLst>
              <a:path h="462690" w="660985">
                <a:moveTo>
                  <a:pt x="0" y="0"/>
                </a:moveTo>
                <a:lnTo>
                  <a:pt x="660985" y="0"/>
                </a:lnTo>
                <a:lnTo>
                  <a:pt x="660985" y="462690"/>
                </a:lnTo>
                <a:lnTo>
                  <a:pt x="0" y="462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8229600"/>
            <a:ext cx="2057400" cy="2057400"/>
          </a:xfrm>
          <a:custGeom>
            <a:avLst/>
            <a:gdLst/>
            <a:ahLst/>
            <a:cxnLst/>
            <a:rect r="r" b="b" t="t" l="l"/>
            <a:pathLst>
              <a:path h="2057400" w="2057400">
                <a:moveTo>
                  <a:pt x="0" y="0"/>
                </a:moveTo>
                <a:lnTo>
                  <a:pt x="2057400" y="0"/>
                </a:lnTo>
                <a:lnTo>
                  <a:pt x="2057400"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5" id="5"/>
          <p:cNvSpPr/>
          <p:nvPr/>
        </p:nvSpPr>
        <p:spPr>
          <a:xfrm>
            <a:off x="12882773" y="1305587"/>
            <a:ext cx="949220" cy="0"/>
          </a:xfrm>
          <a:prstGeom prst="line">
            <a:avLst/>
          </a:prstGeom>
          <a:ln cap="flat" w="38100">
            <a:solidFill>
              <a:srgbClr val="FFB547"/>
            </a:solidFill>
            <a:prstDash val="solid"/>
            <a:headEnd type="none" len="sm" w="sm"/>
            <a:tailEnd type="none" len="sm" w="sm"/>
          </a:ln>
        </p:spPr>
      </p:sp>
      <p:sp>
        <p:nvSpPr>
          <p:cNvPr name="Freeform 6" id="6"/>
          <p:cNvSpPr/>
          <p:nvPr/>
        </p:nvSpPr>
        <p:spPr>
          <a:xfrm flipH="false" flipV="false" rot="0">
            <a:off x="8756755" y="6100426"/>
            <a:ext cx="9301057" cy="3014748"/>
          </a:xfrm>
          <a:custGeom>
            <a:avLst/>
            <a:gdLst/>
            <a:ahLst/>
            <a:cxnLst/>
            <a:rect r="r" b="b" t="t" l="l"/>
            <a:pathLst>
              <a:path h="3014748" w="9301057">
                <a:moveTo>
                  <a:pt x="0" y="0"/>
                </a:moveTo>
                <a:lnTo>
                  <a:pt x="9301057" y="0"/>
                </a:lnTo>
                <a:lnTo>
                  <a:pt x="9301057" y="3014748"/>
                </a:lnTo>
                <a:lnTo>
                  <a:pt x="0" y="3014748"/>
                </a:lnTo>
                <a:lnTo>
                  <a:pt x="0" y="0"/>
                </a:lnTo>
                <a:close/>
              </a:path>
            </a:pathLst>
          </a:custGeom>
          <a:blipFill>
            <a:blip r:embed="rId8"/>
            <a:stretch>
              <a:fillRect l="0" t="0" r="0" b="0"/>
            </a:stretch>
          </a:blipFill>
        </p:spPr>
      </p:sp>
      <p:sp>
        <p:nvSpPr>
          <p:cNvPr name="Freeform 7" id="7"/>
          <p:cNvSpPr/>
          <p:nvPr/>
        </p:nvSpPr>
        <p:spPr>
          <a:xfrm flipH="false" flipV="false" rot="0">
            <a:off x="13546677" y="2720325"/>
            <a:ext cx="4511135" cy="3237226"/>
          </a:xfrm>
          <a:custGeom>
            <a:avLst/>
            <a:gdLst/>
            <a:ahLst/>
            <a:cxnLst/>
            <a:rect r="r" b="b" t="t" l="l"/>
            <a:pathLst>
              <a:path h="3237226" w="4511135">
                <a:moveTo>
                  <a:pt x="0" y="0"/>
                </a:moveTo>
                <a:lnTo>
                  <a:pt x="4511135" y="0"/>
                </a:lnTo>
                <a:lnTo>
                  <a:pt x="4511135" y="3237226"/>
                </a:lnTo>
                <a:lnTo>
                  <a:pt x="0" y="3237226"/>
                </a:lnTo>
                <a:lnTo>
                  <a:pt x="0" y="0"/>
                </a:lnTo>
                <a:close/>
              </a:path>
            </a:pathLst>
          </a:custGeom>
          <a:blipFill>
            <a:blip r:embed="rId9"/>
            <a:stretch>
              <a:fillRect l="0" t="0" r="0" b="0"/>
            </a:stretch>
          </a:blipFill>
        </p:spPr>
      </p:sp>
      <p:sp>
        <p:nvSpPr>
          <p:cNvPr name="Freeform 8" id="8"/>
          <p:cNvSpPr/>
          <p:nvPr/>
        </p:nvSpPr>
        <p:spPr>
          <a:xfrm flipH="false" flipV="false" rot="0">
            <a:off x="8756755" y="3374602"/>
            <a:ext cx="4695275" cy="2582949"/>
          </a:xfrm>
          <a:custGeom>
            <a:avLst/>
            <a:gdLst/>
            <a:ahLst/>
            <a:cxnLst/>
            <a:rect r="r" b="b" t="t" l="l"/>
            <a:pathLst>
              <a:path h="2582949" w="4695275">
                <a:moveTo>
                  <a:pt x="0" y="0"/>
                </a:moveTo>
                <a:lnTo>
                  <a:pt x="4695275" y="0"/>
                </a:lnTo>
                <a:lnTo>
                  <a:pt x="4695275" y="2582949"/>
                </a:lnTo>
                <a:lnTo>
                  <a:pt x="0" y="2582949"/>
                </a:lnTo>
                <a:lnTo>
                  <a:pt x="0" y="0"/>
                </a:lnTo>
                <a:close/>
              </a:path>
            </a:pathLst>
          </a:custGeom>
          <a:blipFill>
            <a:blip r:embed="rId10"/>
            <a:stretch>
              <a:fillRect l="0" t="0" r="0" b="0"/>
            </a:stretch>
          </a:blipFill>
        </p:spPr>
      </p:sp>
      <p:sp>
        <p:nvSpPr>
          <p:cNvPr name="TextBox 9" id="9"/>
          <p:cNvSpPr txBox="true"/>
          <p:nvPr/>
        </p:nvSpPr>
        <p:spPr>
          <a:xfrm rot="0">
            <a:off x="2268595" y="2548875"/>
            <a:ext cx="6393513" cy="1024082"/>
          </a:xfrm>
          <a:prstGeom prst="rect">
            <a:avLst/>
          </a:prstGeom>
        </p:spPr>
        <p:txBody>
          <a:bodyPr anchor="t" rtlCol="false" tIns="0" lIns="0" bIns="0" rIns="0">
            <a:spAutoFit/>
          </a:bodyPr>
          <a:lstStyle/>
          <a:p>
            <a:pPr algn="l" marL="0" indent="0" lvl="0">
              <a:lnSpc>
                <a:spcPts val="2099"/>
              </a:lnSpc>
            </a:pPr>
            <a:r>
              <a:rPr lang="en-US" sz="1602">
                <a:solidFill>
                  <a:srgbClr val="545454"/>
                </a:solidFill>
                <a:latin typeface="Poppins Light"/>
                <a:ea typeface="Poppins Light"/>
                <a:cs typeface="Poppins Light"/>
                <a:sym typeface="Poppins Light"/>
              </a:rPr>
              <a:t>N</a:t>
            </a:r>
            <a:r>
              <a:rPr lang="en-US" sz="1602">
                <a:solidFill>
                  <a:srgbClr val="545454"/>
                </a:solidFill>
                <a:latin typeface="Poppins Light"/>
                <a:ea typeface="Poppins Light"/>
                <a:cs typeface="Poppins Light"/>
                <a:sym typeface="Poppins Light"/>
              </a:rPr>
              <a:t>ilai numerik dan kategori berada dalam rentang yang diperiksa. Tidak ditemukan nilai yang melanggar aturan atau format.</a:t>
            </a:r>
          </a:p>
          <a:p>
            <a:pPr algn="l" marL="0" indent="0" lvl="0">
              <a:lnSpc>
                <a:spcPts val="2099"/>
              </a:lnSpc>
            </a:pPr>
          </a:p>
        </p:txBody>
      </p:sp>
      <p:sp>
        <p:nvSpPr>
          <p:cNvPr name="TextBox 10" id="10"/>
          <p:cNvSpPr txBox="true"/>
          <p:nvPr/>
        </p:nvSpPr>
        <p:spPr>
          <a:xfrm rot="0">
            <a:off x="2268595" y="4249354"/>
            <a:ext cx="6393513" cy="515132"/>
          </a:xfrm>
          <a:prstGeom prst="rect">
            <a:avLst/>
          </a:prstGeom>
        </p:spPr>
        <p:txBody>
          <a:bodyPr anchor="t" rtlCol="false" tIns="0" lIns="0" bIns="0" rIns="0">
            <a:spAutoFit/>
          </a:bodyPr>
          <a:lstStyle/>
          <a:p>
            <a:pPr algn="l" marL="0" indent="0" lvl="0">
              <a:lnSpc>
                <a:spcPts val="2099"/>
              </a:lnSpc>
            </a:pPr>
            <a:r>
              <a:rPr lang="en-US" sz="1602">
                <a:solidFill>
                  <a:srgbClr val="545454"/>
                </a:solidFill>
                <a:latin typeface="Poppins Light"/>
                <a:ea typeface="Poppins Light"/>
                <a:cs typeface="Poppins Light"/>
                <a:sym typeface="Poppins Light"/>
              </a:rPr>
              <a:t>Ditemukan</a:t>
            </a:r>
            <a:r>
              <a:rPr lang="en-US" sz="1602">
                <a:solidFill>
                  <a:srgbClr val="545454"/>
                </a:solidFill>
                <a:latin typeface="Poppins Light"/>
                <a:ea typeface="Poppins Light"/>
                <a:cs typeface="Poppins Light"/>
                <a:sym typeface="Poppins Light"/>
              </a:rPr>
              <a:t> 125 exact duplicate dari 12.330 baris, atau sekitar 1,01% dari total data.</a:t>
            </a:r>
          </a:p>
        </p:txBody>
      </p:sp>
      <p:sp>
        <p:nvSpPr>
          <p:cNvPr name="TextBox 11" id="11"/>
          <p:cNvSpPr txBox="true"/>
          <p:nvPr/>
        </p:nvSpPr>
        <p:spPr>
          <a:xfrm rot="0">
            <a:off x="2268595" y="2094224"/>
            <a:ext cx="3022225" cy="351684"/>
          </a:xfrm>
          <a:prstGeom prst="rect">
            <a:avLst/>
          </a:prstGeom>
        </p:spPr>
        <p:txBody>
          <a:bodyPr anchor="t" rtlCol="false" tIns="0" lIns="0" bIns="0" rIns="0">
            <a:spAutoFit/>
          </a:bodyPr>
          <a:lstStyle/>
          <a:p>
            <a:pPr algn="l" marL="0" indent="0" lvl="0">
              <a:lnSpc>
                <a:spcPts val="2749"/>
              </a:lnSpc>
            </a:pPr>
            <a:r>
              <a:rPr lang="en-US" sz="2098">
                <a:solidFill>
                  <a:srgbClr val="2E2E72"/>
                </a:solidFill>
                <a:latin typeface="Poppins Light"/>
                <a:ea typeface="Poppins Light"/>
                <a:cs typeface="Poppins Light"/>
                <a:sym typeface="Poppins Light"/>
              </a:rPr>
              <a:t>Validity</a:t>
            </a:r>
          </a:p>
        </p:txBody>
      </p:sp>
      <p:sp>
        <p:nvSpPr>
          <p:cNvPr name="TextBox 12" id="12"/>
          <p:cNvSpPr txBox="true"/>
          <p:nvPr/>
        </p:nvSpPr>
        <p:spPr>
          <a:xfrm rot="0">
            <a:off x="1687079" y="2079299"/>
            <a:ext cx="1032381" cy="882001"/>
          </a:xfrm>
          <a:prstGeom prst="rect">
            <a:avLst/>
          </a:prstGeom>
        </p:spPr>
        <p:txBody>
          <a:bodyPr anchor="t" rtlCol="false" tIns="0" lIns="0" bIns="0" rIns="0">
            <a:spAutoFit/>
          </a:bodyPr>
          <a:lstStyle/>
          <a:p>
            <a:pPr algn="l" marL="0" indent="0" lvl="0">
              <a:lnSpc>
                <a:spcPts val="6610"/>
              </a:lnSpc>
            </a:pPr>
            <a:r>
              <a:rPr lang="en-US" sz="5046">
                <a:solidFill>
                  <a:srgbClr val="FFB547"/>
                </a:solidFill>
                <a:latin typeface="Poppins Light"/>
                <a:ea typeface="Poppins Light"/>
                <a:cs typeface="Poppins Light"/>
                <a:sym typeface="Poppins Light"/>
              </a:rPr>
              <a:t>4</a:t>
            </a:r>
          </a:p>
        </p:txBody>
      </p:sp>
      <p:sp>
        <p:nvSpPr>
          <p:cNvPr name="TextBox 13" id="13"/>
          <p:cNvSpPr txBox="true"/>
          <p:nvPr/>
        </p:nvSpPr>
        <p:spPr>
          <a:xfrm rot="0">
            <a:off x="1687079" y="3882485"/>
            <a:ext cx="1034987" cy="882001"/>
          </a:xfrm>
          <a:prstGeom prst="rect">
            <a:avLst/>
          </a:prstGeom>
        </p:spPr>
        <p:txBody>
          <a:bodyPr anchor="t" rtlCol="false" tIns="0" lIns="0" bIns="0" rIns="0">
            <a:spAutoFit/>
          </a:bodyPr>
          <a:lstStyle/>
          <a:p>
            <a:pPr algn="l" marL="0" indent="0" lvl="0">
              <a:lnSpc>
                <a:spcPts val="6610"/>
              </a:lnSpc>
            </a:pPr>
            <a:r>
              <a:rPr lang="en-US" sz="5046">
                <a:solidFill>
                  <a:srgbClr val="2E2E72"/>
                </a:solidFill>
                <a:latin typeface="Poppins Light"/>
                <a:ea typeface="Poppins Light"/>
                <a:cs typeface="Poppins Light"/>
                <a:sym typeface="Poppins Light"/>
              </a:rPr>
              <a:t>5</a:t>
            </a:r>
          </a:p>
        </p:txBody>
      </p:sp>
      <p:sp>
        <p:nvSpPr>
          <p:cNvPr name="TextBox 14" id="14"/>
          <p:cNvSpPr txBox="true"/>
          <p:nvPr/>
        </p:nvSpPr>
        <p:spPr>
          <a:xfrm rot="0">
            <a:off x="2268595" y="3783371"/>
            <a:ext cx="3022225" cy="351684"/>
          </a:xfrm>
          <a:prstGeom prst="rect">
            <a:avLst/>
          </a:prstGeom>
        </p:spPr>
        <p:txBody>
          <a:bodyPr anchor="t" rtlCol="false" tIns="0" lIns="0" bIns="0" rIns="0">
            <a:spAutoFit/>
          </a:bodyPr>
          <a:lstStyle/>
          <a:p>
            <a:pPr algn="l" marL="0" indent="0" lvl="0">
              <a:lnSpc>
                <a:spcPts val="2749"/>
              </a:lnSpc>
            </a:pPr>
            <a:r>
              <a:rPr lang="en-US" sz="2098">
                <a:solidFill>
                  <a:srgbClr val="FFB547"/>
                </a:solidFill>
                <a:latin typeface="Poppins Light"/>
                <a:ea typeface="Poppins Light"/>
                <a:cs typeface="Poppins Light"/>
                <a:sym typeface="Poppins Light"/>
              </a:rPr>
              <a:t>Uniqueness</a:t>
            </a:r>
          </a:p>
        </p:txBody>
      </p:sp>
      <p:sp>
        <p:nvSpPr>
          <p:cNvPr name="TextBox 15" id="15"/>
          <p:cNvSpPr txBox="true"/>
          <p:nvPr/>
        </p:nvSpPr>
        <p:spPr>
          <a:xfrm rot="0">
            <a:off x="2268595" y="5928976"/>
            <a:ext cx="6393513" cy="769607"/>
          </a:xfrm>
          <a:prstGeom prst="rect">
            <a:avLst/>
          </a:prstGeom>
        </p:spPr>
        <p:txBody>
          <a:bodyPr anchor="t" rtlCol="false" tIns="0" lIns="0" bIns="0" rIns="0">
            <a:spAutoFit/>
          </a:bodyPr>
          <a:lstStyle/>
          <a:p>
            <a:pPr algn="l" marL="0" indent="0" lvl="0">
              <a:lnSpc>
                <a:spcPts val="2099"/>
              </a:lnSpc>
            </a:pPr>
            <a:r>
              <a:rPr lang="en-US" sz="1602">
                <a:solidFill>
                  <a:srgbClr val="545454"/>
                </a:solidFill>
                <a:latin typeface="Poppins Light"/>
                <a:ea typeface="Poppins Light"/>
                <a:cs typeface="Poppins Light"/>
                <a:sym typeface="Poppins Light"/>
              </a:rPr>
              <a:t>Memiliki atribut</a:t>
            </a:r>
            <a:r>
              <a:rPr lang="en-US" sz="1602">
                <a:solidFill>
                  <a:srgbClr val="545454"/>
                </a:solidFill>
                <a:latin typeface="Poppins Light"/>
                <a:ea typeface="Poppins Light"/>
                <a:cs typeface="Poppins Light"/>
                <a:sym typeface="Poppins Light"/>
              </a:rPr>
              <a:t> Month dan Weekend, tetapi tidak tersedia timestamp individual. Januari dan April tidak terdapat dalam dataset.</a:t>
            </a:r>
          </a:p>
        </p:txBody>
      </p:sp>
      <p:sp>
        <p:nvSpPr>
          <p:cNvPr name="TextBox 16" id="16"/>
          <p:cNvSpPr txBox="true"/>
          <p:nvPr/>
        </p:nvSpPr>
        <p:spPr>
          <a:xfrm rot="0">
            <a:off x="2268595" y="5472517"/>
            <a:ext cx="3022225" cy="351684"/>
          </a:xfrm>
          <a:prstGeom prst="rect">
            <a:avLst/>
          </a:prstGeom>
        </p:spPr>
        <p:txBody>
          <a:bodyPr anchor="t" rtlCol="false" tIns="0" lIns="0" bIns="0" rIns="0">
            <a:spAutoFit/>
          </a:bodyPr>
          <a:lstStyle/>
          <a:p>
            <a:pPr algn="l" marL="0" indent="0" lvl="0">
              <a:lnSpc>
                <a:spcPts val="2749"/>
              </a:lnSpc>
            </a:pPr>
            <a:r>
              <a:rPr lang="en-US" sz="2098">
                <a:solidFill>
                  <a:srgbClr val="2E2E72"/>
                </a:solidFill>
                <a:latin typeface="Poppins Light"/>
                <a:ea typeface="Poppins Light"/>
                <a:cs typeface="Poppins Light"/>
                <a:sym typeface="Poppins Light"/>
              </a:rPr>
              <a:t>Timeliness</a:t>
            </a:r>
          </a:p>
        </p:txBody>
      </p:sp>
      <p:sp>
        <p:nvSpPr>
          <p:cNvPr name="TextBox 17" id="17"/>
          <p:cNvSpPr txBox="true"/>
          <p:nvPr/>
        </p:nvSpPr>
        <p:spPr>
          <a:xfrm rot="0">
            <a:off x="1689685" y="7729543"/>
            <a:ext cx="7454315" cy="1272262"/>
          </a:xfrm>
          <a:prstGeom prst="rect">
            <a:avLst/>
          </a:prstGeom>
        </p:spPr>
        <p:txBody>
          <a:bodyPr anchor="t" rtlCol="false" tIns="0" lIns="0" bIns="0" rIns="0">
            <a:spAutoFit/>
          </a:bodyPr>
          <a:lstStyle/>
          <a:p>
            <a:pPr algn="l" marL="0" indent="0" lvl="0">
              <a:lnSpc>
                <a:spcPts val="2623"/>
              </a:lnSpc>
            </a:pPr>
            <a:r>
              <a:rPr lang="en-US" sz="2002">
                <a:solidFill>
                  <a:srgbClr val="545454"/>
                </a:solidFill>
                <a:latin typeface="Poppins Light"/>
                <a:ea typeface="Poppins Light"/>
                <a:cs typeface="Poppins Light"/>
                <a:sym typeface="Poppins Light"/>
              </a:rPr>
              <a:t>Validity menunjukkan hasil yang baik. Uniqueness perlu diperhatikan karena terdapat 125 duplicate records, sedangkan Timeliness terbatas karena informasi waktu tidak lengkap.</a:t>
            </a:r>
          </a:p>
        </p:txBody>
      </p:sp>
      <p:sp>
        <p:nvSpPr>
          <p:cNvPr name="TextBox 18" id="18"/>
          <p:cNvSpPr txBox="true"/>
          <p:nvPr/>
        </p:nvSpPr>
        <p:spPr>
          <a:xfrm rot="0">
            <a:off x="1689685" y="7152139"/>
            <a:ext cx="3775666" cy="439385"/>
          </a:xfrm>
          <a:prstGeom prst="rect">
            <a:avLst/>
          </a:prstGeom>
        </p:spPr>
        <p:txBody>
          <a:bodyPr anchor="t" rtlCol="false" tIns="0" lIns="0" bIns="0" rIns="0">
            <a:spAutoFit/>
          </a:bodyPr>
          <a:lstStyle/>
          <a:p>
            <a:pPr algn="l" marL="0" indent="0" lvl="0">
              <a:lnSpc>
                <a:spcPts val="3434"/>
              </a:lnSpc>
            </a:pPr>
            <a:r>
              <a:rPr lang="en-US" sz="2621">
                <a:solidFill>
                  <a:srgbClr val="FFB547"/>
                </a:solidFill>
                <a:latin typeface="Poppins Light"/>
                <a:ea typeface="Poppins Light"/>
                <a:cs typeface="Poppins Light"/>
                <a:sym typeface="Poppins Light"/>
              </a:rPr>
              <a:t>Kesimpulan</a:t>
            </a:r>
          </a:p>
        </p:txBody>
      </p:sp>
      <p:sp>
        <p:nvSpPr>
          <p:cNvPr name="TextBox 19" id="19"/>
          <p:cNvSpPr txBox="true"/>
          <p:nvPr/>
        </p:nvSpPr>
        <p:spPr>
          <a:xfrm rot="0">
            <a:off x="2004485" y="913638"/>
            <a:ext cx="3783942" cy="296718"/>
          </a:xfrm>
          <a:prstGeom prst="rect">
            <a:avLst/>
          </a:prstGeom>
        </p:spPr>
        <p:txBody>
          <a:bodyPr anchor="t" rtlCol="false" tIns="0" lIns="0" bIns="0" rIns="0">
            <a:spAutoFit/>
          </a:bodyPr>
          <a:lstStyle/>
          <a:p>
            <a:pPr algn="l" marL="0" indent="0" lvl="0">
              <a:lnSpc>
                <a:spcPts val="1966"/>
              </a:lnSpc>
            </a:pPr>
            <a:r>
              <a:rPr lang="en-US" sz="2398">
                <a:solidFill>
                  <a:srgbClr val="000000"/>
                </a:solidFill>
                <a:latin typeface="Poppins Light"/>
                <a:ea typeface="Poppins Light"/>
                <a:cs typeface="Poppins Light"/>
                <a:sym typeface="Poppins Light"/>
              </a:rPr>
              <a:t>Sebastian Abe Santoso</a:t>
            </a:r>
          </a:p>
        </p:txBody>
      </p:sp>
      <p:sp>
        <p:nvSpPr>
          <p:cNvPr name="TextBox 20" id="20"/>
          <p:cNvSpPr txBox="true"/>
          <p:nvPr/>
        </p:nvSpPr>
        <p:spPr>
          <a:xfrm rot="0">
            <a:off x="14789139" y="940130"/>
            <a:ext cx="2470161" cy="296718"/>
          </a:xfrm>
          <a:prstGeom prst="rect">
            <a:avLst/>
          </a:prstGeom>
        </p:spPr>
        <p:txBody>
          <a:bodyPr anchor="t" rtlCol="false" tIns="0" lIns="0" bIns="0" rIns="0">
            <a:spAutoFit/>
          </a:bodyPr>
          <a:lstStyle/>
          <a:p>
            <a:pPr algn="ctr" marL="0" indent="0" lvl="0">
              <a:lnSpc>
                <a:spcPts val="1966"/>
              </a:lnSpc>
            </a:pPr>
            <a:r>
              <a:rPr lang="en-US" sz="2398">
                <a:solidFill>
                  <a:srgbClr val="000000"/>
                </a:solidFill>
                <a:latin typeface="Poppins Light"/>
                <a:ea typeface="Poppins Light"/>
                <a:cs typeface="Poppins Light"/>
                <a:sym typeface="Poppins Light"/>
              </a:rPr>
              <a:t>Kesimpulan</a:t>
            </a:r>
          </a:p>
        </p:txBody>
      </p:sp>
      <p:sp>
        <p:nvSpPr>
          <p:cNvPr name="TextBox 21" id="21"/>
          <p:cNvSpPr txBox="true"/>
          <p:nvPr/>
        </p:nvSpPr>
        <p:spPr>
          <a:xfrm rot="0">
            <a:off x="12122303" y="940130"/>
            <a:ext cx="2470161" cy="296718"/>
          </a:xfrm>
          <a:prstGeom prst="rect">
            <a:avLst/>
          </a:prstGeom>
        </p:spPr>
        <p:txBody>
          <a:bodyPr anchor="t" rtlCol="false" tIns="0" lIns="0" bIns="0" rIns="0">
            <a:spAutoFit/>
          </a:bodyPr>
          <a:lstStyle/>
          <a:p>
            <a:pPr algn="ctr" marL="0" indent="0" lvl="0">
              <a:lnSpc>
                <a:spcPts val="1966"/>
              </a:lnSpc>
            </a:pPr>
            <a:r>
              <a:rPr lang="en-US" sz="2398">
                <a:solidFill>
                  <a:srgbClr val="000000"/>
                </a:solidFill>
                <a:latin typeface="Poppins Light"/>
                <a:ea typeface="Poppins Light"/>
                <a:cs typeface="Poppins Light"/>
                <a:sym typeface="Poppins Light"/>
              </a:rPr>
              <a:t>NASA FIRMS</a:t>
            </a:r>
          </a:p>
        </p:txBody>
      </p:sp>
      <p:sp>
        <p:nvSpPr>
          <p:cNvPr name="TextBox 22" id="22"/>
          <p:cNvSpPr txBox="true"/>
          <p:nvPr/>
        </p:nvSpPr>
        <p:spPr>
          <a:xfrm rot="0">
            <a:off x="9455467" y="940130"/>
            <a:ext cx="2470161" cy="296718"/>
          </a:xfrm>
          <a:prstGeom prst="rect">
            <a:avLst/>
          </a:prstGeom>
        </p:spPr>
        <p:txBody>
          <a:bodyPr anchor="t" rtlCol="false" tIns="0" lIns="0" bIns="0" rIns="0">
            <a:spAutoFit/>
          </a:bodyPr>
          <a:lstStyle/>
          <a:p>
            <a:pPr algn="ctr" marL="0" indent="0" lvl="0">
              <a:lnSpc>
                <a:spcPts val="1966"/>
              </a:lnSpc>
            </a:pPr>
            <a:r>
              <a:rPr lang="en-US" sz="2398">
                <a:solidFill>
                  <a:srgbClr val="000000"/>
                </a:solidFill>
                <a:latin typeface="Poppins Light"/>
                <a:ea typeface="Poppins Light"/>
                <a:cs typeface="Poppins Light"/>
                <a:sym typeface="Poppins Light"/>
              </a:rPr>
              <a:t>Beranda</a:t>
            </a:r>
          </a:p>
        </p:txBody>
      </p:sp>
      <p:sp>
        <p:nvSpPr>
          <p:cNvPr name="TextBox 23" id="23"/>
          <p:cNvSpPr txBox="true"/>
          <p:nvPr/>
        </p:nvSpPr>
        <p:spPr>
          <a:xfrm rot="0">
            <a:off x="1689685" y="5485590"/>
            <a:ext cx="1032381" cy="882001"/>
          </a:xfrm>
          <a:prstGeom prst="rect">
            <a:avLst/>
          </a:prstGeom>
        </p:spPr>
        <p:txBody>
          <a:bodyPr anchor="t" rtlCol="false" tIns="0" lIns="0" bIns="0" rIns="0">
            <a:spAutoFit/>
          </a:bodyPr>
          <a:lstStyle/>
          <a:p>
            <a:pPr algn="l" marL="0" indent="0" lvl="0">
              <a:lnSpc>
                <a:spcPts val="6610"/>
              </a:lnSpc>
            </a:pPr>
            <a:r>
              <a:rPr lang="en-US" sz="5046">
                <a:solidFill>
                  <a:srgbClr val="FFB547"/>
                </a:solidFill>
                <a:latin typeface="Poppins Light"/>
                <a:ea typeface="Poppins Light"/>
                <a:cs typeface="Poppins Light"/>
                <a:sym typeface="Poppins Light"/>
              </a:rPr>
              <a:t>6</a:t>
            </a:r>
          </a:p>
        </p:txBody>
      </p:sp>
      <p:sp>
        <p:nvSpPr>
          <p:cNvPr name="TextBox 24" id="24"/>
          <p:cNvSpPr txBox="true"/>
          <p:nvPr/>
        </p:nvSpPr>
        <p:spPr>
          <a:xfrm rot="0">
            <a:off x="10054068" y="1592367"/>
            <a:ext cx="7555850" cy="985083"/>
          </a:xfrm>
          <a:prstGeom prst="rect">
            <a:avLst/>
          </a:prstGeom>
        </p:spPr>
        <p:txBody>
          <a:bodyPr anchor="t" rtlCol="false" tIns="0" lIns="0" bIns="0" rIns="0">
            <a:spAutoFit/>
          </a:bodyPr>
          <a:lstStyle/>
          <a:p>
            <a:pPr algn="l" marL="0" indent="0" lvl="0">
              <a:lnSpc>
                <a:spcPts val="6443"/>
              </a:lnSpc>
            </a:pPr>
            <a:r>
              <a:rPr lang="en-US" sz="7858">
                <a:solidFill>
                  <a:srgbClr val="000000"/>
                </a:solidFill>
                <a:latin typeface="Poppins Light"/>
                <a:ea typeface="Poppins Light"/>
                <a:cs typeface="Poppins Light"/>
                <a:sym typeface="Poppins Light"/>
              </a:rPr>
              <a:t>Hasil Profiling 2</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80166" y="5445854"/>
            <a:ext cx="7417732" cy="7417732"/>
          </a:xfrm>
          <a:custGeom>
            <a:avLst/>
            <a:gdLst/>
            <a:ahLst/>
            <a:cxnLst/>
            <a:rect r="r" b="b" t="t" l="l"/>
            <a:pathLst>
              <a:path h="7417732" w="7417732">
                <a:moveTo>
                  <a:pt x="0" y="0"/>
                </a:moveTo>
                <a:lnTo>
                  <a:pt x="7417732" y="0"/>
                </a:lnTo>
                <a:lnTo>
                  <a:pt x="7417732" y="7417733"/>
                </a:lnTo>
                <a:lnTo>
                  <a:pt x="0" y="7417733"/>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189185" y="-1189185"/>
            <a:ext cx="2378369" cy="2378369"/>
          </a:xfrm>
          <a:custGeom>
            <a:avLst/>
            <a:gdLst/>
            <a:ahLst/>
            <a:cxnLst/>
            <a:rect r="r" b="b" t="t" l="l"/>
            <a:pathLst>
              <a:path h="2378369" w="2378369">
                <a:moveTo>
                  <a:pt x="0" y="0"/>
                </a:moveTo>
                <a:lnTo>
                  <a:pt x="2378370" y="0"/>
                </a:lnTo>
                <a:lnTo>
                  <a:pt x="2378370" y="2378370"/>
                </a:lnTo>
                <a:lnTo>
                  <a:pt x="0" y="23783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Object 4" id="4"/>
          <p:cNvGraphicFramePr/>
          <p:nvPr/>
        </p:nvGraphicFramePr>
        <p:xfrm>
          <a:off x="329154" y="3158516"/>
          <a:ext cx="5657850" cy="4400550"/>
        </p:xfrm>
        <a:graphic>
          <a:graphicData uri="http://schemas.openxmlformats.org/presentationml/2006/ole">
            <p:oleObj imgW="6781800" imgH="55245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5" id="5"/>
          <p:cNvSpPr txBox="true"/>
          <p:nvPr/>
        </p:nvSpPr>
        <p:spPr>
          <a:xfrm rot="0">
            <a:off x="2921024" y="578416"/>
            <a:ext cx="13601279" cy="1788933"/>
          </a:xfrm>
          <a:prstGeom prst="rect">
            <a:avLst/>
          </a:prstGeom>
        </p:spPr>
        <p:txBody>
          <a:bodyPr anchor="t" rtlCol="false" tIns="0" lIns="0" bIns="0" rIns="0">
            <a:spAutoFit/>
          </a:bodyPr>
          <a:lstStyle/>
          <a:p>
            <a:pPr algn="ctr" marL="0" indent="0" lvl="0">
              <a:lnSpc>
                <a:spcPts val="6443"/>
              </a:lnSpc>
            </a:pPr>
            <a:r>
              <a:rPr lang="en-US" sz="7858">
                <a:solidFill>
                  <a:srgbClr val="000000"/>
                </a:solidFill>
                <a:latin typeface="Poppins Light"/>
                <a:ea typeface="Poppins Light"/>
                <a:cs typeface="Poppins Light"/>
                <a:sym typeface="Poppins Light"/>
              </a:rPr>
              <a:t>Perbandingan NASA FIRMS vs Online Shoppers</a:t>
            </a:r>
          </a:p>
        </p:txBody>
      </p:sp>
      <p:sp>
        <p:nvSpPr>
          <p:cNvPr name="TextBox 6" id="6"/>
          <p:cNvSpPr txBox="true"/>
          <p:nvPr/>
        </p:nvSpPr>
        <p:spPr>
          <a:xfrm rot="0">
            <a:off x="4654189" y="2463953"/>
            <a:ext cx="10134950" cy="351663"/>
          </a:xfrm>
          <a:prstGeom prst="rect">
            <a:avLst/>
          </a:prstGeom>
        </p:spPr>
        <p:txBody>
          <a:bodyPr anchor="t" rtlCol="false" tIns="0" lIns="0" bIns="0" rIns="0">
            <a:spAutoFit/>
          </a:bodyPr>
          <a:lstStyle/>
          <a:p>
            <a:pPr algn="ctr" marL="0" indent="0" lvl="0">
              <a:lnSpc>
                <a:spcPts val="2750"/>
              </a:lnSpc>
            </a:pPr>
            <a:r>
              <a:rPr lang="en-US" sz="2099">
                <a:solidFill>
                  <a:srgbClr val="545454"/>
                </a:solidFill>
                <a:latin typeface="Poppins Light"/>
                <a:ea typeface="Poppins Light"/>
                <a:cs typeface="Poppins Light"/>
                <a:sym typeface="Poppins Light"/>
              </a:rPr>
              <a:t>Berdasarkan </a:t>
            </a:r>
            <a:r>
              <a:rPr lang="en-US" sz="2099">
                <a:solidFill>
                  <a:srgbClr val="545454"/>
                </a:solidFill>
                <a:latin typeface="Poppins Light"/>
                <a:ea typeface="Poppins Light"/>
                <a:cs typeface="Poppins Light"/>
                <a:sym typeface="Poppins Light"/>
              </a:rPr>
              <a:t>enam dimensi kualitas data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004485" y="307816"/>
            <a:ext cx="12587979" cy="1948179"/>
          </a:xfrm>
          <a:prstGeom prst="rect">
            <a:avLst/>
          </a:prstGeom>
        </p:spPr>
        <p:txBody>
          <a:bodyPr anchor="t" rtlCol="false" tIns="0" lIns="0" bIns="0" rIns="0">
            <a:spAutoFit/>
          </a:bodyPr>
          <a:lstStyle/>
          <a:p>
            <a:pPr algn="l" marL="0" indent="0" lvl="0">
              <a:lnSpc>
                <a:spcPts val="12707"/>
              </a:lnSpc>
            </a:pPr>
            <a:r>
              <a:rPr lang="en-US" sz="15497">
                <a:solidFill>
                  <a:srgbClr val="000000"/>
                </a:solidFill>
                <a:latin typeface="Poppins Light"/>
                <a:ea typeface="Poppins Light"/>
                <a:cs typeface="Poppins Light"/>
                <a:sym typeface="Poppins Light"/>
              </a:rPr>
              <a:t>Terima Kasih</a:t>
            </a:r>
          </a:p>
        </p:txBody>
      </p:sp>
      <p:sp>
        <p:nvSpPr>
          <p:cNvPr name="TextBox 3" id="3"/>
          <p:cNvSpPr txBox="true"/>
          <p:nvPr/>
        </p:nvSpPr>
        <p:spPr>
          <a:xfrm rot="0">
            <a:off x="2004485" y="2143533"/>
            <a:ext cx="13112905" cy="1267374"/>
          </a:xfrm>
          <a:prstGeom prst="rect">
            <a:avLst/>
          </a:prstGeom>
        </p:spPr>
        <p:txBody>
          <a:bodyPr anchor="t" rtlCol="false" tIns="0" lIns="0" bIns="0" rIns="0">
            <a:spAutoFit/>
          </a:bodyPr>
          <a:lstStyle/>
          <a:p>
            <a:pPr algn="l" marL="0" indent="0" lvl="0">
              <a:lnSpc>
                <a:spcPts val="8357"/>
              </a:lnSpc>
            </a:pPr>
            <a:r>
              <a:rPr lang="en-US" sz="10191">
                <a:solidFill>
                  <a:srgbClr val="000000"/>
                </a:solidFill>
                <a:latin typeface="Poppins Light"/>
                <a:ea typeface="Poppins Light"/>
                <a:cs typeface="Poppins Light"/>
                <a:sym typeface="Poppins Light"/>
              </a:rPr>
              <a:t>Atas Perhatian Anda</a:t>
            </a:r>
          </a:p>
        </p:txBody>
      </p:sp>
      <p:sp>
        <p:nvSpPr>
          <p:cNvPr name="Freeform 4" id="4"/>
          <p:cNvSpPr/>
          <p:nvPr/>
        </p:nvSpPr>
        <p:spPr>
          <a:xfrm flipH="false" flipV="false" rot="0">
            <a:off x="-237014" y="-3452213"/>
            <a:ext cx="7417732" cy="7417732"/>
          </a:xfrm>
          <a:custGeom>
            <a:avLst/>
            <a:gdLst/>
            <a:ahLst/>
            <a:cxnLst/>
            <a:rect r="r" b="b" t="t" l="l"/>
            <a:pathLst>
              <a:path h="7417732" w="7417732">
                <a:moveTo>
                  <a:pt x="0" y="0"/>
                </a:moveTo>
                <a:lnTo>
                  <a:pt x="7417732" y="0"/>
                </a:lnTo>
                <a:lnTo>
                  <a:pt x="7417732" y="7417733"/>
                </a:lnTo>
                <a:lnTo>
                  <a:pt x="0" y="7417733"/>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9557" y="-2710923"/>
            <a:ext cx="2059114" cy="4114800"/>
          </a:xfrm>
          <a:custGeom>
            <a:avLst/>
            <a:gdLst/>
            <a:ahLst/>
            <a:cxnLst/>
            <a:rect r="r" b="b" t="t" l="l"/>
            <a:pathLst>
              <a:path h="4114800" w="2059114">
                <a:moveTo>
                  <a:pt x="0" y="0"/>
                </a:moveTo>
                <a:lnTo>
                  <a:pt x="2059114" y="0"/>
                </a:lnTo>
                <a:lnTo>
                  <a:pt x="205911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4789139" y="921080"/>
            <a:ext cx="2470161" cy="219992"/>
          </a:xfrm>
          <a:prstGeom prst="rect">
            <a:avLst/>
          </a:prstGeom>
        </p:spPr>
        <p:txBody>
          <a:bodyPr anchor="t" rtlCol="false" tIns="0" lIns="0" bIns="0" rIns="0">
            <a:spAutoFit/>
          </a:bodyPr>
          <a:lstStyle/>
          <a:p>
            <a:pPr algn="ctr" marL="0" indent="0" lvl="0">
              <a:lnSpc>
                <a:spcPts val="1472"/>
              </a:lnSpc>
            </a:pPr>
            <a:r>
              <a:rPr lang="en-US" b="true" sz="1795">
                <a:solidFill>
                  <a:srgbClr val="000000"/>
                </a:solidFill>
                <a:latin typeface="Poppins Bold"/>
                <a:ea typeface="Poppins Bold"/>
                <a:cs typeface="Poppins Bold"/>
                <a:sym typeface="Poppins Bold"/>
              </a:rPr>
              <a:t>Conclusion</a:t>
            </a:r>
          </a:p>
        </p:txBody>
      </p:sp>
      <p:sp>
        <p:nvSpPr>
          <p:cNvPr name="TextBox 7" id="7"/>
          <p:cNvSpPr txBox="true"/>
          <p:nvPr/>
        </p:nvSpPr>
        <p:spPr>
          <a:xfrm rot="0">
            <a:off x="8847184" y="5624727"/>
            <a:ext cx="7844343" cy="991235"/>
          </a:xfrm>
          <a:prstGeom prst="rect">
            <a:avLst/>
          </a:prstGeom>
        </p:spPr>
        <p:txBody>
          <a:bodyPr anchor="t" rtlCol="false" tIns="0" lIns="0" bIns="0" rIns="0">
            <a:spAutoFit/>
          </a:bodyPr>
          <a:lstStyle/>
          <a:p>
            <a:pPr algn="just" marL="0" indent="0" lvl="0">
              <a:lnSpc>
                <a:spcPts val="2620"/>
              </a:lnSpc>
            </a:pPr>
            <a:r>
              <a:rPr lang="en-US" b="true" sz="2000">
                <a:solidFill>
                  <a:srgbClr val="545454"/>
                </a:solidFill>
                <a:latin typeface="Poppins Bold"/>
                <a:ea typeface="Poppins Bold"/>
                <a:cs typeface="Poppins Bold"/>
                <a:sym typeface="Poppins Bold"/>
              </a:rPr>
              <a:t>K</a:t>
            </a:r>
            <a:r>
              <a:rPr lang="en-US" b="true" sz="2000">
                <a:solidFill>
                  <a:srgbClr val="545454"/>
                </a:solidFill>
                <a:latin typeface="Poppins Bold"/>
                <a:ea typeface="Poppins Bold"/>
                <a:cs typeface="Poppins Bold"/>
                <a:sym typeface="Poppins Bold"/>
              </a:rPr>
              <a:t>edua dataset memiliki kualitas internal yang cukup baik berdasarkan enam dimensi yang diperiksa. Perbedaan utama terlihat pada aspek Uniqueness dan Timeliness.</a:t>
            </a:r>
          </a:p>
        </p:txBody>
      </p:sp>
      <p:sp>
        <p:nvSpPr>
          <p:cNvPr name="TextBox 8" id="8"/>
          <p:cNvSpPr txBox="true"/>
          <p:nvPr/>
        </p:nvSpPr>
        <p:spPr>
          <a:xfrm rot="0">
            <a:off x="454131" y="3700042"/>
            <a:ext cx="7844343" cy="1962785"/>
          </a:xfrm>
          <a:prstGeom prst="rect">
            <a:avLst/>
          </a:prstGeom>
        </p:spPr>
        <p:txBody>
          <a:bodyPr anchor="t" rtlCol="false" tIns="0" lIns="0" bIns="0" rIns="0">
            <a:spAutoFit/>
          </a:bodyPr>
          <a:lstStyle/>
          <a:p>
            <a:pPr algn="just">
              <a:lnSpc>
                <a:spcPts val="2620"/>
              </a:lnSpc>
            </a:pPr>
            <a:r>
              <a:rPr lang="en-US" sz="2000" b="true">
                <a:solidFill>
                  <a:srgbClr val="545454"/>
                </a:solidFill>
                <a:latin typeface="Poppins Bold"/>
                <a:ea typeface="Poppins Bold"/>
                <a:cs typeface="Poppins Bold"/>
                <a:sym typeface="Poppins Bold"/>
              </a:rPr>
              <a:t>NASA FIRMS</a:t>
            </a:r>
          </a:p>
          <a:p>
            <a:pPr algn="just" marL="0" indent="0" lvl="0">
              <a:lnSpc>
                <a:spcPts val="2620"/>
              </a:lnSpc>
            </a:pPr>
            <a:r>
              <a:rPr lang="en-US" sz="2000">
                <a:solidFill>
                  <a:srgbClr val="545454"/>
                </a:solidFill>
                <a:latin typeface="Poppins"/>
                <a:ea typeface="Poppins"/>
                <a:cs typeface="Poppins"/>
                <a:sym typeface="Poppins"/>
              </a:rPr>
              <a:t>Tidak ditemukan missing value maupun exact duplicate. Dataset memiliki informasi tanggal dan waktu untuk setiap observasi sehingga dapat digunakan untuk analisis temporal, tetapi terdapat </a:t>
            </a:r>
            <a:r>
              <a:rPr lang="en-US" sz="2000">
                <a:solidFill>
                  <a:srgbClr val="545454"/>
                </a:solidFill>
                <a:latin typeface="Poppins"/>
                <a:ea typeface="Poppins"/>
                <a:cs typeface="Poppins"/>
                <a:sym typeface="Poppins"/>
              </a:rPr>
              <a:t>gap </a:t>
            </a:r>
            <a:r>
              <a:rPr lang="en-US" sz="2000">
                <a:solidFill>
                  <a:srgbClr val="545454"/>
                </a:solidFill>
                <a:latin typeface="Poppins"/>
                <a:ea typeface="Poppins"/>
                <a:cs typeface="Poppins"/>
                <a:sym typeface="Poppins"/>
              </a:rPr>
              <a:t>hingg</a:t>
            </a:r>
            <a:r>
              <a:rPr lang="en-US" sz="2000">
                <a:solidFill>
                  <a:srgbClr val="545454"/>
                </a:solidFill>
                <a:latin typeface="Poppins"/>
                <a:ea typeface="Poppins"/>
                <a:cs typeface="Poppins"/>
                <a:sym typeface="Poppins"/>
              </a:rPr>
              <a:t>a 37 hari</a:t>
            </a:r>
            <a:r>
              <a:rPr lang="en-US" sz="2000">
                <a:solidFill>
                  <a:srgbClr val="545454"/>
                </a:solidFill>
                <a:latin typeface="Poppins"/>
                <a:ea typeface="Poppins"/>
                <a:cs typeface="Poppins"/>
                <a:sym typeface="Poppins"/>
              </a:rPr>
              <a:t> dan </a:t>
            </a:r>
            <a:r>
              <a:rPr lang="en-US" sz="2000">
                <a:solidFill>
                  <a:srgbClr val="545454"/>
                </a:solidFill>
                <a:latin typeface="Poppins"/>
                <a:ea typeface="Poppins"/>
                <a:cs typeface="Poppins"/>
                <a:sym typeface="Poppins"/>
              </a:rPr>
              <a:t>ketidakmerataan observasi</a:t>
            </a:r>
            <a:r>
              <a:rPr lang="en-US" sz="2000">
                <a:solidFill>
                  <a:srgbClr val="545454"/>
                </a:solidFill>
                <a:latin typeface="Poppins"/>
                <a:ea typeface="Poppins"/>
                <a:cs typeface="Poppins"/>
                <a:sym typeface="Poppins"/>
              </a:rPr>
              <a:t>.</a:t>
            </a:r>
          </a:p>
        </p:txBody>
      </p:sp>
      <p:sp>
        <p:nvSpPr>
          <p:cNvPr name="TextBox 9" id="9"/>
          <p:cNvSpPr txBox="true"/>
          <p:nvPr/>
        </p:nvSpPr>
        <p:spPr>
          <a:xfrm rot="0">
            <a:off x="8847184" y="3860274"/>
            <a:ext cx="7844343" cy="1315085"/>
          </a:xfrm>
          <a:prstGeom prst="rect">
            <a:avLst/>
          </a:prstGeom>
        </p:spPr>
        <p:txBody>
          <a:bodyPr anchor="t" rtlCol="false" tIns="0" lIns="0" bIns="0" rIns="0">
            <a:spAutoFit/>
          </a:bodyPr>
          <a:lstStyle/>
          <a:p>
            <a:pPr algn="just">
              <a:lnSpc>
                <a:spcPts val="2620"/>
              </a:lnSpc>
            </a:pPr>
            <a:r>
              <a:rPr lang="en-US" sz="2000" b="true">
                <a:solidFill>
                  <a:srgbClr val="545454"/>
                </a:solidFill>
                <a:latin typeface="Poppins Bold"/>
                <a:ea typeface="Poppins Bold"/>
                <a:cs typeface="Poppins Bold"/>
                <a:sym typeface="Poppins Bold"/>
              </a:rPr>
              <a:t>Online Shoppers</a:t>
            </a:r>
          </a:p>
          <a:p>
            <a:pPr algn="just" marL="0" indent="0" lvl="0">
              <a:lnSpc>
                <a:spcPts val="2620"/>
              </a:lnSpc>
            </a:pPr>
            <a:r>
              <a:rPr lang="en-US" sz="2000">
                <a:solidFill>
                  <a:srgbClr val="545454"/>
                </a:solidFill>
                <a:latin typeface="Poppins"/>
                <a:ea typeface="Poppins"/>
                <a:cs typeface="Poppins"/>
                <a:sym typeface="Poppins"/>
              </a:rPr>
              <a:t>Tidak ditemukan missing value dan format data konsisten. Namun, terdapat </a:t>
            </a:r>
            <a:r>
              <a:rPr lang="en-US" b="true" sz="2000">
                <a:solidFill>
                  <a:srgbClr val="545454"/>
                </a:solidFill>
                <a:latin typeface="Poppins Bold"/>
                <a:ea typeface="Poppins Bold"/>
                <a:cs typeface="Poppins Bold"/>
                <a:sym typeface="Poppins Bold"/>
              </a:rPr>
              <a:t>125 exact duplicate records</a:t>
            </a:r>
            <a:r>
              <a:rPr lang="en-US" sz="2000">
                <a:solidFill>
                  <a:srgbClr val="545454"/>
                </a:solidFill>
                <a:latin typeface="Poppins"/>
                <a:ea typeface="Poppins"/>
                <a:cs typeface="Poppins"/>
                <a:sym typeface="Poppins"/>
              </a:rPr>
              <a:t> dan </a:t>
            </a:r>
            <a:r>
              <a:rPr lang="en-US" b="true" sz="2000">
                <a:solidFill>
                  <a:srgbClr val="545454"/>
                </a:solidFill>
                <a:latin typeface="Poppins Bold"/>
                <a:ea typeface="Poppins Bold"/>
                <a:cs typeface="Poppins Bold"/>
                <a:sym typeface="Poppins Bold"/>
              </a:rPr>
              <a:t>informasi waktu terbatas</a:t>
            </a:r>
            <a:r>
              <a:rPr lang="en-US" sz="2000">
                <a:solidFill>
                  <a:srgbClr val="545454"/>
                </a:solidFill>
                <a:latin typeface="Poppins"/>
                <a:ea typeface="Poppins"/>
                <a:cs typeface="Poppins"/>
                <a:sym typeface="Poppins"/>
              </a:rPr>
              <a:t> karena tidak tersedia timestamp individual.</a:t>
            </a:r>
          </a:p>
        </p:txBody>
      </p:sp>
      <p:sp>
        <p:nvSpPr>
          <p:cNvPr name="TextBox 10" id="10"/>
          <p:cNvSpPr txBox="true"/>
          <p:nvPr/>
        </p:nvSpPr>
        <p:spPr>
          <a:xfrm rot="0">
            <a:off x="454131" y="5948577"/>
            <a:ext cx="7844343" cy="2610485"/>
          </a:xfrm>
          <a:prstGeom prst="rect">
            <a:avLst/>
          </a:prstGeom>
        </p:spPr>
        <p:txBody>
          <a:bodyPr anchor="t" rtlCol="false" tIns="0" lIns="0" bIns="0" rIns="0">
            <a:spAutoFit/>
          </a:bodyPr>
          <a:lstStyle/>
          <a:p>
            <a:pPr algn="just" marL="0" indent="0" lvl="0">
              <a:lnSpc>
                <a:spcPts val="2620"/>
              </a:lnSpc>
            </a:pPr>
            <a:r>
              <a:rPr lang="en-US" sz="2000">
                <a:solidFill>
                  <a:srgbClr val="545454"/>
                </a:solidFill>
                <a:latin typeface="Poppins"/>
                <a:ea typeface="Poppins"/>
                <a:cs typeface="Poppins"/>
                <a:sym typeface="Poppins"/>
              </a:rPr>
              <a:t>Secara keseluruhan, kedua dataset dapat digunakan untuk analisis lebih lanjut dengan memperhatikan keterbatasan masing-masing. NASA FIRMS dapat digunakan untuk menganalisis pola dan perubahan kejadian active fire berdasarkan lokasi dan waktu, sedangkan Online Shoppers dapat digunakan untuk menganalisis karakteristik sesi pengguna dan hubungannya dengan kemungkinan terjadinya transaksi.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DAHWi333ajw</dc:identifier>
  <dcterms:modified xsi:type="dcterms:W3CDTF">2011-08-01T06:04:30Z</dcterms:modified>
  <cp:revision>1</cp:revision>
  <dc:title>Template-Based Presentation</dc:title>
</cp:coreProperties>
</file>