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x="18288000" cy="10287000"/>
  <p:notesSz cx="6858000" cy="9144000"/>
  <p:embeddedFontLst>
    <p:embeddedFont>
      <p:font typeface="Montserrat Bold" charset="1" panose="00000800000000000000"/>
      <p:regular r:id="rId20"/>
    </p:embeddedFont>
    <p:embeddedFont>
      <p:font typeface="Poppins" charset="1" panose="00000500000000000000"/>
      <p:regular r:id="rId21"/>
    </p:embeddedFont>
    <p:embeddedFont>
      <p:font typeface="Canva Sans Bold" charset="1" panose="020B0803030501040103"/>
      <p:regular r:id="rId22"/>
    </p:embeddedFont>
    <p:embeddedFont>
      <p:font typeface="Canva Sans" charset="1" panose="020B0503030501040103"/>
      <p:regular r:id="rId23"/>
    </p:embeddedFont>
    <p:embeddedFont>
      <p:font typeface="Poppins Bold" charset="1" panose="00000800000000000000"/>
      <p:regular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https://www.kaggle.com/datasets/datascikhan/e-commerce-customer-segmentation-2026" TargetMode="External" Type="http://schemas.openxmlformats.org/officeDocument/2006/relationships/hyperlink"/></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70A1BD"/>
        </a:solidFill>
      </p:bgPr>
    </p:bg>
    <p:spTree>
      <p:nvGrpSpPr>
        <p:cNvPr id="1" name=""/>
        <p:cNvGrpSpPr/>
        <p:nvPr/>
      </p:nvGrpSpPr>
      <p:grpSpPr>
        <a:xfrm>
          <a:off x="0" y="0"/>
          <a:ext cx="0" cy="0"/>
          <a:chOff x="0" y="0"/>
          <a:chExt cx="0" cy="0"/>
        </a:xfrm>
      </p:grpSpPr>
      <p:sp>
        <p:nvSpPr>
          <p:cNvPr name="Freeform 2" id="2"/>
          <p:cNvSpPr/>
          <p:nvPr/>
        </p:nvSpPr>
        <p:spPr>
          <a:xfrm flipH="false" flipV="false" rot="0">
            <a:off x="10948693" y="1654556"/>
            <a:ext cx="6310607" cy="7200900"/>
          </a:xfrm>
          <a:custGeom>
            <a:avLst/>
            <a:gdLst/>
            <a:ahLst/>
            <a:cxnLst/>
            <a:rect r="r" b="b" t="t" l="l"/>
            <a:pathLst>
              <a:path h="7200900" w="6310607">
                <a:moveTo>
                  <a:pt x="0" y="0"/>
                </a:moveTo>
                <a:lnTo>
                  <a:pt x="6310607" y="0"/>
                </a:lnTo>
                <a:lnTo>
                  <a:pt x="6310607" y="7200900"/>
                </a:lnTo>
                <a:lnTo>
                  <a:pt x="0" y="72009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028700" y="3197388"/>
            <a:ext cx="9253225" cy="4227193"/>
          </a:xfrm>
          <a:prstGeom prst="rect">
            <a:avLst/>
          </a:prstGeom>
        </p:spPr>
        <p:txBody>
          <a:bodyPr anchor="t" rtlCol="false" tIns="0" lIns="0" bIns="0" rIns="0">
            <a:spAutoFit/>
          </a:bodyPr>
          <a:lstStyle/>
          <a:p>
            <a:pPr algn="l">
              <a:lnSpc>
                <a:spcPts val="8294"/>
              </a:lnSpc>
            </a:pPr>
            <a:r>
              <a:rPr lang="en-US" sz="7899" b="true">
                <a:solidFill>
                  <a:srgbClr val="EFF1E8"/>
                </a:solidFill>
                <a:latin typeface="Montserrat Bold"/>
                <a:ea typeface="Montserrat Bold"/>
                <a:cs typeface="Montserrat Bold"/>
                <a:sym typeface="Montserrat Bold"/>
              </a:rPr>
              <a:t>Evaluasi </a:t>
            </a:r>
            <a:r>
              <a:rPr lang="en-US" b="true" sz="7899">
                <a:solidFill>
                  <a:srgbClr val="EFF1E8"/>
                </a:solidFill>
                <a:latin typeface="Montserrat Bold"/>
                <a:ea typeface="Montserrat Bold"/>
                <a:cs typeface="Montserrat Bold"/>
                <a:sym typeface="Montserrat Bold"/>
              </a:rPr>
              <a:t>Dataset E-Commerce Customer Segmentation</a:t>
            </a:r>
          </a:p>
        </p:txBody>
      </p:sp>
      <p:grpSp>
        <p:nvGrpSpPr>
          <p:cNvPr name="Group 4" id="4"/>
          <p:cNvGrpSpPr/>
          <p:nvPr/>
        </p:nvGrpSpPr>
        <p:grpSpPr>
          <a:xfrm rot="0">
            <a:off x="17519831" y="-691855"/>
            <a:ext cx="1676063" cy="11497700"/>
            <a:chOff x="0" y="0"/>
            <a:chExt cx="441432" cy="3028201"/>
          </a:xfrm>
        </p:grpSpPr>
        <p:sp>
          <p:nvSpPr>
            <p:cNvPr name="Freeform 5" id="5"/>
            <p:cNvSpPr/>
            <p:nvPr/>
          </p:nvSpPr>
          <p:spPr>
            <a:xfrm flipH="false" flipV="false" rot="0">
              <a:off x="0" y="0"/>
              <a:ext cx="441432" cy="3028201"/>
            </a:xfrm>
            <a:custGeom>
              <a:avLst/>
              <a:gdLst/>
              <a:ahLst/>
              <a:cxnLst/>
              <a:rect r="r" b="b" t="t" l="l"/>
              <a:pathLst>
                <a:path h="3028201" w="441432">
                  <a:moveTo>
                    <a:pt x="0" y="0"/>
                  </a:moveTo>
                  <a:lnTo>
                    <a:pt x="441432" y="0"/>
                  </a:lnTo>
                  <a:lnTo>
                    <a:pt x="441432" y="3028201"/>
                  </a:lnTo>
                  <a:lnTo>
                    <a:pt x="0" y="3028201"/>
                  </a:lnTo>
                  <a:close/>
                </a:path>
              </a:pathLst>
            </a:custGeom>
            <a:solidFill>
              <a:srgbClr val="EFF1E8"/>
            </a:solidFill>
          </p:spPr>
        </p:sp>
        <p:sp>
          <p:nvSpPr>
            <p:cNvPr name="TextBox 6" id="6"/>
            <p:cNvSpPr txBox="true"/>
            <p:nvPr/>
          </p:nvSpPr>
          <p:spPr>
            <a:xfrm>
              <a:off x="0" y="-38100"/>
              <a:ext cx="441432" cy="3066301"/>
            </a:xfrm>
            <a:prstGeom prst="rect">
              <a:avLst/>
            </a:prstGeom>
          </p:spPr>
          <p:txBody>
            <a:bodyPr anchor="ctr" rtlCol="false" tIns="50800" lIns="50800" bIns="50800" rIns="50800"/>
            <a:lstStyle/>
            <a:p>
              <a:pPr algn="ctr">
                <a:lnSpc>
                  <a:spcPts val="2659"/>
                </a:lnSpc>
              </a:pPr>
            </a:p>
          </p:txBody>
        </p:sp>
      </p:grpSp>
      <p:sp>
        <p:nvSpPr>
          <p:cNvPr name="TextBox 7" id="7"/>
          <p:cNvSpPr txBox="true"/>
          <p:nvPr/>
        </p:nvSpPr>
        <p:spPr>
          <a:xfrm rot="0">
            <a:off x="1047750" y="1540256"/>
            <a:ext cx="9643768" cy="717550"/>
          </a:xfrm>
          <a:prstGeom prst="rect">
            <a:avLst/>
          </a:prstGeom>
        </p:spPr>
        <p:txBody>
          <a:bodyPr anchor="t" rtlCol="false" tIns="0" lIns="0" bIns="0" rIns="0">
            <a:spAutoFit/>
          </a:bodyPr>
          <a:lstStyle/>
          <a:p>
            <a:pPr algn="l">
              <a:lnSpc>
                <a:spcPts val="5599"/>
              </a:lnSpc>
              <a:spcBef>
                <a:spcPct val="0"/>
              </a:spcBef>
            </a:pPr>
            <a:r>
              <a:rPr lang="en-US" sz="3999">
                <a:solidFill>
                  <a:srgbClr val="EFF1E8"/>
                </a:solidFill>
                <a:latin typeface="Poppins"/>
                <a:ea typeface="Poppins"/>
                <a:cs typeface="Poppins"/>
                <a:sym typeface="Poppins"/>
              </a:rPr>
              <a:t>Tugas Data Analitik - Kelompok 3</a:t>
            </a:r>
          </a:p>
        </p:txBody>
      </p:sp>
      <p:sp>
        <p:nvSpPr>
          <p:cNvPr name="AutoShape 8" id="8"/>
          <p:cNvSpPr/>
          <p:nvPr/>
        </p:nvSpPr>
        <p:spPr>
          <a:xfrm flipH="true" flipV="true">
            <a:off x="1047750" y="8855456"/>
            <a:ext cx="0" cy="402844"/>
          </a:xfrm>
          <a:prstGeom prst="line">
            <a:avLst/>
          </a:prstGeom>
          <a:ln cap="flat" w="38100">
            <a:solidFill>
              <a:srgbClr val="EFF1E8"/>
            </a:solidFill>
            <a:prstDash val="solid"/>
            <a:headEnd type="none" len="sm" w="sm"/>
            <a:tailEnd type="none" len="sm" w="sm"/>
          </a:ln>
        </p:spPr>
      </p:sp>
      <p:sp>
        <p:nvSpPr>
          <p:cNvPr name="AutoShape 9" id="9"/>
          <p:cNvSpPr/>
          <p:nvPr/>
        </p:nvSpPr>
        <p:spPr>
          <a:xfrm flipH="true" flipV="true">
            <a:off x="1191738" y="8855456"/>
            <a:ext cx="0" cy="402844"/>
          </a:xfrm>
          <a:prstGeom prst="line">
            <a:avLst/>
          </a:prstGeom>
          <a:ln cap="flat" w="38100">
            <a:solidFill>
              <a:srgbClr val="EFF1E8"/>
            </a:solidFill>
            <a:prstDash val="solid"/>
            <a:headEnd type="none" len="sm" w="sm"/>
            <a:tailEnd type="none" len="sm" w="sm"/>
          </a:ln>
        </p:spPr>
      </p:sp>
      <p:sp>
        <p:nvSpPr>
          <p:cNvPr name="AutoShape 10" id="10"/>
          <p:cNvSpPr/>
          <p:nvPr/>
        </p:nvSpPr>
        <p:spPr>
          <a:xfrm flipH="true" flipV="true">
            <a:off x="1335726" y="8855456"/>
            <a:ext cx="0" cy="402844"/>
          </a:xfrm>
          <a:prstGeom prst="line">
            <a:avLst/>
          </a:prstGeom>
          <a:ln cap="flat" w="38100">
            <a:solidFill>
              <a:srgbClr val="EFF1E8"/>
            </a:solidFill>
            <a:prstDash val="solid"/>
            <a:headEnd type="none" len="sm" w="sm"/>
            <a:tailEnd type="none" len="sm" w="sm"/>
          </a:ln>
        </p:spPr>
      </p:sp>
      <p:sp>
        <p:nvSpPr>
          <p:cNvPr name="AutoShape 11" id="11"/>
          <p:cNvSpPr/>
          <p:nvPr/>
        </p:nvSpPr>
        <p:spPr>
          <a:xfrm flipH="true" flipV="true">
            <a:off x="16952274" y="8855456"/>
            <a:ext cx="0" cy="402844"/>
          </a:xfrm>
          <a:prstGeom prst="line">
            <a:avLst/>
          </a:prstGeom>
          <a:ln cap="flat" w="38100">
            <a:solidFill>
              <a:srgbClr val="EFF1E8"/>
            </a:solidFill>
            <a:prstDash val="solid"/>
            <a:headEnd type="none" len="sm" w="sm"/>
            <a:tailEnd type="none" len="sm" w="sm"/>
          </a:ln>
        </p:spPr>
      </p:sp>
      <p:sp>
        <p:nvSpPr>
          <p:cNvPr name="AutoShape 12" id="12"/>
          <p:cNvSpPr/>
          <p:nvPr/>
        </p:nvSpPr>
        <p:spPr>
          <a:xfrm flipV="true">
            <a:off x="17096262" y="8855456"/>
            <a:ext cx="0" cy="402844"/>
          </a:xfrm>
          <a:prstGeom prst="line">
            <a:avLst/>
          </a:prstGeom>
          <a:ln cap="flat" w="38100">
            <a:solidFill>
              <a:srgbClr val="EFF1E8"/>
            </a:solidFill>
            <a:prstDash val="solid"/>
            <a:headEnd type="none" len="sm" w="sm"/>
            <a:tailEnd type="none" len="sm" w="sm"/>
          </a:ln>
        </p:spPr>
      </p:sp>
      <p:sp>
        <p:nvSpPr>
          <p:cNvPr name="AutoShape 13" id="13"/>
          <p:cNvSpPr/>
          <p:nvPr/>
        </p:nvSpPr>
        <p:spPr>
          <a:xfrm flipV="true">
            <a:off x="17240250" y="8855456"/>
            <a:ext cx="0" cy="402844"/>
          </a:xfrm>
          <a:prstGeom prst="line">
            <a:avLst/>
          </a:prstGeom>
          <a:ln cap="flat" w="38100">
            <a:solidFill>
              <a:srgbClr val="EFF1E8"/>
            </a:solidFill>
            <a:prstDash val="solid"/>
            <a:headEnd type="none" len="sm" w="sm"/>
            <a:tailEnd type="none" len="sm" w="sm"/>
          </a:ln>
        </p:spPr>
      </p:sp>
    </p:spTree>
  </p:cSld>
  <p:clrMapOvr>
    <a:masterClrMapping/>
  </p:clrMapOvr>
</p:sld>
</file>

<file path=ppt/slides/slide2.xml><?xml version="1.0" encoding="utf-8"?>
<p:sld xmlns:p="http://schemas.openxmlformats.org/presentationml/2006/main" xmlns:a="http://schemas.openxmlformats.org/drawingml/2006/main">
  <p:cSld>
    <p:bg>
      <p:bgPr>
        <a:solidFill>
          <a:srgbClr val="EFF1E8"/>
        </a:solidFill>
      </p:bgPr>
    </p:bg>
    <p:spTree>
      <p:nvGrpSpPr>
        <p:cNvPr id="1" name=""/>
        <p:cNvGrpSpPr/>
        <p:nvPr/>
      </p:nvGrpSpPr>
      <p:grpSpPr>
        <a:xfrm>
          <a:off x="0" y="0"/>
          <a:ext cx="0" cy="0"/>
          <a:chOff x="0" y="0"/>
          <a:chExt cx="0" cy="0"/>
        </a:xfrm>
      </p:grpSpPr>
      <p:grpSp>
        <p:nvGrpSpPr>
          <p:cNvPr name="Group 2" id="2"/>
          <p:cNvGrpSpPr/>
          <p:nvPr/>
        </p:nvGrpSpPr>
        <p:grpSpPr>
          <a:xfrm rot="0">
            <a:off x="1373726" y="3587776"/>
            <a:ext cx="12105053" cy="907317"/>
            <a:chOff x="0" y="0"/>
            <a:chExt cx="3188162" cy="238964"/>
          </a:xfrm>
        </p:grpSpPr>
        <p:sp>
          <p:nvSpPr>
            <p:cNvPr name="Freeform 3" id="3"/>
            <p:cNvSpPr/>
            <p:nvPr/>
          </p:nvSpPr>
          <p:spPr>
            <a:xfrm flipH="false" flipV="false" rot="0">
              <a:off x="0" y="0"/>
              <a:ext cx="3188162" cy="238964"/>
            </a:xfrm>
            <a:custGeom>
              <a:avLst/>
              <a:gdLst/>
              <a:ahLst/>
              <a:cxnLst/>
              <a:rect r="r" b="b" t="t" l="l"/>
              <a:pathLst>
                <a:path h="238964" w="3188162">
                  <a:moveTo>
                    <a:pt x="32618" y="0"/>
                  </a:moveTo>
                  <a:lnTo>
                    <a:pt x="3155545" y="0"/>
                  </a:lnTo>
                  <a:cubicBezTo>
                    <a:pt x="3173559" y="0"/>
                    <a:pt x="3188162" y="14603"/>
                    <a:pt x="3188162" y="32618"/>
                  </a:cubicBezTo>
                  <a:lnTo>
                    <a:pt x="3188162" y="206347"/>
                  </a:lnTo>
                  <a:cubicBezTo>
                    <a:pt x="3188162" y="224361"/>
                    <a:pt x="3173559" y="238964"/>
                    <a:pt x="3155545" y="238964"/>
                  </a:cubicBezTo>
                  <a:lnTo>
                    <a:pt x="32618" y="238964"/>
                  </a:lnTo>
                  <a:cubicBezTo>
                    <a:pt x="14603" y="238964"/>
                    <a:pt x="0" y="224361"/>
                    <a:pt x="0" y="206347"/>
                  </a:cubicBezTo>
                  <a:lnTo>
                    <a:pt x="0" y="32618"/>
                  </a:lnTo>
                  <a:cubicBezTo>
                    <a:pt x="0" y="14603"/>
                    <a:pt x="14603" y="0"/>
                    <a:pt x="32618" y="0"/>
                  </a:cubicBezTo>
                  <a:close/>
                </a:path>
              </a:pathLst>
            </a:custGeom>
            <a:solidFill>
              <a:srgbClr val="343734"/>
            </a:solidFill>
          </p:spPr>
        </p:sp>
        <p:sp>
          <p:nvSpPr>
            <p:cNvPr name="TextBox 4" id="4"/>
            <p:cNvSpPr txBox="true"/>
            <p:nvPr/>
          </p:nvSpPr>
          <p:spPr>
            <a:xfrm>
              <a:off x="0" y="-38100"/>
              <a:ext cx="3188162" cy="277064"/>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373726" y="4933243"/>
            <a:ext cx="12105053" cy="907317"/>
            <a:chOff x="0" y="0"/>
            <a:chExt cx="3188162" cy="238964"/>
          </a:xfrm>
        </p:grpSpPr>
        <p:sp>
          <p:nvSpPr>
            <p:cNvPr name="Freeform 6" id="6"/>
            <p:cNvSpPr/>
            <p:nvPr/>
          </p:nvSpPr>
          <p:spPr>
            <a:xfrm flipH="false" flipV="false" rot="0">
              <a:off x="0" y="0"/>
              <a:ext cx="3188162" cy="238964"/>
            </a:xfrm>
            <a:custGeom>
              <a:avLst/>
              <a:gdLst/>
              <a:ahLst/>
              <a:cxnLst/>
              <a:rect r="r" b="b" t="t" l="l"/>
              <a:pathLst>
                <a:path h="238964" w="3188162">
                  <a:moveTo>
                    <a:pt x="32618" y="0"/>
                  </a:moveTo>
                  <a:lnTo>
                    <a:pt x="3155545" y="0"/>
                  </a:lnTo>
                  <a:cubicBezTo>
                    <a:pt x="3173559" y="0"/>
                    <a:pt x="3188162" y="14603"/>
                    <a:pt x="3188162" y="32618"/>
                  </a:cubicBezTo>
                  <a:lnTo>
                    <a:pt x="3188162" y="206347"/>
                  </a:lnTo>
                  <a:cubicBezTo>
                    <a:pt x="3188162" y="224361"/>
                    <a:pt x="3173559" y="238964"/>
                    <a:pt x="3155545" y="238964"/>
                  </a:cubicBezTo>
                  <a:lnTo>
                    <a:pt x="32618" y="238964"/>
                  </a:lnTo>
                  <a:cubicBezTo>
                    <a:pt x="14603" y="238964"/>
                    <a:pt x="0" y="224361"/>
                    <a:pt x="0" y="206347"/>
                  </a:cubicBezTo>
                  <a:lnTo>
                    <a:pt x="0" y="32618"/>
                  </a:lnTo>
                  <a:cubicBezTo>
                    <a:pt x="0" y="14603"/>
                    <a:pt x="14603" y="0"/>
                    <a:pt x="32618" y="0"/>
                  </a:cubicBezTo>
                  <a:close/>
                </a:path>
              </a:pathLst>
            </a:custGeom>
            <a:solidFill>
              <a:srgbClr val="343734"/>
            </a:solidFill>
          </p:spPr>
        </p:sp>
        <p:sp>
          <p:nvSpPr>
            <p:cNvPr name="TextBox 7" id="7"/>
            <p:cNvSpPr txBox="true"/>
            <p:nvPr/>
          </p:nvSpPr>
          <p:spPr>
            <a:xfrm>
              <a:off x="0" y="-38100"/>
              <a:ext cx="3188162" cy="277064"/>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1373726" y="6278710"/>
            <a:ext cx="12105053" cy="907317"/>
            <a:chOff x="0" y="0"/>
            <a:chExt cx="3188162" cy="238964"/>
          </a:xfrm>
        </p:grpSpPr>
        <p:sp>
          <p:nvSpPr>
            <p:cNvPr name="Freeform 9" id="9"/>
            <p:cNvSpPr/>
            <p:nvPr/>
          </p:nvSpPr>
          <p:spPr>
            <a:xfrm flipH="false" flipV="false" rot="0">
              <a:off x="0" y="0"/>
              <a:ext cx="3188162" cy="238964"/>
            </a:xfrm>
            <a:custGeom>
              <a:avLst/>
              <a:gdLst/>
              <a:ahLst/>
              <a:cxnLst/>
              <a:rect r="r" b="b" t="t" l="l"/>
              <a:pathLst>
                <a:path h="238964" w="3188162">
                  <a:moveTo>
                    <a:pt x="32618" y="0"/>
                  </a:moveTo>
                  <a:lnTo>
                    <a:pt x="3155545" y="0"/>
                  </a:lnTo>
                  <a:cubicBezTo>
                    <a:pt x="3173559" y="0"/>
                    <a:pt x="3188162" y="14603"/>
                    <a:pt x="3188162" y="32618"/>
                  </a:cubicBezTo>
                  <a:lnTo>
                    <a:pt x="3188162" y="206347"/>
                  </a:lnTo>
                  <a:cubicBezTo>
                    <a:pt x="3188162" y="224361"/>
                    <a:pt x="3173559" y="238964"/>
                    <a:pt x="3155545" y="238964"/>
                  </a:cubicBezTo>
                  <a:lnTo>
                    <a:pt x="32618" y="238964"/>
                  </a:lnTo>
                  <a:cubicBezTo>
                    <a:pt x="14603" y="238964"/>
                    <a:pt x="0" y="224361"/>
                    <a:pt x="0" y="206347"/>
                  </a:cubicBezTo>
                  <a:lnTo>
                    <a:pt x="0" y="32618"/>
                  </a:lnTo>
                  <a:cubicBezTo>
                    <a:pt x="0" y="14603"/>
                    <a:pt x="14603" y="0"/>
                    <a:pt x="32618" y="0"/>
                  </a:cubicBezTo>
                  <a:close/>
                </a:path>
              </a:pathLst>
            </a:custGeom>
            <a:solidFill>
              <a:srgbClr val="343734"/>
            </a:solidFill>
          </p:spPr>
        </p:sp>
        <p:sp>
          <p:nvSpPr>
            <p:cNvPr name="TextBox 10" id="10"/>
            <p:cNvSpPr txBox="true"/>
            <p:nvPr/>
          </p:nvSpPr>
          <p:spPr>
            <a:xfrm>
              <a:off x="0" y="-38100"/>
              <a:ext cx="3188162" cy="277064"/>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0">
            <a:off x="15036845" y="-197439"/>
            <a:ext cx="3765505" cy="11168682"/>
            <a:chOff x="0" y="0"/>
            <a:chExt cx="991738" cy="2941546"/>
          </a:xfrm>
        </p:grpSpPr>
        <p:sp>
          <p:nvSpPr>
            <p:cNvPr name="Freeform 12" id="12"/>
            <p:cNvSpPr/>
            <p:nvPr/>
          </p:nvSpPr>
          <p:spPr>
            <a:xfrm flipH="false" flipV="false" rot="0">
              <a:off x="0" y="0"/>
              <a:ext cx="991738" cy="2941546"/>
            </a:xfrm>
            <a:custGeom>
              <a:avLst/>
              <a:gdLst/>
              <a:ahLst/>
              <a:cxnLst/>
              <a:rect r="r" b="b" t="t" l="l"/>
              <a:pathLst>
                <a:path h="2941546" w="991738">
                  <a:moveTo>
                    <a:pt x="0" y="0"/>
                  </a:moveTo>
                  <a:lnTo>
                    <a:pt x="991738" y="0"/>
                  </a:lnTo>
                  <a:lnTo>
                    <a:pt x="991738" y="2941546"/>
                  </a:lnTo>
                  <a:lnTo>
                    <a:pt x="0" y="2941546"/>
                  </a:lnTo>
                  <a:close/>
                </a:path>
              </a:pathLst>
            </a:custGeom>
            <a:solidFill>
              <a:srgbClr val="343734"/>
            </a:solidFill>
          </p:spPr>
        </p:sp>
        <p:sp>
          <p:nvSpPr>
            <p:cNvPr name="TextBox 13" id="13"/>
            <p:cNvSpPr txBox="true"/>
            <p:nvPr/>
          </p:nvSpPr>
          <p:spPr>
            <a:xfrm>
              <a:off x="0" y="-38100"/>
              <a:ext cx="991738" cy="2979646"/>
            </a:xfrm>
            <a:prstGeom prst="rect">
              <a:avLst/>
            </a:prstGeom>
          </p:spPr>
          <p:txBody>
            <a:bodyPr anchor="ctr" rtlCol="false" tIns="50800" lIns="50800" bIns="50800" rIns="50800"/>
            <a:lstStyle/>
            <a:p>
              <a:pPr algn="ctr">
                <a:lnSpc>
                  <a:spcPts val="2659"/>
                </a:lnSpc>
              </a:pPr>
            </a:p>
          </p:txBody>
        </p:sp>
      </p:grpSp>
      <p:sp>
        <p:nvSpPr>
          <p:cNvPr name="TextBox 14" id="14"/>
          <p:cNvSpPr txBox="true"/>
          <p:nvPr/>
        </p:nvSpPr>
        <p:spPr>
          <a:xfrm rot="0">
            <a:off x="840809" y="1123950"/>
            <a:ext cx="13854017" cy="1245235"/>
          </a:xfrm>
          <a:prstGeom prst="rect">
            <a:avLst/>
          </a:prstGeom>
        </p:spPr>
        <p:txBody>
          <a:bodyPr anchor="t" rtlCol="false" tIns="0" lIns="0" bIns="0" rIns="0">
            <a:spAutoFit/>
          </a:bodyPr>
          <a:lstStyle/>
          <a:p>
            <a:pPr algn="ctr">
              <a:lnSpc>
                <a:spcPts val="9679"/>
              </a:lnSpc>
            </a:pPr>
            <a:r>
              <a:rPr lang="en-US" b="true" sz="8799">
                <a:solidFill>
                  <a:srgbClr val="343734"/>
                </a:solidFill>
                <a:latin typeface="Montserrat Bold"/>
                <a:ea typeface="Montserrat Bold"/>
                <a:cs typeface="Montserrat Bold"/>
                <a:sym typeface="Montserrat Bold"/>
              </a:rPr>
              <a:t>Anggo</a:t>
            </a:r>
            <a:r>
              <a:rPr lang="en-US" b="true" sz="8799">
                <a:solidFill>
                  <a:srgbClr val="343734"/>
                </a:solidFill>
                <a:latin typeface="Montserrat Bold"/>
                <a:ea typeface="Montserrat Bold"/>
                <a:cs typeface="Montserrat Bold"/>
                <a:sym typeface="Montserrat Bold"/>
              </a:rPr>
              <a:t>ta</a:t>
            </a:r>
          </a:p>
        </p:txBody>
      </p:sp>
      <p:sp>
        <p:nvSpPr>
          <p:cNvPr name="TextBox 15" id="15"/>
          <p:cNvSpPr txBox="true"/>
          <p:nvPr/>
        </p:nvSpPr>
        <p:spPr>
          <a:xfrm rot="0">
            <a:off x="1770946" y="3625510"/>
            <a:ext cx="11310614" cy="717550"/>
          </a:xfrm>
          <a:prstGeom prst="rect">
            <a:avLst/>
          </a:prstGeom>
        </p:spPr>
        <p:txBody>
          <a:bodyPr anchor="t" rtlCol="false" tIns="0" lIns="0" bIns="0" rIns="0">
            <a:spAutoFit/>
          </a:bodyPr>
          <a:lstStyle/>
          <a:p>
            <a:pPr algn="ctr">
              <a:lnSpc>
                <a:spcPts val="5599"/>
              </a:lnSpc>
              <a:spcBef>
                <a:spcPct val="0"/>
              </a:spcBef>
            </a:pPr>
            <a:r>
              <a:rPr lang="en-US" sz="3999">
                <a:solidFill>
                  <a:srgbClr val="EFF1E8"/>
                </a:solidFill>
                <a:latin typeface="Poppins"/>
                <a:ea typeface="Poppins"/>
                <a:cs typeface="Poppins"/>
                <a:sym typeface="Poppins"/>
              </a:rPr>
              <a:t>Amanda Arva Safaraya (2410817220022)</a:t>
            </a:r>
          </a:p>
        </p:txBody>
      </p:sp>
      <p:sp>
        <p:nvSpPr>
          <p:cNvPr name="TextBox 16" id="16"/>
          <p:cNvSpPr txBox="true"/>
          <p:nvPr/>
        </p:nvSpPr>
        <p:spPr>
          <a:xfrm rot="0">
            <a:off x="1473370" y="4970977"/>
            <a:ext cx="11905766" cy="717550"/>
          </a:xfrm>
          <a:prstGeom prst="rect">
            <a:avLst/>
          </a:prstGeom>
        </p:spPr>
        <p:txBody>
          <a:bodyPr anchor="t" rtlCol="false" tIns="0" lIns="0" bIns="0" rIns="0">
            <a:spAutoFit/>
          </a:bodyPr>
          <a:lstStyle/>
          <a:p>
            <a:pPr algn="ctr">
              <a:lnSpc>
                <a:spcPts val="5599"/>
              </a:lnSpc>
              <a:spcBef>
                <a:spcPct val="0"/>
              </a:spcBef>
            </a:pPr>
            <a:r>
              <a:rPr lang="en-US" sz="3999">
                <a:solidFill>
                  <a:srgbClr val="EFF1E8"/>
                </a:solidFill>
                <a:latin typeface="Poppins"/>
                <a:ea typeface="Poppins"/>
                <a:cs typeface="Poppins"/>
                <a:sym typeface="Poppins"/>
              </a:rPr>
              <a:t>P</a:t>
            </a:r>
            <a:r>
              <a:rPr lang="en-US" sz="3999">
                <a:solidFill>
                  <a:srgbClr val="EFF1E8"/>
                </a:solidFill>
                <a:latin typeface="Poppins"/>
                <a:ea typeface="Poppins"/>
                <a:cs typeface="Poppins"/>
                <a:sym typeface="Poppins"/>
              </a:rPr>
              <a:t>utri Fatima Az’hara (2410817120001)</a:t>
            </a:r>
          </a:p>
        </p:txBody>
      </p:sp>
      <p:sp>
        <p:nvSpPr>
          <p:cNvPr name="TextBox 17" id="17"/>
          <p:cNvSpPr txBox="true"/>
          <p:nvPr/>
        </p:nvSpPr>
        <p:spPr>
          <a:xfrm rot="0">
            <a:off x="1028700" y="6316810"/>
            <a:ext cx="12795106" cy="717550"/>
          </a:xfrm>
          <a:prstGeom prst="rect">
            <a:avLst/>
          </a:prstGeom>
        </p:spPr>
        <p:txBody>
          <a:bodyPr anchor="t" rtlCol="false" tIns="0" lIns="0" bIns="0" rIns="0">
            <a:spAutoFit/>
          </a:bodyPr>
          <a:lstStyle/>
          <a:p>
            <a:pPr algn="ctr">
              <a:lnSpc>
                <a:spcPts val="5599"/>
              </a:lnSpc>
              <a:spcBef>
                <a:spcPct val="0"/>
              </a:spcBef>
            </a:pPr>
            <a:r>
              <a:rPr lang="en-US" sz="3999">
                <a:solidFill>
                  <a:srgbClr val="EFF1E8"/>
                </a:solidFill>
                <a:latin typeface="Poppins"/>
                <a:ea typeface="Poppins"/>
                <a:cs typeface="Poppins"/>
                <a:sym typeface="Poppins"/>
              </a:rPr>
              <a:t>S</a:t>
            </a:r>
            <a:r>
              <a:rPr lang="en-US" sz="3999">
                <a:solidFill>
                  <a:srgbClr val="EFF1E8"/>
                </a:solidFill>
                <a:latin typeface="Poppins"/>
                <a:ea typeface="Poppins"/>
                <a:cs typeface="Poppins"/>
                <a:sym typeface="Poppins"/>
              </a:rPr>
              <a:t>ebastian Abe Santoso (2410817210002)</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70A1BD"/>
        </a:solidFill>
      </p:bgPr>
    </p:bg>
    <p:spTree>
      <p:nvGrpSpPr>
        <p:cNvPr id="1" name=""/>
        <p:cNvGrpSpPr/>
        <p:nvPr/>
      </p:nvGrpSpPr>
      <p:grpSpPr>
        <a:xfrm>
          <a:off x="0" y="0"/>
          <a:ext cx="0" cy="0"/>
          <a:chOff x="0" y="0"/>
          <a:chExt cx="0" cy="0"/>
        </a:xfrm>
      </p:grpSpPr>
      <p:grpSp>
        <p:nvGrpSpPr>
          <p:cNvPr name="Group 2" id="2"/>
          <p:cNvGrpSpPr/>
          <p:nvPr/>
        </p:nvGrpSpPr>
        <p:grpSpPr>
          <a:xfrm rot="0">
            <a:off x="1028700" y="2089395"/>
            <a:ext cx="16230600" cy="7781423"/>
            <a:chOff x="0" y="0"/>
            <a:chExt cx="2139018" cy="1025508"/>
          </a:xfrm>
        </p:grpSpPr>
        <p:sp>
          <p:nvSpPr>
            <p:cNvPr name="Freeform 3" id="3"/>
            <p:cNvSpPr/>
            <p:nvPr/>
          </p:nvSpPr>
          <p:spPr>
            <a:xfrm flipH="false" flipV="false" rot="0">
              <a:off x="0" y="0"/>
              <a:ext cx="2139018" cy="1025508"/>
            </a:xfrm>
            <a:custGeom>
              <a:avLst/>
              <a:gdLst/>
              <a:ahLst/>
              <a:cxnLst/>
              <a:rect r="r" b="b" t="t" l="l"/>
              <a:pathLst>
                <a:path h="1025508" w="2139018">
                  <a:moveTo>
                    <a:pt x="24327" y="0"/>
                  </a:moveTo>
                  <a:lnTo>
                    <a:pt x="2114691" y="0"/>
                  </a:lnTo>
                  <a:cubicBezTo>
                    <a:pt x="2128126" y="0"/>
                    <a:pt x="2139018" y="10891"/>
                    <a:pt x="2139018" y="24327"/>
                  </a:cubicBezTo>
                  <a:lnTo>
                    <a:pt x="2139018" y="1001181"/>
                  </a:lnTo>
                  <a:cubicBezTo>
                    <a:pt x="2139018" y="1014616"/>
                    <a:pt x="2128126" y="1025508"/>
                    <a:pt x="2114691" y="1025508"/>
                  </a:cubicBezTo>
                  <a:lnTo>
                    <a:pt x="24327" y="1025508"/>
                  </a:lnTo>
                  <a:cubicBezTo>
                    <a:pt x="10891" y="1025508"/>
                    <a:pt x="0" y="1014616"/>
                    <a:pt x="0" y="1001181"/>
                  </a:cubicBezTo>
                  <a:lnTo>
                    <a:pt x="0" y="24327"/>
                  </a:lnTo>
                  <a:cubicBezTo>
                    <a:pt x="0" y="10891"/>
                    <a:pt x="10891" y="0"/>
                    <a:pt x="24327" y="0"/>
                  </a:cubicBezTo>
                  <a:close/>
                </a:path>
              </a:pathLst>
            </a:custGeom>
            <a:ln w="38100" cap="rnd">
              <a:solidFill>
                <a:srgbClr val="EFF1E8"/>
              </a:solidFill>
              <a:prstDash val="solid"/>
              <a:round/>
            </a:ln>
          </p:spPr>
        </p:sp>
        <p:sp>
          <p:nvSpPr>
            <p:cNvPr name="TextBox 4" id="4"/>
            <p:cNvSpPr txBox="true"/>
            <p:nvPr/>
          </p:nvSpPr>
          <p:spPr>
            <a:xfrm>
              <a:off x="0" y="-57150"/>
              <a:ext cx="2139018" cy="1082658"/>
            </a:xfrm>
            <a:prstGeom prst="rect">
              <a:avLst/>
            </a:prstGeom>
          </p:spPr>
          <p:txBody>
            <a:bodyPr anchor="ctr" rtlCol="false" tIns="50800" lIns="50800" bIns="50800" rIns="50800"/>
            <a:lstStyle/>
            <a:p>
              <a:pPr algn="ctr">
                <a:lnSpc>
                  <a:spcPts val="2799"/>
                </a:lnSpc>
              </a:pPr>
            </a:p>
          </p:txBody>
        </p:sp>
      </p:grpSp>
      <p:sp>
        <p:nvSpPr>
          <p:cNvPr name="AutoShape 5" id="5"/>
          <p:cNvSpPr/>
          <p:nvPr/>
        </p:nvSpPr>
        <p:spPr>
          <a:xfrm>
            <a:off x="1028700" y="5582268"/>
            <a:ext cx="16230600" cy="0"/>
          </a:xfrm>
          <a:prstGeom prst="line">
            <a:avLst/>
          </a:prstGeom>
          <a:ln cap="flat" w="76200">
            <a:solidFill>
              <a:srgbClr val="EFF1E8"/>
            </a:solidFill>
            <a:prstDash val="solid"/>
            <a:headEnd type="none" len="sm" w="sm"/>
            <a:tailEnd type="none" len="sm" w="sm"/>
          </a:ln>
        </p:spPr>
      </p:sp>
      <p:sp>
        <p:nvSpPr>
          <p:cNvPr name="AutoShape 6" id="6"/>
          <p:cNvSpPr/>
          <p:nvPr/>
        </p:nvSpPr>
        <p:spPr>
          <a:xfrm>
            <a:off x="1028700" y="8481043"/>
            <a:ext cx="16230600" cy="0"/>
          </a:xfrm>
          <a:prstGeom prst="line">
            <a:avLst/>
          </a:prstGeom>
          <a:ln cap="flat" w="76200">
            <a:solidFill>
              <a:srgbClr val="EFF1E8"/>
            </a:solidFill>
            <a:prstDash val="solid"/>
            <a:headEnd type="none" len="sm" w="sm"/>
            <a:tailEnd type="none" len="sm" w="sm"/>
          </a:ln>
        </p:spPr>
      </p:sp>
      <p:sp>
        <p:nvSpPr>
          <p:cNvPr name="AutoShape 7" id="7"/>
          <p:cNvSpPr/>
          <p:nvPr/>
        </p:nvSpPr>
        <p:spPr>
          <a:xfrm>
            <a:off x="1028700" y="3678285"/>
            <a:ext cx="16230600" cy="0"/>
          </a:xfrm>
          <a:prstGeom prst="line">
            <a:avLst/>
          </a:prstGeom>
          <a:ln cap="flat" w="76200">
            <a:solidFill>
              <a:srgbClr val="EFF1E8"/>
            </a:solidFill>
            <a:prstDash val="solid"/>
            <a:headEnd type="none" len="sm" w="sm"/>
            <a:tailEnd type="none" len="sm" w="sm"/>
          </a:ln>
        </p:spPr>
      </p:sp>
      <p:sp>
        <p:nvSpPr>
          <p:cNvPr name="Freeform 8" id="8"/>
          <p:cNvSpPr/>
          <p:nvPr/>
        </p:nvSpPr>
        <p:spPr>
          <a:xfrm flipH="false" flipV="true" rot="0">
            <a:off x="1028700" y="358458"/>
            <a:ext cx="1015236" cy="1015236"/>
          </a:xfrm>
          <a:custGeom>
            <a:avLst/>
            <a:gdLst/>
            <a:ahLst/>
            <a:cxnLst/>
            <a:rect r="r" b="b" t="t" l="l"/>
            <a:pathLst>
              <a:path h="1015236" w="1015236">
                <a:moveTo>
                  <a:pt x="0" y="1015235"/>
                </a:moveTo>
                <a:lnTo>
                  <a:pt x="1015236" y="1015235"/>
                </a:lnTo>
                <a:lnTo>
                  <a:pt x="1015236" y="0"/>
                </a:lnTo>
                <a:lnTo>
                  <a:pt x="0" y="0"/>
                </a:lnTo>
                <a:lnTo>
                  <a:pt x="0" y="1015235"/>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9" id="9"/>
          <p:cNvSpPr txBox="true"/>
          <p:nvPr/>
        </p:nvSpPr>
        <p:spPr>
          <a:xfrm rot="0">
            <a:off x="1839653" y="453708"/>
            <a:ext cx="14608693" cy="1245235"/>
          </a:xfrm>
          <a:prstGeom prst="rect">
            <a:avLst/>
          </a:prstGeom>
        </p:spPr>
        <p:txBody>
          <a:bodyPr anchor="t" rtlCol="false" tIns="0" lIns="0" bIns="0" rIns="0">
            <a:spAutoFit/>
          </a:bodyPr>
          <a:lstStyle/>
          <a:p>
            <a:pPr algn="ctr">
              <a:lnSpc>
                <a:spcPts val="9679"/>
              </a:lnSpc>
            </a:pPr>
            <a:r>
              <a:rPr lang="en-US" b="true" sz="8799">
                <a:solidFill>
                  <a:srgbClr val="EFF1E8"/>
                </a:solidFill>
                <a:latin typeface="Montserrat Bold"/>
                <a:ea typeface="Montserrat Bold"/>
                <a:cs typeface="Montserrat Bold"/>
                <a:sym typeface="Montserrat Bold"/>
              </a:rPr>
              <a:t>Iden</a:t>
            </a:r>
            <a:r>
              <a:rPr lang="en-US" b="true" sz="8799">
                <a:solidFill>
                  <a:srgbClr val="EFF1E8"/>
                </a:solidFill>
                <a:latin typeface="Montserrat Bold"/>
                <a:ea typeface="Montserrat Bold"/>
                <a:cs typeface="Montserrat Bold"/>
                <a:sym typeface="Montserrat Bold"/>
              </a:rPr>
              <a:t>titas Dataset</a:t>
            </a:r>
          </a:p>
        </p:txBody>
      </p:sp>
      <p:sp>
        <p:nvSpPr>
          <p:cNvPr name="TextBox 10" id="10"/>
          <p:cNvSpPr txBox="true"/>
          <p:nvPr/>
        </p:nvSpPr>
        <p:spPr>
          <a:xfrm rot="0">
            <a:off x="1028700" y="2484485"/>
            <a:ext cx="5173071" cy="717550"/>
          </a:xfrm>
          <a:prstGeom prst="rect">
            <a:avLst/>
          </a:prstGeom>
        </p:spPr>
        <p:txBody>
          <a:bodyPr anchor="t" rtlCol="false" tIns="0" lIns="0" bIns="0" rIns="0">
            <a:spAutoFit/>
          </a:bodyPr>
          <a:lstStyle/>
          <a:p>
            <a:pPr algn="ctr">
              <a:lnSpc>
                <a:spcPts val="5599"/>
              </a:lnSpc>
              <a:spcBef>
                <a:spcPct val="0"/>
              </a:spcBef>
            </a:pPr>
            <a:r>
              <a:rPr lang="en-US" sz="3999">
                <a:solidFill>
                  <a:srgbClr val="EFF1E8"/>
                </a:solidFill>
                <a:latin typeface="Poppins"/>
                <a:ea typeface="Poppins"/>
                <a:cs typeface="Poppins"/>
                <a:sym typeface="Poppins"/>
              </a:rPr>
              <a:t>NAMA</a:t>
            </a:r>
            <a:r>
              <a:rPr lang="en-US" sz="3999">
                <a:solidFill>
                  <a:srgbClr val="EFF1E8"/>
                </a:solidFill>
                <a:latin typeface="Poppins"/>
                <a:ea typeface="Poppins"/>
                <a:cs typeface="Poppins"/>
                <a:sym typeface="Poppins"/>
              </a:rPr>
              <a:t> DATASET</a:t>
            </a:r>
          </a:p>
        </p:txBody>
      </p:sp>
      <p:sp>
        <p:nvSpPr>
          <p:cNvPr name="Freeform 11" id="11"/>
          <p:cNvSpPr/>
          <p:nvPr/>
        </p:nvSpPr>
        <p:spPr>
          <a:xfrm flipH="true" flipV="true" rot="0">
            <a:off x="16244064" y="358458"/>
            <a:ext cx="1015236" cy="1015236"/>
          </a:xfrm>
          <a:custGeom>
            <a:avLst/>
            <a:gdLst/>
            <a:ahLst/>
            <a:cxnLst/>
            <a:rect r="r" b="b" t="t" l="l"/>
            <a:pathLst>
              <a:path h="1015236" w="1015236">
                <a:moveTo>
                  <a:pt x="1015236" y="1015235"/>
                </a:moveTo>
                <a:lnTo>
                  <a:pt x="0" y="1015235"/>
                </a:lnTo>
                <a:lnTo>
                  <a:pt x="0" y="0"/>
                </a:lnTo>
                <a:lnTo>
                  <a:pt x="1015236" y="0"/>
                </a:lnTo>
                <a:lnTo>
                  <a:pt x="1015236" y="1015235"/>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12" id="12"/>
          <p:cNvSpPr/>
          <p:nvPr/>
        </p:nvSpPr>
        <p:spPr>
          <a:xfrm flipV="true">
            <a:off x="6201771" y="2089395"/>
            <a:ext cx="0" cy="7781423"/>
          </a:xfrm>
          <a:prstGeom prst="line">
            <a:avLst/>
          </a:prstGeom>
          <a:ln cap="flat" w="76200">
            <a:solidFill>
              <a:srgbClr val="EFF1E8"/>
            </a:solidFill>
            <a:prstDash val="solid"/>
            <a:headEnd type="none" len="sm" w="sm"/>
            <a:tailEnd type="none" len="sm" w="sm"/>
          </a:ln>
        </p:spPr>
      </p:sp>
      <p:sp>
        <p:nvSpPr>
          <p:cNvPr name="TextBox 13" id="13"/>
          <p:cNvSpPr txBox="true"/>
          <p:nvPr/>
        </p:nvSpPr>
        <p:spPr>
          <a:xfrm rot="0">
            <a:off x="1028700" y="4131293"/>
            <a:ext cx="5173071" cy="717550"/>
          </a:xfrm>
          <a:prstGeom prst="rect">
            <a:avLst/>
          </a:prstGeom>
        </p:spPr>
        <p:txBody>
          <a:bodyPr anchor="t" rtlCol="false" tIns="0" lIns="0" bIns="0" rIns="0">
            <a:spAutoFit/>
          </a:bodyPr>
          <a:lstStyle/>
          <a:p>
            <a:pPr algn="ctr">
              <a:lnSpc>
                <a:spcPts val="5599"/>
              </a:lnSpc>
              <a:spcBef>
                <a:spcPct val="0"/>
              </a:spcBef>
            </a:pPr>
            <a:r>
              <a:rPr lang="en-US" sz="3999">
                <a:solidFill>
                  <a:srgbClr val="EFF1E8"/>
                </a:solidFill>
                <a:latin typeface="Poppins"/>
                <a:ea typeface="Poppins"/>
                <a:cs typeface="Poppins"/>
                <a:sym typeface="Poppins"/>
              </a:rPr>
              <a:t>URL</a:t>
            </a:r>
            <a:r>
              <a:rPr lang="en-US" sz="3999">
                <a:solidFill>
                  <a:srgbClr val="EFF1E8"/>
                </a:solidFill>
                <a:latin typeface="Poppins"/>
                <a:ea typeface="Poppins"/>
                <a:cs typeface="Poppins"/>
                <a:sym typeface="Poppins"/>
              </a:rPr>
              <a:t> SUMBER</a:t>
            </a:r>
          </a:p>
        </p:txBody>
      </p:sp>
      <p:sp>
        <p:nvSpPr>
          <p:cNvPr name="TextBox 14" id="14"/>
          <p:cNvSpPr txBox="true"/>
          <p:nvPr/>
        </p:nvSpPr>
        <p:spPr>
          <a:xfrm rot="0">
            <a:off x="1028700" y="5944218"/>
            <a:ext cx="5173071" cy="717550"/>
          </a:xfrm>
          <a:prstGeom prst="rect">
            <a:avLst/>
          </a:prstGeom>
        </p:spPr>
        <p:txBody>
          <a:bodyPr anchor="t" rtlCol="false" tIns="0" lIns="0" bIns="0" rIns="0">
            <a:spAutoFit/>
          </a:bodyPr>
          <a:lstStyle/>
          <a:p>
            <a:pPr algn="ctr">
              <a:lnSpc>
                <a:spcPts val="5599"/>
              </a:lnSpc>
              <a:spcBef>
                <a:spcPct val="0"/>
              </a:spcBef>
            </a:pPr>
            <a:r>
              <a:rPr lang="en-US" sz="3999">
                <a:solidFill>
                  <a:srgbClr val="EFF1E8"/>
                </a:solidFill>
                <a:latin typeface="Poppins"/>
                <a:ea typeface="Poppins"/>
                <a:cs typeface="Poppins"/>
                <a:sym typeface="Poppins"/>
              </a:rPr>
              <a:t>NAMA</a:t>
            </a:r>
            <a:r>
              <a:rPr lang="en-US" sz="3999">
                <a:solidFill>
                  <a:srgbClr val="EFF1E8"/>
                </a:solidFill>
                <a:latin typeface="Poppins"/>
                <a:ea typeface="Poppins"/>
                <a:cs typeface="Poppins"/>
                <a:sym typeface="Poppins"/>
              </a:rPr>
              <a:t> PLATFORM</a:t>
            </a:r>
          </a:p>
        </p:txBody>
      </p:sp>
      <p:sp>
        <p:nvSpPr>
          <p:cNvPr name="TextBox 15" id="15"/>
          <p:cNvSpPr txBox="true"/>
          <p:nvPr/>
        </p:nvSpPr>
        <p:spPr>
          <a:xfrm rot="0">
            <a:off x="1028700" y="8709643"/>
            <a:ext cx="5173071" cy="717550"/>
          </a:xfrm>
          <a:prstGeom prst="rect">
            <a:avLst/>
          </a:prstGeom>
        </p:spPr>
        <p:txBody>
          <a:bodyPr anchor="t" rtlCol="false" tIns="0" lIns="0" bIns="0" rIns="0">
            <a:spAutoFit/>
          </a:bodyPr>
          <a:lstStyle/>
          <a:p>
            <a:pPr algn="ctr">
              <a:lnSpc>
                <a:spcPts val="5599"/>
              </a:lnSpc>
              <a:spcBef>
                <a:spcPct val="0"/>
              </a:spcBef>
            </a:pPr>
            <a:r>
              <a:rPr lang="en-US" sz="3999">
                <a:solidFill>
                  <a:srgbClr val="EFF1E8"/>
                </a:solidFill>
                <a:latin typeface="Poppins"/>
                <a:ea typeface="Poppins"/>
                <a:cs typeface="Poppins"/>
                <a:sym typeface="Poppins"/>
              </a:rPr>
              <a:t>TAHUN PUBLIKASI</a:t>
            </a:r>
          </a:p>
        </p:txBody>
      </p:sp>
      <p:sp>
        <p:nvSpPr>
          <p:cNvPr name="TextBox 16" id="16"/>
          <p:cNvSpPr txBox="true"/>
          <p:nvPr/>
        </p:nvSpPr>
        <p:spPr>
          <a:xfrm rot="0">
            <a:off x="6201771" y="2503535"/>
            <a:ext cx="11057529" cy="559435"/>
          </a:xfrm>
          <a:prstGeom prst="rect">
            <a:avLst/>
          </a:prstGeom>
        </p:spPr>
        <p:txBody>
          <a:bodyPr anchor="t" rtlCol="false" tIns="0" lIns="0" bIns="0" rIns="0">
            <a:spAutoFit/>
          </a:bodyPr>
          <a:lstStyle/>
          <a:p>
            <a:pPr algn="ctr">
              <a:lnSpc>
                <a:spcPts val="4340"/>
              </a:lnSpc>
              <a:spcBef>
                <a:spcPct val="0"/>
              </a:spcBef>
            </a:pPr>
            <a:r>
              <a:rPr lang="en-US" sz="3100">
                <a:solidFill>
                  <a:srgbClr val="EFF1E8"/>
                </a:solidFill>
                <a:latin typeface="Poppins"/>
                <a:ea typeface="Poppins"/>
                <a:cs typeface="Poppins"/>
                <a:sym typeface="Poppins"/>
              </a:rPr>
              <a:t>E-Commerce Customer Segmentation</a:t>
            </a:r>
            <a:r>
              <a:rPr lang="en-US" sz="3100">
                <a:solidFill>
                  <a:srgbClr val="EFF1E8"/>
                </a:solidFill>
                <a:latin typeface="Poppins"/>
                <a:ea typeface="Poppins"/>
                <a:cs typeface="Poppins"/>
                <a:sym typeface="Poppins"/>
              </a:rPr>
              <a:t> Dataset 2026</a:t>
            </a:r>
          </a:p>
        </p:txBody>
      </p:sp>
      <p:sp>
        <p:nvSpPr>
          <p:cNvPr name="TextBox 17" id="17"/>
          <p:cNvSpPr txBox="true"/>
          <p:nvPr/>
        </p:nvSpPr>
        <p:spPr>
          <a:xfrm rot="0">
            <a:off x="6201771" y="3934443"/>
            <a:ext cx="11057529" cy="1076325"/>
          </a:xfrm>
          <a:prstGeom prst="rect">
            <a:avLst/>
          </a:prstGeom>
        </p:spPr>
        <p:txBody>
          <a:bodyPr anchor="t" rtlCol="false" tIns="0" lIns="0" bIns="0" rIns="0">
            <a:spAutoFit/>
          </a:bodyPr>
          <a:lstStyle/>
          <a:p>
            <a:pPr algn="ctr">
              <a:lnSpc>
                <a:spcPts val="4200"/>
              </a:lnSpc>
            </a:pPr>
            <a:r>
              <a:rPr lang="en-US" sz="3000" u="sng">
                <a:solidFill>
                  <a:srgbClr val="EFF1E8"/>
                </a:solidFill>
                <a:latin typeface="Poppins"/>
                <a:ea typeface="Poppins"/>
                <a:cs typeface="Poppins"/>
                <a:sym typeface="Poppins"/>
                <a:hlinkClick r:id="rId4" tooltip="https://www.kaggle.com/datasets/datascikhan/e-commerce-customer-segmentation-2026"/>
              </a:rPr>
              <a:t>https://www.kaggle.com/datasets/datascikhan/e-commerce-customer-segmentation-2026</a:t>
            </a:r>
          </a:p>
        </p:txBody>
      </p:sp>
      <p:sp>
        <p:nvSpPr>
          <p:cNvPr name="TextBox 18" id="18"/>
          <p:cNvSpPr txBox="true"/>
          <p:nvPr/>
        </p:nvSpPr>
        <p:spPr>
          <a:xfrm rot="0">
            <a:off x="6201771" y="5971205"/>
            <a:ext cx="11057529" cy="635000"/>
          </a:xfrm>
          <a:prstGeom prst="rect">
            <a:avLst/>
          </a:prstGeom>
        </p:spPr>
        <p:txBody>
          <a:bodyPr anchor="t" rtlCol="false" tIns="0" lIns="0" bIns="0" rIns="0">
            <a:spAutoFit/>
          </a:bodyPr>
          <a:lstStyle/>
          <a:p>
            <a:pPr algn="ctr">
              <a:lnSpc>
                <a:spcPts val="4900"/>
              </a:lnSpc>
              <a:spcBef>
                <a:spcPct val="0"/>
              </a:spcBef>
            </a:pPr>
            <a:r>
              <a:rPr lang="en-US" sz="3500">
                <a:solidFill>
                  <a:srgbClr val="EFF1E8"/>
                </a:solidFill>
                <a:latin typeface="Poppins"/>
                <a:ea typeface="Poppins"/>
                <a:cs typeface="Poppins"/>
                <a:sym typeface="Poppins"/>
              </a:rPr>
              <a:t>KAGGLE</a:t>
            </a:r>
          </a:p>
        </p:txBody>
      </p:sp>
      <p:sp>
        <p:nvSpPr>
          <p:cNvPr name="TextBox 19" id="19"/>
          <p:cNvSpPr txBox="true"/>
          <p:nvPr/>
        </p:nvSpPr>
        <p:spPr>
          <a:xfrm rot="0">
            <a:off x="6201771" y="8795368"/>
            <a:ext cx="11057529" cy="635000"/>
          </a:xfrm>
          <a:prstGeom prst="rect">
            <a:avLst/>
          </a:prstGeom>
        </p:spPr>
        <p:txBody>
          <a:bodyPr anchor="t" rtlCol="false" tIns="0" lIns="0" bIns="0" rIns="0">
            <a:spAutoFit/>
          </a:bodyPr>
          <a:lstStyle/>
          <a:p>
            <a:pPr algn="ctr">
              <a:lnSpc>
                <a:spcPts val="4900"/>
              </a:lnSpc>
              <a:spcBef>
                <a:spcPct val="0"/>
              </a:spcBef>
            </a:pPr>
            <a:r>
              <a:rPr lang="en-US" sz="3500">
                <a:solidFill>
                  <a:srgbClr val="EFF1E8"/>
                </a:solidFill>
                <a:latin typeface="Poppins"/>
                <a:ea typeface="Poppins"/>
                <a:cs typeface="Poppins"/>
                <a:sym typeface="Poppins"/>
              </a:rPr>
              <a:t>2026</a:t>
            </a:r>
          </a:p>
        </p:txBody>
      </p:sp>
      <p:sp>
        <p:nvSpPr>
          <p:cNvPr name="AutoShape 20" id="20"/>
          <p:cNvSpPr/>
          <p:nvPr/>
        </p:nvSpPr>
        <p:spPr>
          <a:xfrm>
            <a:off x="1028700" y="7099918"/>
            <a:ext cx="16230600" cy="0"/>
          </a:xfrm>
          <a:prstGeom prst="line">
            <a:avLst/>
          </a:prstGeom>
          <a:ln cap="flat" w="76200">
            <a:solidFill>
              <a:srgbClr val="EFF1E8"/>
            </a:solidFill>
            <a:prstDash val="solid"/>
            <a:headEnd type="none" len="sm" w="sm"/>
            <a:tailEnd type="none" len="sm" w="sm"/>
          </a:ln>
        </p:spPr>
      </p:sp>
      <p:sp>
        <p:nvSpPr>
          <p:cNvPr name="TextBox 21" id="21"/>
          <p:cNvSpPr txBox="true"/>
          <p:nvPr/>
        </p:nvSpPr>
        <p:spPr>
          <a:xfrm rot="0">
            <a:off x="1028700" y="7328518"/>
            <a:ext cx="5173071" cy="717550"/>
          </a:xfrm>
          <a:prstGeom prst="rect">
            <a:avLst/>
          </a:prstGeom>
        </p:spPr>
        <p:txBody>
          <a:bodyPr anchor="t" rtlCol="false" tIns="0" lIns="0" bIns="0" rIns="0">
            <a:spAutoFit/>
          </a:bodyPr>
          <a:lstStyle/>
          <a:p>
            <a:pPr algn="ctr">
              <a:lnSpc>
                <a:spcPts val="5599"/>
              </a:lnSpc>
              <a:spcBef>
                <a:spcPct val="0"/>
              </a:spcBef>
            </a:pPr>
            <a:r>
              <a:rPr lang="en-US" sz="3999">
                <a:solidFill>
                  <a:srgbClr val="EFF1E8"/>
                </a:solidFill>
                <a:latin typeface="Poppins"/>
                <a:ea typeface="Poppins"/>
                <a:cs typeface="Poppins"/>
                <a:sym typeface="Poppins"/>
              </a:rPr>
              <a:t>Author</a:t>
            </a:r>
          </a:p>
        </p:txBody>
      </p:sp>
      <p:sp>
        <p:nvSpPr>
          <p:cNvPr name="TextBox 22" id="22"/>
          <p:cNvSpPr txBox="true"/>
          <p:nvPr/>
        </p:nvSpPr>
        <p:spPr>
          <a:xfrm rot="0">
            <a:off x="6201771" y="7374555"/>
            <a:ext cx="11057529" cy="635000"/>
          </a:xfrm>
          <a:prstGeom prst="rect">
            <a:avLst/>
          </a:prstGeom>
        </p:spPr>
        <p:txBody>
          <a:bodyPr anchor="t" rtlCol="false" tIns="0" lIns="0" bIns="0" rIns="0">
            <a:spAutoFit/>
          </a:bodyPr>
          <a:lstStyle/>
          <a:p>
            <a:pPr algn="ctr">
              <a:lnSpc>
                <a:spcPts val="4900"/>
              </a:lnSpc>
              <a:spcBef>
                <a:spcPct val="0"/>
              </a:spcBef>
            </a:pPr>
            <a:r>
              <a:rPr lang="en-US" sz="3500">
                <a:solidFill>
                  <a:srgbClr val="EFF1E8"/>
                </a:solidFill>
                <a:latin typeface="Poppins"/>
                <a:ea typeface="Poppins"/>
                <a:cs typeface="Poppins"/>
                <a:sym typeface="Poppins"/>
              </a:rPr>
              <a:t>datascikhan</a:t>
            </a:r>
          </a:p>
        </p:txBody>
      </p:sp>
    </p:spTree>
  </p:cSld>
  <p:clrMapOvr>
    <a:masterClrMapping/>
  </p:clrMapOvr>
</p:sld>
</file>

<file path=ppt/slides/slide4.xml><?xml version="1.0" encoding="utf-8"?>
<p:sld xmlns:p="http://schemas.openxmlformats.org/presentationml/2006/main" xmlns:a="http://schemas.openxmlformats.org/drawingml/2006/main">
  <p:cSld>
    <p:bg>
      <p:bgPr>
        <a:solidFill>
          <a:srgbClr val="EFF1E8"/>
        </a:solidFill>
      </p:bgPr>
    </p:bg>
    <p:spTree>
      <p:nvGrpSpPr>
        <p:cNvPr id="1" name=""/>
        <p:cNvGrpSpPr/>
        <p:nvPr/>
      </p:nvGrpSpPr>
      <p:grpSpPr>
        <a:xfrm>
          <a:off x="0" y="0"/>
          <a:ext cx="0" cy="0"/>
          <a:chOff x="0" y="0"/>
          <a:chExt cx="0" cy="0"/>
        </a:xfrm>
      </p:grpSpPr>
      <p:grpSp>
        <p:nvGrpSpPr>
          <p:cNvPr name="Group 2" id="2"/>
          <p:cNvGrpSpPr/>
          <p:nvPr/>
        </p:nvGrpSpPr>
        <p:grpSpPr>
          <a:xfrm rot="0">
            <a:off x="689242" y="2080747"/>
            <a:ext cx="5067173" cy="1161447"/>
            <a:chOff x="0" y="0"/>
            <a:chExt cx="1334564" cy="305895"/>
          </a:xfrm>
        </p:grpSpPr>
        <p:sp>
          <p:nvSpPr>
            <p:cNvPr name="Freeform 3" id="3"/>
            <p:cNvSpPr/>
            <p:nvPr/>
          </p:nvSpPr>
          <p:spPr>
            <a:xfrm flipH="false" flipV="false" rot="0">
              <a:off x="0" y="0"/>
              <a:ext cx="1334564" cy="305895"/>
            </a:xfrm>
            <a:custGeom>
              <a:avLst/>
              <a:gdLst/>
              <a:ahLst/>
              <a:cxnLst/>
              <a:rect r="r" b="b" t="t" l="l"/>
              <a:pathLst>
                <a:path h="305895" w="1334564">
                  <a:moveTo>
                    <a:pt x="77921" y="0"/>
                  </a:moveTo>
                  <a:lnTo>
                    <a:pt x="1256643" y="0"/>
                  </a:lnTo>
                  <a:cubicBezTo>
                    <a:pt x="1299678" y="0"/>
                    <a:pt x="1334564" y="34886"/>
                    <a:pt x="1334564" y="77921"/>
                  </a:cubicBezTo>
                  <a:lnTo>
                    <a:pt x="1334564" y="227975"/>
                  </a:lnTo>
                  <a:cubicBezTo>
                    <a:pt x="1334564" y="271009"/>
                    <a:pt x="1299678" y="305895"/>
                    <a:pt x="1256643" y="305895"/>
                  </a:cubicBezTo>
                  <a:lnTo>
                    <a:pt x="77921" y="305895"/>
                  </a:lnTo>
                  <a:cubicBezTo>
                    <a:pt x="57255" y="305895"/>
                    <a:pt x="37435" y="297686"/>
                    <a:pt x="22822" y="283073"/>
                  </a:cubicBezTo>
                  <a:cubicBezTo>
                    <a:pt x="8209" y="268460"/>
                    <a:pt x="0" y="248641"/>
                    <a:pt x="0" y="227975"/>
                  </a:cubicBezTo>
                  <a:lnTo>
                    <a:pt x="0" y="77921"/>
                  </a:lnTo>
                  <a:cubicBezTo>
                    <a:pt x="0" y="34886"/>
                    <a:pt x="34886" y="0"/>
                    <a:pt x="77921" y="0"/>
                  </a:cubicBezTo>
                  <a:close/>
                </a:path>
              </a:pathLst>
            </a:custGeom>
            <a:solidFill>
              <a:srgbClr val="343734"/>
            </a:solidFill>
          </p:spPr>
        </p:sp>
        <p:sp>
          <p:nvSpPr>
            <p:cNvPr name="TextBox 4" id="4"/>
            <p:cNvSpPr txBox="true"/>
            <p:nvPr/>
          </p:nvSpPr>
          <p:spPr>
            <a:xfrm>
              <a:off x="0" y="-47625"/>
              <a:ext cx="1334564" cy="353520"/>
            </a:xfrm>
            <a:prstGeom prst="rect">
              <a:avLst/>
            </a:prstGeom>
          </p:spPr>
          <p:txBody>
            <a:bodyPr anchor="ctr" rtlCol="false" tIns="50800" lIns="50800" bIns="50800" rIns="50800"/>
            <a:lstStyle/>
            <a:p>
              <a:pPr algn="ctr">
                <a:lnSpc>
                  <a:spcPts val="3499"/>
                </a:lnSpc>
              </a:pPr>
            </a:p>
          </p:txBody>
        </p:sp>
      </p:grpSp>
      <p:grpSp>
        <p:nvGrpSpPr>
          <p:cNvPr name="Group 5" id="5"/>
          <p:cNvGrpSpPr/>
          <p:nvPr/>
        </p:nvGrpSpPr>
        <p:grpSpPr>
          <a:xfrm rot="0">
            <a:off x="6611167" y="2080747"/>
            <a:ext cx="5066672" cy="1161447"/>
            <a:chOff x="0" y="0"/>
            <a:chExt cx="1334432" cy="305895"/>
          </a:xfrm>
        </p:grpSpPr>
        <p:sp>
          <p:nvSpPr>
            <p:cNvPr name="Freeform 6" id="6"/>
            <p:cNvSpPr/>
            <p:nvPr/>
          </p:nvSpPr>
          <p:spPr>
            <a:xfrm flipH="false" flipV="false" rot="0">
              <a:off x="0" y="0"/>
              <a:ext cx="1334432" cy="305895"/>
            </a:xfrm>
            <a:custGeom>
              <a:avLst/>
              <a:gdLst/>
              <a:ahLst/>
              <a:cxnLst/>
              <a:rect r="r" b="b" t="t" l="l"/>
              <a:pathLst>
                <a:path h="305895" w="1334432">
                  <a:moveTo>
                    <a:pt x="77928" y="0"/>
                  </a:moveTo>
                  <a:lnTo>
                    <a:pt x="1256504" y="0"/>
                  </a:lnTo>
                  <a:cubicBezTo>
                    <a:pt x="1277172" y="0"/>
                    <a:pt x="1296993" y="8210"/>
                    <a:pt x="1311607" y="22825"/>
                  </a:cubicBezTo>
                  <a:cubicBezTo>
                    <a:pt x="1326222" y="37439"/>
                    <a:pt x="1334432" y="57261"/>
                    <a:pt x="1334432" y="77928"/>
                  </a:cubicBezTo>
                  <a:lnTo>
                    <a:pt x="1334432" y="227967"/>
                  </a:lnTo>
                  <a:cubicBezTo>
                    <a:pt x="1334432" y="248635"/>
                    <a:pt x="1326222" y="268456"/>
                    <a:pt x="1311607" y="283071"/>
                  </a:cubicBezTo>
                  <a:cubicBezTo>
                    <a:pt x="1296993" y="297685"/>
                    <a:pt x="1277172" y="305895"/>
                    <a:pt x="1256504" y="305895"/>
                  </a:cubicBezTo>
                  <a:lnTo>
                    <a:pt x="77928" y="305895"/>
                  </a:lnTo>
                  <a:cubicBezTo>
                    <a:pt x="57261" y="305895"/>
                    <a:pt x="37439" y="297685"/>
                    <a:pt x="22825" y="283071"/>
                  </a:cubicBezTo>
                  <a:cubicBezTo>
                    <a:pt x="8210" y="268456"/>
                    <a:pt x="0" y="248635"/>
                    <a:pt x="0" y="227967"/>
                  </a:cubicBezTo>
                  <a:lnTo>
                    <a:pt x="0" y="77928"/>
                  </a:lnTo>
                  <a:cubicBezTo>
                    <a:pt x="0" y="57261"/>
                    <a:pt x="8210" y="37439"/>
                    <a:pt x="22825" y="22825"/>
                  </a:cubicBezTo>
                  <a:cubicBezTo>
                    <a:pt x="37439" y="8210"/>
                    <a:pt x="57261" y="0"/>
                    <a:pt x="77928" y="0"/>
                  </a:cubicBezTo>
                  <a:close/>
                </a:path>
              </a:pathLst>
            </a:custGeom>
            <a:solidFill>
              <a:srgbClr val="343734"/>
            </a:solidFill>
          </p:spPr>
        </p:sp>
        <p:sp>
          <p:nvSpPr>
            <p:cNvPr name="TextBox 7" id="7"/>
            <p:cNvSpPr txBox="true"/>
            <p:nvPr/>
          </p:nvSpPr>
          <p:spPr>
            <a:xfrm>
              <a:off x="0" y="-47625"/>
              <a:ext cx="1334432" cy="353520"/>
            </a:xfrm>
            <a:prstGeom prst="rect">
              <a:avLst/>
            </a:prstGeom>
          </p:spPr>
          <p:txBody>
            <a:bodyPr anchor="ctr" rtlCol="false" tIns="50800" lIns="50800" bIns="50800" rIns="50800"/>
            <a:lstStyle/>
            <a:p>
              <a:pPr algn="ctr">
                <a:lnSpc>
                  <a:spcPts val="3499"/>
                </a:lnSpc>
              </a:pPr>
            </a:p>
          </p:txBody>
        </p:sp>
      </p:grpSp>
      <p:grpSp>
        <p:nvGrpSpPr>
          <p:cNvPr name="Group 8" id="8"/>
          <p:cNvGrpSpPr/>
          <p:nvPr/>
        </p:nvGrpSpPr>
        <p:grpSpPr>
          <a:xfrm rot="0">
            <a:off x="12532086" y="2080747"/>
            <a:ext cx="5066672" cy="1161447"/>
            <a:chOff x="0" y="0"/>
            <a:chExt cx="1334432" cy="305895"/>
          </a:xfrm>
        </p:grpSpPr>
        <p:sp>
          <p:nvSpPr>
            <p:cNvPr name="Freeform 9" id="9"/>
            <p:cNvSpPr/>
            <p:nvPr/>
          </p:nvSpPr>
          <p:spPr>
            <a:xfrm flipH="false" flipV="false" rot="0">
              <a:off x="0" y="0"/>
              <a:ext cx="1334432" cy="305895"/>
            </a:xfrm>
            <a:custGeom>
              <a:avLst/>
              <a:gdLst/>
              <a:ahLst/>
              <a:cxnLst/>
              <a:rect r="r" b="b" t="t" l="l"/>
              <a:pathLst>
                <a:path h="305895" w="1334432">
                  <a:moveTo>
                    <a:pt x="77928" y="0"/>
                  </a:moveTo>
                  <a:lnTo>
                    <a:pt x="1256504" y="0"/>
                  </a:lnTo>
                  <a:cubicBezTo>
                    <a:pt x="1277172" y="0"/>
                    <a:pt x="1296993" y="8210"/>
                    <a:pt x="1311607" y="22825"/>
                  </a:cubicBezTo>
                  <a:cubicBezTo>
                    <a:pt x="1326222" y="37439"/>
                    <a:pt x="1334432" y="57261"/>
                    <a:pt x="1334432" y="77928"/>
                  </a:cubicBezTo>
                  <a:lnTo>
                    <a:pt x="1334432" y="227967"/>
                  </a:lnTo>
                  <a:cubicBezTo>
                    <a:pt x="1334432" y="248635"/>
                    <a:pt x="1326222" y="268456"/>
                    <a:pt x="1311607" y="283071"/>
                  </a:cubicBezTo>
                  <a:cubicBezTo>
                    <a:pt x="1296993" y="297685"/>
                    <a:pt x="1277172" y="305895"/>
                    <a:pt x="1256504" y="305895"/>
                  </a:cubicBezTo>
                  <a:lnTo>
                    <a:pt x="77928" y="305895"/>
                  </a:lnTo>
                  <a:cubicBezTo>
                    <a:pt x="57261" y="305895"/>
                    <a:pt x="37439" y="297685"/>
                    <a:pt x="22825" y="283071"/>
                  </a:cubicBezTo>
                  <a:cubicBezTo>
                    <a:pt x="8210" y="268456"/>
                    <a:pt x="0" y="248635"/>
                    <a:pt x="0" y="227967"/>
                  </a:cubicBezTo>
                  <a:lnTo>
                    <a:pt x="0" y="77928"/>
                  </a:lnTo>
                  <a:cubicBezTo>
                    <a:pt x="0" y="57261"/>
                    <a:pt x="8210" y="37439"/>
                    <a:pt x="22825" y="22825"/>
                  </a:cubicBezTo>
                  <a:cubicBezTo>
                    <a:pt x="37439" y="8210"/>
                    <a:pt x="57261" y="0"/>
                    <a:pt x="77928" y="0"/>
                  </a:cubicBezTo>
                  <a:close/>
                </a:path>
              </a:pathLst>
            </a:custGeom>
            <a:solidFill>
              <a:srgbClr val="343734"/>
            </a:solidFill>
          </p:spPr>
        </p:sp>
        <p:sp>
          <p:nvSpPr>
            <p:cNvPr name="TextBox 10" id="10"/>
            <p:cNvSpPr txBox="true"/>
            <p:nvPr/>
          </p:nvSpPr>
          <p:spPr>
            <a:xfrm>
              <a:off x="0" y="-47625"/>
              <a:ext cx="1334432" cy="353520"/>
            </a:xfrm>
            <a:prstGeom prst="rect">
              <a:avLst/>
            </a:prstGeom>
          </p:spPr>
          <p:txBody>
            <a:bodyPr anchor="ctr" rtlCol="false" tIns="50800" lIns="50800" bIns="50800" rIns="50800"/>
            <a:lstStyle/>
            <a:p>
              <a:pPr algn="ctr">
                <a:lnSpc>
                  <a:spcPts val="3499"/>
                </a:lnSpc>
              </a:pPr>
            </a:p>
          </p:txBody>
        </p:sp>
      </p:grpSp>
      <p:graphicFrame>
        <p:nvGraphicFramePr>
          <p:cNvPr name="Table 11" id="11"/>
          <p:cNvGraphicFramePr>
            <a:graphicFrameLocks noGrp="true"/>
          </p:cNvGraphicFramePr>
          <p:nvPr/>
        </p:nvGraphicFramePr>
        <p:xfrm>
          <a:off x="689242" y="4013719"/>
          <a:ext cx="16909515" cy="5592206"/>
        </p:xfrm>
        <a:graphic>
          <a:graphicData uri="http://schemas.openxmlformats.org/drawingml/2006/table">
            <a:tbl>
              <a:tblPr/>
              <a:tblGrid>
                <a:gridCol w="3269214"/>
                <a:gridCol w="10187154"/>
                <a:gridCol w="3453147"/>
              </a:tblGrid>
              <a:tr h="1103149">
                <a:tc>
                  <a:txBody>
                    <a:bodyPr anchor="t" rtlCol="false"/>
                    <a:lstStyle/>
                    <a:p>
                      <a:pPr algn="ctr">
                        <a:lnSpc>
                          <a:spcPts val="4200"/>
                        </a:lnSpc>
                        <a:defRPr/>
                      </a:pPr>
                      <a:r>
                        <a:rPr lang="en-US" sz="3000" b="true">
                          <a:solidFill>
                            <a:srgbClr val="000000"/>
                          </a:solidFill>
                          <a:latin typeface="Canva Sans Bold"/>
                          <a:ea typeface="Canva Sans Bold"/>
                          <a:cs typeface="Canva Sans Bold"/>
                          <a:sym typeface="Canva Sans Bold"/>
                        </a:rPr>
                        <a:t>Kategori </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4200"/>
                        </a:lnSpc>
                        <a:defRPr/>
                      </a:pPr>
                      <a:r>
                        <a:rPr lang="en-US" sz="3000" b="true">
                          <a:solidFill>
                            <a:srgbClr val="000000"/>
                          </a:solidFill>
                          <a:latin typeface="Canva Sans Bold"/>
                          <a:ea typeface="Canva Sans Bold"/>
                          <a:cs typeface="Canva Sans Bold"/>
                          <a:sym typeface="Canva Sans Bold"/>
                        </a:rPr>
                        <a:t>Tipe Data</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4200"/>
                        </a:lnSpc>
                        <a:defRPr/>
                      </a:pPr>
                      <a:r>
                        <a:rPr lang="en-US" sz="3000" b="true">
                          <a:solidFill>
                            <a:srgbClr val="000000"/>
                          </a:solidFill>
                          <a:latin typeface="Canva Sans Bold"/>
                          <a:ea typeface="Canva Sans Bold"/>
                          <a:cs typeface="Canva Sans Bold"/>
                          <a:sym typeface="Canva Sans Bold"/>
                        </a:rPr>
                        <a:t>Nama Variabel / Kolom</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496353">
                <a:tc>
                  <a:txBody>
                    <a:bodyPr anchor="t" rtlCol="false"/>
                    <a:lstStyle/>
                    <a:p>
                      <a:pPr algn="ctr">
                        <a:lnSpc>
                          <a:spcPts val="3219"/>
                        </a:lnSpc>
                        <a:defRPr/>
                      </a:pPr>
                      <a:r>
                        <a:rPr lang="en-US" sz="2299">
                          <a:solidFill>
                            <a:srgbClr val="000000"/>
                          </a:solidFill>
                          <a:latin typeface="Canva Sans"/>
                          <a:ea typeface="Canva Sans"/>
                          <a:cs typeface="Canva Sans"/>
                          <a:sym typeface="Canva Sans"/>
                        </a:rPr>
                        <a:t>Demografi </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4200"/>
                        </a:lnSpc>
                        <a:defRPr/>
                      </a:pPr>
                      <a:r>
                        <a:rPr lang="en-US" sz="3000">
                          <a:solidFill>
                            <a:srgbClr val="000000"/>
                          </a:solidFill>
                          <a:latin typeface="Canva Sans"/>
                          <a:ea typeface="Canva Sans"/>
                          <a:cs typeface="Canva Sans"/>
                          <a:sym typeface="Canva Sans"/>
                        </a:rPr>
                        <a:t>int/str</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219"/>
                        </a:lnSpc>
                        <a:defRPr/>
                      </a:pPr>
                      <a:r>
                        <a:rPr lang="en-US" sz="2299">
                          <a:solidFill>
                            <a:srgbClr val="000000"/>
                          </a:solidFill>
                          <a:latin typeface="Canva Sans"/>
                          <a:ea typeface="Canva Sans"/>
                          <a:cs typeface="Canva Sans"/>
                          <a:sym typeface="Canva Sans"/>
                        </a:rPr>
                        <a:t>a</a:t>
                      </a:r>
                      <a:r>
                        <a:rPr lang="en-US" sz="2299">
                          <a:solidFill>
                            <a:srgbClr val="000000"/>
                          </a:solidFill>
                          <a:latin typeface="Canva Sans"/>
                          <a:ea typeface="Canva Sans"/>
                          <a:cs typeface="Canva Sans"/>
                          <a:sym typeface="Canva Sans"/>
                        </a:rPr>
                        <a:t>ge, gender, country, city, income_bracket, education_level, employment_type, marital_status </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496353">
                <a:tc>
                  <a:txBody>
                    <a:bodyPr anchor="t" rtlCol="false"/>
                    <a:lstStyle/>
                    <a:p>
                      <a:pPr algn="ctr">
                        <a:lnSpc>
                          <a:spcPts val="3219"/>
                        </a:lnSpc>
                        <a:defRPr/>
                      </a:pPr>
                      <a:r>
                        <a:rPr lang="en-US" sz="2299">
                          <a:solidFill>
                            <a:srgbClr val="000000"/>
                          </a:solidFill>
                          <a:latin typeface="Canva Sans"/>
                          <a:ea typeface="Canva Sans"/>
                          <a:cs typeface="Canva Sans"/>
                          <a:sym typeface="Canva Sans"/>
                        </a:rPr>
                        <a:t>Perilaku beli</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4200"/>
                        </a:lnSpc>
                        <a:defRPr/>
                      </a:pPr>
                      <a:r>
                        <a:rPr lang="en-US" sz="3000">
                          <a:solidFill>
                            <a:srgbClr val="000000"/>
                          </a:solidFill>
                          <a:latin typeface="Canva Sans"/>
                          <a:ea typeface="Canva Sans"/>
                          <a:cs typeface="Canva Sans"/>
                          <a:sym typeface="Canva Sans"/>
                        </a:rPr>
                        <a:t>int/float/str</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219"/>
                        </a:lnSpc>
                        <a:defRPr/>
                      </a:pPr>
                      <a:r>
                        <a:rPr lang="en-US" sz="2299">
                          <a:solidFill>
                            <a:srgbClr val="000000"/>
                          </a:solidFill>
                          <a:latin typeface="Canva Sans"/>
                          <a:ea typeface="Canva Sans"/>
                          <a:cs typeface="Canva Sans"/>
                          <a:sym typeface="Canva Sans"/>
                        </a:rPr>
                        <a:t>total_purchases, avg_order_value_usd, total_spent_usd, purchase_frequency, days_since_last_purchase </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496353">
                <a:tc>
                  <a:txBody>
                    <a:bodyPr anchor="t" rtlCol="false"/>
                    <a:lstStyle/>
                    <a:p>
                      <a:pPr algn="ctr">
                        <a:lnSpc>
                          <a:spcPts val="3219"/>
                        </a:lnSpc>
                        <a:defRPr/>
                      </a:pPr>
                      <a:r>
                        <a:rPr lang="en-US" sz="2299">
                          <a:solidFill>
                            <a:srgbClr val="000000"/>
                          </a:solidFill>
                          <a:latin typeface="Canva Sans"/>
                          <a:ea typeface="Canva Sans"/>
                          <a:cs typeface="Canva Sans"/>
                          <a:sym typeface="Canva Sans"/>
                        </a:rPr>
                        <a:t>Preferensi </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4200"/>
                        </a:lnSpc>
                        <a:defRPr/>
                      </a:pPr>
                      <a:r>
                        <a:rPr lang="en-US" sz="3000">
                          <a:solidFill>
                            <a:srgbClr val="000000"/>
                          </a:solidFill>
                          <a:latin typeface="Canva Sans"/>
                          <a:ea typeface="Canva Sans"/>
                          <a:cs typeface="Canva Sans"/>
                          <a:sym typeface="Canva Sans"/>
                        </a:rPr>
                        <a:t>str</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219"/>
                        </a:lnSpc>
                        <a:defRPr/>
                      </a:pPr>
                      <a:r>
                        <a:rPr lang="en-US" sz="2299">
                          <a:solidFill>
                            <a:srgbClr val="000000"/>
                          </a:solidFill>
                          <a:latin typeface="Canva Sans"/>
                          <a:ea typeface="Canva Sans"/>
                          <a:cs typeface="Canva Sans"/>
                          <a:sym typeface="Canva Sans"/>
                        </a:rPr>
                        <a:t>preferred_category_1/2/3, shopping_channel, device_used, payment_method </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bl>
          </a:graphicData>
        </a:graphic>
      </p:graphicFrame>
      <p:sp>
        <p:nvSpPr>
          <p:cNvPr name="TextBox 12" id="12"/>
          <p:cNvSpPr txBox="true"/>
          <p:nvPr/>
        </p:nvSpPr>
        <p:spPr>
          <a:xfrm rot="0">
            <a:off x="1400104" y="453708"/>
            <a:ext cx="15487792" cy="1245235"/>
          </a:xfrm>
          <a:prstGeom prst="rect">
            <a:avLst/>
          </a:prstGeom>
        </p:spPr>
        <p:txBody>
          <a:bodyPr anchor="t" rtlCol="false" tIns="0" lIns="0" bIns="0" rIns="0">
            <a:spAutoFit/>
          </a:bodyPr>
          <a:lstStyle/>
          <a:p>
            <a:pPr algn="ctr">
              <a:lnSpc>
                <a:spcPts val="9679"/>
              </a:lnSpc>
            </a:pPr>
            <a:r>
              <a:rPr lang="en-US" b="true" sz="8799">
                <a:solidFill>
                  <a:srgbClr val="343734"/>
                </a:solidFill>
                <a:latin typeface="Montserrat Bold"/>
                <a:ea typeface="Montserrat Bold"/>
                <a:cs typeface="Montserrat Bold"/>
                <a:sym typeface="Montserrat Bold"/>
              </a:rPr>
              <a:t>K</a:t>
            </a:r>
            <a:r>
              <a:rPr lang="en-US" b="true" sz="8799">
                <a:solidFill>
                  <a:srgbClr val="343734"/>
                </a:solidFill>
                <a:latin typeface="Montserrat Bold"/>
                <a:ea typeface="Montserrat Bold"/>
                <a:cs typeface="Montserrat Bold"/>
                <a:sym typeface="Montserrat Bold"/>
              </a:rPr>
              <a:t>onten &amp; Struktur </a:t>
            </a:r>
          </a:p>
        </p:txBody>
      </p:sp>
      <p:sp>
        <p:nvSpPr>
          <p:cNvPr name="TextBox 13" id="13"/>
          <p:cNvSpPr txBox="true"/>
          <p:nvPr/>
        </p:nvSpPr>
        <p:spPr>
          <a:xfrm rot="0">
            <a:off x="6722505" y="2188395"/>
            <a:ext cx="4843995" cy="879475"/>
          </a:xfrm>
          <a:prstGeom prst="rect">
            <a:avLst/>
          </a:prstGeom>
        </p:spPr>
        <p:txBody>
          <a:bodyPr anchor="t" rtlCol="false" tIns="0" lIns="0" bIns="0" rIns="0">
            <a:spAutoFit/>
          </a:bodyPr>
          <a:lstStyle/>
          <a:p>
            <a:pPr algn="ctr">
              <a:lnSpc>
                <a:spcPts val="3499"/>
              </a:lnSpc>
            </a:pPr>
            <a:r>
              <a:rPr lang="en-US" sz="2499">
                <a:solidFill>
                  <a:srgbClr val="EFF1E8"/>
                </a:solidFill>
                <a:latin typeface="Poppins"/>
                <a:ea typeface="Poppins"/>
                <a:cs typeface="Poppins"/>
                <a:sym typeface="Poppins"/>
              </a:rPr>
              <a:t>53 </a:t>
            </a:r>
          </a:p>
          <a:p>
            <a:pPr algn="ctr">
              <a:lnSpc>
                <a:spcPts val="3499"/>
              </a:lnSpc>
              <a:spcBef>
                <a:spcPct val="0"/>
              </a:spcBef>
            </a:pPr>
            <a:r>
              <a:rPr lang="en-US" sz="2499">
                <a:solidFill>
                  <a:srgbClr val="EFF1E8"/>
                </a:solidFill>
                <a:latin typeface="Poppins"/>
                <a:ea typeface="Poppins"/>
                <a:cs typeface="Poppins"/>
                <a:sym typeface="Poppins"/>
              </a:rPr>
              <a:t>Kolom</a:t>
            </a:r>
          </a:p>
        </p:txBody>
      </p:sp>
      <p:sp>
        <p:nvSpPr>
          <p:cNvPr name="TextBox 14" id="14"/>
          <p:cNvSpPr txBox="true"/>
          <p:nvPr/>
        </p:nvSpPr>
        <p:spPr>
          <a:xfrm rot="0">
            <a:off x="12639864" y="2407470"/>
            <a:ext cx="4843995" cy="441325"/>
          </a:xfrm>
          <a:prstGeom prst="rect">
            <a:avLst/>
          </a:prstGeom>
        </p:spPr>
        <p:txBody>
          <a:bodyPr anchor="t" rtlCol="false" tIns="0" lIns="0" bIns="0" rIns="0">
            <a:spAutoFit/>
          </a:bodyPr>
          <a:lstStyle/>
          <a:p>
            <a:pPr algn="ctr">
              <a:lnSpc>
                <a:spcPts val="3499"/>
              </a:lnSpc>
              <a:spcBef>
                <a:spcPct val="0"/>
              </a:spcBef>
            </a:pPr>
            <a:r>
              <a:rPr lang="en-US" sz="2499">
                <a:solidFill>
                  <a:srgbClr val="EFF1E8"/>
                </a:solidFill>
                <a:latin typeface="Poppins"/>
                <a:ea typeface="Poppins"/>
                <a:cs typeface="Poppins"/>
                <a:sym typeface="Poppins"/>
              </a:rPr>
              <a:t>Format CSV</a:t>
            </a:r>
          </a:p>
        </p:txBody>
      </p:sp>
      <p:sp>
        <p:nvSpPr>
          <p:cNvPr name="TextBox 15" id="15"/>
          <p:cNvSpPr txBox="true"/>
          <p:nvPr/>
        </p:nvSpPr>
        <p:spPr>
          <a:xfrm rot="0">
            <a:off x="689242" y="2188395"/>
            <a:ext cx="5064675" cy="879475"/>
          </a:xfrm>
          <a:prstGeom prst="rect">
            <a:avLst/>
          </a:prstGeom>
        </p:spPr>
        <p:txBody>
          <a:bodyPr anchor="t" rtlCol="false" tIns="0" lIns="0" bIns="0" rIns="0">
            <a:spAutoFit/>
          </a:bodyPr>
          <a:lstStyle/>
          <a:p>
            <a:pPr algn="ctr">
              <a:lnSpc>
                <a:spcPts val="3499"/>
              </a:lnSpc>
            </a:pPr>
            <a:r>
              <a:rPr lang="en-US" sz="2499">
                <a:solidFill>
                  <a:srgbClr val="EFF1E8"/>
                </a:solidFill>
                <a:latin typeface="Poppins"/>
                <a:ea typeface="Poppins"/>
                <a:cs typeface="Poppins"/>
                <a:sym typeface="Poppins"/>
              </a:rPr>
              <a:t>50.000 </a:t>
            </a:r>
          </a:p>
          <a:p>
            <a:pPr algn="ctr">
              <a:lnSpc>
                <a:spcPts val="3499"/>
              </a:lnSpc>
              <a:spcBef>
                <a:spcPct val="0"/>
              </a:spcBef>
            </a:pPr>
            <a:r>
              <a:rPr lang="en-US" sz="2499">
                <a:solidFill>
                  <a:srgbClr val="EFF1E8"/>
                </a:solidFill>
                <a:latin typeface="Poppins"/>
                <a:ea typeface="Poppins"/>
                <a:cs typeface="Poppins"/>
                <a:sym typeface="Poppins"/>
              </a:rPr>
              <a:t>Baris Pelanggan</a:t>
            </a:r>
          </a:p>
        </p:txBody>
      </p:sp>
    </p:spTree>
  </p:cSld>
  <p:clrMapOvr>
    <a:masterClrMapping/>
  </p:clrMapOvr>
</p:sld>
</file>

<file path=ppt/slides/slide5.xml><?xml version="1.0" encoding="utf-8"?>
<p:sld xmlns:p="http://schemas.openxmlformats.org/presentationml/2006/main" xmlns:a="http://schemas.openxmlformats.org/drawingml/2006/main">
  <p:cSld>
    <p:bg>
      <p:bgPr>
        <a:solidFill>
          <a:srgbClr val="EFF1E8"/>
        </a:solidFill>
      </p:bgPr>
    </p:bg>
    <p:spTree>
      <p:nvGrpSpPr>
        <p:cNvPr id="1" name=""/>
        <p:cNvGrpSpPr/>
        <p:nvPr/>
      </p:nvGrpSpPr>
      <p:grpSpPr>
        <a:xfrm>
          <a:off x="0" y="0"/>
          <a:ext cx="0" cy="0"/>
          <a:chOff x="0" y="0"/>
          <a:chExt cx="0" cy="0"/>
        </a:xfrm>
      </p:grpSpPr>
      <p:sp>
        <p:nvSpPr>
          <p:cNvPr name="TextBox 2" id="2"/>
          <p:cNvSpPr txBox="true"/>
          <p:nvPr/>
        </p:nvSpPr>
        <p:spPr>
          <a:xfrm rot="0">
            <a:off x="1400607" y="453708"/>
            <a:ext cx="15487792" cy="1245235"/>
          </a:xfrm>
          <a:prstGeom prst="rect">
            <a:avLst/>
          </a:prstGeom>
        </p:spPr>
        <p:txBody>
          <a:bodyPr anchor="t" rtlCol="false" tIns="0" lIns="0" bIns="0" rIns="0">
            <a:spAutoFit/>
          </a:bodyPr>
          <a:lstStyle/>
          <a:p>
            <a:pPr algn="ctr">
              <a:lnSpc>
                <a:spcPts val="9679"/>
              </a:lnSpc>
            </a:pPr>
            <a:r>
              <a:rPr lang="en-US" b="true" sz="8799">
                <a:solidFill>
                  <a:srgbClr val="343734"/>
                </a:solidFill>
                <a:latin typeface="Montserrat Bold"/>
                <a:ea typeface="Montserrat Bold"/>
                <a:cs typeface="Montserrat Bold"/>
                <a:sym typeface="Montserrat Bold"/>
              </a:rPr>
              <a:t>K</a:t>
            </a:r>
            <a:r>
              <a:rPr lang="en-US" b="true" sz="8799">
                <a:solidFill>
                  <a:srgbClr val="343734"/>
                </a:solidFill>
                <a:latin typeface="Montserrat Bold"/>
                <a:ea typeface="Montserrat Bold"/>
                <a:cs typeface="Montserrat Bold"/>
                <a:sym typeface="Montserrat Bold"/>
              </a:rPr>
              <a:t>onten &amp; Struktur </a:t>
            </a:r>
          </a:p>
        </p:txBody>
      </p:sp>
      <p:graphicFrame>
        <p:nvGraphicFramePr>
          <p:cNvPr name="Table 3" id="3"/>
          <p:cNvGraphicFramePr>
            <a:graphicFrameLocks noGrp="true"/>
          </p:cNvGraphicFramePr>
          <p:nvPr/>
        </p:nvGraphicFramePr>
        <p:xfrm>
          <a:off x="689745" y="2457063"/>
          <a:ext cx="16909515" cy="6859031"/>
        </p:xfrm>
        <a:graphic>
          <a:graphicData uri="http://schemas.openxmlformats.org/drawingml/2006/table">
            <a:tbl>
              <a:tblPr/>
              <a:tblGrid>
                <a:gridCol w="3269214"/>
                <a:gridCol w="10187154"/>
                <a:gridCol w="3453147"/>
              </a:tblGrid>
              <a:tr h="1101753">
                <a:tc>
                  <a:txBody>
                    <a:bodyPr anchor="t" rtlCol="false"/>
                    <a:lstStyle/>
                    <a:p>
                      <a:pPr algn="ctr">
                        <a:lnSpc>
                          <a:spcPts val="4200"/>
                        </a:lnSpc>
                        <a:defRPr/>
                      </a:pPr>
                      <a:r>
                        <a:rPr lang="en-US" sz="3000" b="true">
                          <a:solidFill>
                            <a:srgbClr val="000000"/>
                          </a:solidFill>
                          <a:latin typeface="Canva Sans Bold"/>
                          <a:ea typeface="Canva Sans Bold"/>
                          <a:cs typeface="Canva Sans Bold"/>
                          <a:sym typeface="Canva Sans Bold"/>
                        </a:rPr>
                        <a:t>Kategori </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4200"/>
                        </a:lnSpc>
                        <a:defRPr/>
                      </a:pPr>
                      <a:r>
                        <a:rPr lang="en-US" sz="3000" b="true">
                          <a:solidFill>
                            <a:srgbClr val="000000"/>
                          </a:solidFill>
                          <a:latin typeface="Canva Sans Bold"/>
                          <a:ea typeface="Canva Sans Bold"/>
                          <a:cs typeface="Canva Sans Bold"/>
                          <a:sym typeface="Canva Sans Bold"/>
                        </a:rPr>
                        <a:t>Nama Variabel / Kolom</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4200"/>
                        </a:lnSpc>
                        <a:defRPr/>
                      </a:pPr>
                      <a:r>
                        <a:rPr lang="en-US" sz="3000" b="true">
                          <a:solidFill>
                            <a:srgbClr val="000000"/>
                          </a:solidFill>
                          <a:latin typeface="Canva Sans Bold"/>
                          <a:ea typeface="Canva Sans Bold"/>
                          <a:cs typeface="Canva Sans Bold"/>
                          <a:sym typeface="Canva Sans Bold"/>
                        </a:rPr>
                        <a:t>Tipe Data</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273901">
                <a:tc>
                  <a:txBody>
                    <a:bodyPr anchor="t" rtlCol="false"/>
                    <a:lstStyle/>
                    <a:p>
                      <a:pPr algn="ctr">
                        <a:lnSpc>
                          <a:spcPts val="3219"/>
                        </a:lnSpc>
                        <a:defRPr/>
                      </a:pPr>
                      <a:r>
                        <a:rPr lang="en-US" sz="2299">
                          <a:solidFill>
                            <a:srgbClr val="000000"/>
                          </a:solidFill>
                          <a:latin typeface="Canva Sans"/>
                          <a:ea typeface="Canva Sans"/>
                          <a:cs typeface="Canva Sans"/>
                          <a:sym typeface="Canva Sans"/>
                        </a:rPr>
                        <a:t>Engagement </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219"/>
                        </a:lnSpc>
                        <a:defRPr/>
                      </a:pPr>
                      <a:r>
                        <a:rPr lang="en-US" sz="2299">
                          <a:solidFill>
                            <a:srgbClr val="000000"/>
                          </a:solidFill>
                          <a:latin typeface="Canva Sans"/>
                          <a:ea typeface="Canva Sans"/>
                          <a:cs typeface="Canva Sans"/>
                          <a:sym typeface="Canva Sans"/>
                        </a:rPr>
                        <a:t>email_op</a:t>
                      </a:r>
                      <a:r>
                        <a:rPr lang="en-US" sz="2299">
                          <a:solidFill>
                            <a:srgbClr val="000000"/>
                          </a:solidFill>
                          <a:latin typeface="Canva Sans"/>
                          <a:ea typeface="Canva Sans"/>
                          <a:cs typeface="Canva Sans"/>
                          <a:sym typeface="Canva Sans"/>
                        </a:rPr>
                        <a:t>en_rate, click_through_rate, conversion_rate, satisfaction_score, loyalty_tier</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4200"/>
                        </a:lnSpc>
                        <a:defRPr/>
                      </a:pPr>
                      <a:r>
                        <a:rPr lang="en-US" sz="3000">
                          <a:solidFill>
                            <a:srgbClr val="000000"/>
                          </a:solidFill>
                          <a:latin typeface="Canva Sans"/>
                          <a:ea typeface="Canva Sans"/>
                          <a:cs typeface="Canva Sans"/>
                          <a:sym typeface="Canva Sans"/>
                        </a:rPr>
                        <a:t>float/int/str</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494459">
                <a:tc>
                  <a:txBody>
                    <a:bodyPr anchor="t" rtlCol="false"/>
                    <a:lstStyle/>
                    <a:p>
                      <a:pPr algn="ctr">
                        <a:lnSpc>
                          <a:spcPts val="3219"/>
                        </a:lnSpc>
                        <a:defRPr/>
                      </a:pPr>
                      <a:r>
                        <a:rPr lang="en-US" sz="2299">
                          <a:solidFill>
                            <a:srgbClr val="000000"/>
                          </a:solidFill>
                          <a:latin typeface="Canva Sans"/>
                          <a:ea typeface="Canva Sans"/>
                          <a:cs typeface="Canva Sans"/>
                          <a:sym typeface="Canva Sans"/>
                        </a:rPr>
                        <a:t>RFM &amp; value</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219"/>
                        </a:lnSpc>
                        <a:defRPr/>
                      </a:pPr>
                      <a:r>
                        <a:rPr lang="en-US" sz="2299">
                          <a:solidFill>
                            <a:srgbClr val="000000"/>
                          </a:solidFill>
                          <a:latin typeface="Canva Sans"/>
                          <a:ea typeface="Canva Sans"/>
                          <a:cs typeface="Canva Sans"/>
                          <a:sym typeface="Canva Sans"/>
                        </a:rPr>
                        <a:t>recency_score, frequency_score, monetary_score, rfm_score, rfm_category </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4200"/>
                        </a:lnSpc>
                        <a:defRPr/>
                      </a:pPr>
                      <a:r>
                        <a:rPr lang="en-US" sz="3000">
                          <a:solidFill>
                            <a:srgbClr val="000000"/>
                          </a:solidFill>
                          <a:latin typeface="Canva Sans"/>
                          <a:ea typeface="Canva Sans"/>
                          <a:cs typeface="Canva Sans"/>
                          <a:sym typeface="Canva Sans"/>
                        </a:rPr>
                        <a:t>int/str</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494459">
                <a:tc>
                  <a:txBody>
                    <a:bodyPr anchor="t" rtlCol="false"/>
                    <a:lstStyle/>
                    <a:p>
                      <a:pPr algn="ctr">
                        <a:lnSpc>
                          <a:spcPts val="3219"/>
                        </a:lnSpc>
                        <a:defRPr/>
                      </a:pPr>
                      <a:r>
                        <a:rPr lang="en-US" sz="2299">
                          <a:solidFill>
                            <a:srgbClr val="000000"/>
                          </a:solidFill>
                          <a:latin typeface="Canva Sans"/>
                          <a:ea typeface="Canva Sans"/>
                          <a:cs typeface="Canva Sans"/>
                          <a:sym typeface="Canva Sans"/>
                        </a:rPr>
                        <a:t>Finansial </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219"/>
                        </a:lnSpc>
                        <a:defRPr/>
                      </a:pPr>
                      <a:r>
                        <a:rPr lang="en-US" sz="2299">
                          <a:solidFill>
                            <a:srgbClr val="000000"/>
                          </a:solidFill>
                          <a:latin typeface="Canva Sans"/>
                          <a:ea typeface="Canva Sans"/>
                          <a:cs typeface="Canva Sans"/>
                          <a:sym typeface="Canva Sans"/>
                        </a:rPr>
                        <a:t>customer_lifetime_value_usd, customer_acquisition_cost_usd, customer_profitability_usd </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4200"/>
                        </a:lnSpc>
                        <a:defRPr/>
                      </a:pPr>
                      <a:r>
                        <a:rPr lang="en-US" sz="3000">
                          <a:solidFill>
                            <a:srgbClr val="000000"/>
                          </a:solidFill>
                          <a:latin typeface="Canva Sans"/>
                          <a:ea typeface="Canva Sans"/>
                          <a:cs typeface="Canva Sans"/>
                          <a:sym typeface="Canva Sans"/>
                        </a:rPr>
                        <a:t>float</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494459">
                <a:tc>
                  <a:txBody>
                    <a:bodyPr anchor="t" rtlCol="false"/>
                    <a:lstStyle/>
                    <a:p>
                      <a:pPr algn="ctr">
                        <a:lnSpc>
                          <a:spcPts val="3219"/>
                        </a:lnSpc>
                        <a:defRPr/>
                      </a:pPr>
                      <a:r>
                        <a:rPr lang="en-US" sz="2299">
                          <a:solidFill>
                            <a:srgbClr val="000000"/>
                          </a:solidFill>
                          <a:latin typeface="Canva Sans"/>
                          <a:ea typeface="Canva Sans"/>
                          <a:cs typeface="Canva Sans"/>
                          <a:sym typeface="Canva Sans"/>
                        </a:rPr>
                        <a:t>Label/kategori turunan </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219"/>
                        </a:lnSpc>
                        <a:defRPr/>
                      </a:pPr>
                      <a:r>
                        <a:rPr lang="en-US" sz="2299">
                          <a:solidFill>
                            <a:srgbClr val="000000"/>
                          </a:solidFill>
                          <a:latin typeface="Canva Sans"/>
                          <a:ea typeface="Canva Sans"/>
                          <a:cs typeface="Canva Sans"/>
                          <a:sym typeface="Canva Sans"/>
                        </a:rPr>
                        <a:t>customer_segment, segment_category, churn_risk_category, clv_category, engagement_level, behavior_segment </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4200"/>
                        </a:lnSpc>
                        <a:defRPr/>
                      </a:pPr>
                      <a:r>
                        <a:rPr lang="en-US" sz="3000">
                          <a:solidFill>
                            <a:srgbClr val="000000"/>
                          </a:solidFill>
                          <a:latin typeface="Canva Sans"/>
                          <a:ea typeface="Canva Sans"/>
                          <a:cs typeface="Canva Sans"/>
                          <a:sym typeface="Canva Sans"/>
                        </a:rPr>
                        <a:t>str</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bl>
          </a:graphicData>
        </a:graphic>
      </p:graphicFrame>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70A1BD"/>
        </a:solidFill>
      </p:bgPr>
    </p:bg>
    <p:spTree>
      <p:nvGrpSpPr>
        <p:cNvPr id="1" name=""/>
        <p:cNvGrpSpPr/>
        <p:nvPr/>
      </p:nvGrpSpPr>
      <p:grpSpPr>
        <a:xfrm>
          <a:off x="0" y="0"/>
          <a:ext cx="0" cy="0"/>
          <a:chOff x="0" y="0"/>
          <a:chExt cx="0" cy="0"/>
        </a:xfrm>
      </p:grpSpPr>
      <p:sp>
        <p:nvSpPr>
          <p:cNvPr name="Freeform 2" id="2"/>
          <p:cNvSpPr/>
          <p:nvPr/>
        </p:nvSpPr>
        <p:spPr>
          <a:xfrm flipH="true" flipV="true" rot="0">
            <a:off x="16113698" y="1028700"/>
            <a:ext cx="1145602" cy="1145602"/>
          </a:xfrm>
          <a:custGeom>
            <a:avLst/>
            <a:gdLst/>
            <a:ahLst/>
            <a:cxnLst/>
            <a:rect r="r" b="b" t="t" l="l"/>
            <a:pathLst>
              <a:path h="1145602" w="1145602">
                <a:moveTo>
                  <a:pt x="1145602" y="1145602"/>
                </a:moveTo>
                <a:lnTo>
                  <a:pt x="0" y="1145602"/>
                </a:lnTo>
                <a:lnTo>
                  <a:pt x="0" y="0"/>
                </a:lnTo>
                <a:lnTo>
                  <a:pt x="1145602" y="0"/>
                </a:lnTo>
                <a:lnTo>
                  <a:pt x="1145602" y="1145602"/>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028700" y="1123950"/>
            <a:ext cx="14608693" cy="1245235"/>
          </a:xfrm>
          <a:prstGeom prst="rect">
            <a:avLst/>
          </a:prstGeom>
        </p:spPr>
        <p:txBody>
          <a:bodyPr anchor="t" rtlCol="false" tIns="0" lIns="0" bIns="0" rIns="0">
            <a:spAutoFit/>
          </a:bodyPr>
          <a:lstStyle/>
          <a:p>
            <a:pPr algn="l">
              <a:lnSpc>
                <a:spcPts val="9679"/>
              </a:lnSpc>
            </a:pPr>
            <a:r>
              <a:rPr lang="en-US" b="true" sz="8799">
                <a:solidFill>
                  <a:srgbClr val="EFF1E8"/>
                </a:solidFill>
                <a:latin typeface="Montserrat Bold"/>
                <a:ea typeface="Montserrat Bold"/>
                <a:cs typeface="Montserrat Bold"/>
                <a:sym typeface="Montserrat Bold"/>
              </a:rPr>
              <a:t>Potensi Analisis</a:t>
            </a:r>
          </a:p>
        </p:txBody>
      </p:sp>
      <p:sp>
        <p:nvSpPr>
          <p:cNvPr name="TextBox 4" id="4"/>
          <p:cNvSpPr txBox="true"/>
          <p:nvPr/>
        </p:nvSpPr>
        <p:spPr>
          <a:xfrm rot="0">
            <a:off x="1028700" y="2927689"/>
            <a:ext cx="12111707" cy="635000"/>
          </a:xfrm>
          <a:prstGeom prst="rect">
            <a:avLst/>
          </a:prstGeom>
        </p:spPr>
        <p:txBody>
          <a:bodyPr anchor="t" rtlCol="false" tIns="0" lIns="0" bIns="0" rIns="0">
            <a:spAutoFit/>
          </a:bodyPr>
          <a:lstStyle/>
          <a:p>
            <a:pPr algn="l">
              <a:lnSpc>
                <a:spcPts val="4900"/>
              </a:lnSpc>
              <a:spcBef>
                <a:spcPct val="0"/>
              </a:spcBef>
            </a:pPr>
            <a:r>
              <a:rPr lang="en-US" b="true" sz="3500">
                <a:solidFill>
                  <a:srgbClr val="EFF1E8"/>
                </a:solidFill>
                <a:latin typeface="Poppins Bold"/>
                <a:ea typeface="Poppins Bold"/>
                <a:cs typeface="Poppins Bold"/>
                <a:sym typeface="Poppins Bold"/>
              </a:rPr>
              <a:t>1. </a:t>
            </a:r>
            <a:r>
              <a:rPr lang="en-US" b="true" sz="3500">
                <a:solidFill>
                  <a:srgbClr val="EFF1E8"/>
                </a:solidFill>
                <a:latin typeface="Poppins Bold"/>
                <a:ea typeface="Poppins Bold"/>
                <a:cs typeface="Poppins Bold"/>
                <a:sym typeface="Poppins Bold"/>
              </a:rPr>
              <a:t>Analisis Segmentasi Pelanggan (Clustering)</a:t>
            </a:r>
          </a:p>
        </p:txBody>
      </p:sp>
      <p:sp>
        <p:nvSpPr>
          <p:cNvPr name="TextBox 5" id="5"/>
          <p:cNvSpPr txBox="true"/>
          <p:nvPr/>
        </p:nvSpPr>
        <p:spPr>
          <a:xfrm rot="0">
            <a:off x="1028700" y="3796047"/>
            <a:ext cx="14411142" cy="5876925"/>
          </a:xfrm>
          <a:prstGeom prst="rect">
            <a:avLst/>
          </a:prstGeom>
        </p:spPr>
        <p:txBody>
          <a:bodyPr anchor="t" rtlCol="false" tIns="0" lIns="0" bIns="0" rIns="0">
            <a:spAutoFit/>
          </a:bodyPr>
          <a:lstStyle/>
          <a:p>
            <a:pPr algn="l">
              <a:lnSpc>
                <a:spcPts val="4200"/>
              </a:lnSpc>
              <a:spcBef>
                <a:spcPct val="0"/>
              </a:spcBef>
            </a:pPr>
            <a:r>
              <a:rPr lang="en-US" b="true" sz="3000">
                <a:solidFill>
                  <a:srgbClr val="EFF1E8"/>
                </a:solidFill>
                <a:latin typeface="Poppins Bold"/>
                <a:ea typeface="Poppins Bold"/>
                <a:cs typeface="Poppins Bold"/>
                <a:sym typeface="Poppins Bold"/>
              </a:rPr>
              <a:t>Kolom yang digunakan:</a:t>
            </a:r>
            <a:r>
              <a:rPr lang="en-US" sz="3000">
                <a:solidFill>
                  <a:srgbClr val="EFF1E8"/>
                </a:solidFill>
                <a:latin typeface="Poppins"/>
                <a:ea typeface="Poppins"/>
                <a:cs typeface="Poppins"/>
                <a:sym typeface="Poppins"/>
              </a:rPr>
              <a:t> days_si</a:t>
            </a:r>
            <a:r>
              <a:rPr lang="en-US" sz="3000">
                <a:solidFill>
                  <a:srgbClr val="EFF1E8"/>
                </a:solidFill>
                <a:latin typeface="Poppins"/>
                <a:ea typeface="Poppins"/>
                <a:cs typeface="Poppins"/>
                <a:sym typeface="Poppins"/>
              </a:rPr>
              <a:t>nce_last_purchase + total_purchases + total_spent_usd</a:t>
            </a:r>
          </a:p>
          <a:p>
            <a:pPr algn="l">
              <a:lnSpc>
                <a:spcPts val="4200"/>
              </a:lnSpc>
              <a:spcBef>
                <a:spcPct val="0"/>
              </a:spcBef>
            </a:pPr>
          </a:p>
          <a:p>
            <a:pPr algn="l">
              <a:lnSpc>
                <a:spcPts val="4200"/>
              </a:lnSpc>
              <a:spcBef>
                <a:spcPct val="0"/>
              </a:spcBef>
            </a:pPr>
            <a:r>
              <a:rPr lang="en-US" b="true" sz="3000">
                <a:solidFill>
                  <a:srgbClr val="EFF1E8"/>
                </a:solidFill>
                <a:latin typeface="Poppins Bold"/>
                <a:ea typeface="Poppins Bold"/>
                <a:cs typeface="Poppins Bold"/>
                <a:sym typeface="Poppins Bold"/>
              </a:rPr>
              <a:t>Analisis:</a:t>
            </a:r>
            <a:r>
              <a:rPr lang="en-US" sz="3000">
                <a:solidFill>
                  <a:srgbClr val="EFF1E8"/>
                </a:solidFill>
                <a:latin typeface="Poppins"/>
                <a:ea typeface="Poppins"/>
                <a:cs typeface="Poppins"/>
                <a:sym typeface="Poppins"/>
              </a:rPr>
              <a:t> Mengelompokkan pelanggan menjadi 3 kategori:</a:t>
            </a:r>
          </a:p>
          <a:p>
            <a:pPr algn="l" marL="647700" indent="-323850" lvl="1">
              <a:lnSpc>
                <a:spcPts val="4200"/>
              </a:lnSpc>
              <a:spcBef>
                <a:spcPct val="0"/>
              </a:spcBef>
              <a:buFont typeface="Arial"/>
              <a:buChar char="•"/>
            </a:pPr>
            <a:r>
              <a:rPr lang="en-US" sz="3000">
                <a:solidFill>
                  <a:srgbClr val="EFF1E8"/>
                </a:solidFill>
                <a:latin typeface="Poppins"/>
                <a:ea typeface="Poppins"/>
                <a:cs typeface="Poppins"/>
                <a:sym typeface="Poppins"/>
              </a:rPr>
              <a:t>Loyal aktif</a:t>
            </a:r>
          </a:p>
          <a:p>
            <a:pPr algn="l" marL="647700" indent="-323850" lvl="1">
              <a:lnSpc>
                <a:spcPts val="4200"/>
              </a:lnSpc>
              <a:spcBef>
                <a:spcPct val="0"/>
              </a:spcBef>
              <a:buFont typeface="Arial"/>
              <a:buChar char="•"/>
            </a:pPr>
            <a:r>
              <a:rPr lang="en-US" sz="3000">
                <a:solidFill>
                  <a:srgbClr val="EFF1E8"/>
                </a:solidFill>
                <a:latin typeface="Poppins"/>
                <a:ea typeface="Poppins"/>
                <a:cs typeface="Poppins"/>
                <a:sym typeface="Poppins"/>
              </a:rPr>
              <a:t>Aktif</a:t>
            </a:r>
          </a:p>
          <a:p>
            <a:pPr algn="l" marL="647700" indent="-323850" lvl="1">
              <a:lnSpc>
                <a:spcPts val="4200"/>
              </a:lnSpc>
              <a:spcBef>
                <a:spcPct val="0"/>
              </a:spcBef>
              <a:buFont typeface="Arial"/>
              <a:buChar char="•"/>
            </a:pPr>
            <a:r>
              <a:rPr lang="en-US" sz="3000">
                <a:solidFill>
                  <a:srgbClr val="EFF1E8"/>
                </a:solidFill>
                <a:latin typeface="Poppins"/>
                <a:ea typeface="Poppins"/>
                <a:cs typeface="Poppins"/>
                <a:sym typeface="Poppins"/>
              </a:rPr>
              <a:t>Low/kurang aktif</a:t>
            </a:r>
          </a:p>
          <a:p>
            <a:pPr algn="l">
              <a:lnSpc>
                <a:spcPts val="4200"/>
              </a:lnSpc>
              <a:spcBef>
                <a:spcPct val="0"/>
              </a:spcBef>
            </a:pPr>
          </a:p>
          <a:p>
            <a:pPr algn="l">
              <a:lnSpc>
                <a:spcPts val="4200"/>
              </a:lnSpc>
              <a:spcBef>
                <a:spcPct val="0"/>
              </a:spcBef>
            </a:pPr>
            <a:r>
              <a:rPr lang="en-US" b="true" sz="3000">
                <a:solidFill>
                  <a:srgbClr val="EFF1E8"/>
                </a:solidFill>
                <a:latin typeface="Poppins Bold"/>
                <a:ea typeface="Poppins Bold"/>
                <a:cs typeface="Poppins Bold"/>
                <a:sym typeface="Poppins Bold"/>
              </a:rPr>
              <a:t>Insight:</a:t>
            </a:r>
            <a:r>
              <a:rPr lang="en-US" sz="3000">
                <a:solidFill>
                  <a:srgbClr val="EFF1E8"/>
                </a:solidFill>
                <a:latin typeface="Poppins"/>
                <a:ea typeface="Poppins"/>
                <a:cs typeface="Poppins"/>
                <a:sym typeface="Poppins"/>
              </a:rPr>
              <a:t> Tim marketing dapat membuat strategi diskon yang berbeda untuk setiap kelompok</a:t>
            </a:r>
          </a:p>
          <a:p>
            <a:pPr algn="l">
              <a:lnSpc>
                <a:spcPts val="4200"/>
              </a:lnSpc>
              <a:spcBef>
                <a:spcPct val="0"/>
              </a:spcBef>
            </a:pP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70A1BD"/>
        </a:solidFill>
      </p:bgPr>
    </p:bg>
    <p:spTree>
      <p:nvGrpSpPr>
        <p:cNvPr id="1" name=""/>
        <p:cNvGrpSpPr/>
        <p:nvPr/>
      </p:nvGrpSpPr>
      <p:grpSpPr>
        <a:xfrm>
          <a:off x="0" y="0"/>
          <a:ext cx="0" cy="0"/>
          <a:chOff x="0" y="0"/>
          <a:chExt cx="0" cy="0"/>
        </a:xfrm>
      </p:grpSpPr>
      <p:sp>
        <p:nvSpPr>
          <p:cNvPr name="Freeform 2" id="2"/>
          <p:cNvSpPr/>
          <p:nvPr/>
        </p:nvSpPr>
        <p:spPr>
          <a:xfrm flipH="true" flipV="true" rot="0">
            <a:off x="16113698" y="1028700"/>
            <a:ext cx="1145602" cy="1145602"/>
          </a:xfrm>
          <a:custGeom>
            <a:avLst/>
            <a:gdLst/>
            <a:ahLst/>
            <a:cxnLst/>
            <a:rect r="r" b="b" t="t" l="l"/>
            <a:pathLst>
              <a:path h="1145602" w="1145602">
                <a:moveTo>
                  <a:pt x="1145602" y="1145602"/>
                </a:moveTo>
                <a:lnTo>
                  <a:pt x="0" y="1145602"/>
                </a:lnTo>
                <a:lnTo>
                  <a:pt x="0" y="0"/>
                </a:lnTo>
                <a:lnTo>
                  <a:pt x="1145602" y="0"/>
                </a:lnTo>
                <a:lnTo>
                  <a:pt x="1145602" y="1145602"/>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028700" y="1123950"/>
            <a:ext cx="14608693" cy="1245235"/>
          </a:xfrm>
          <a:prstGeom prst="rect">
            <a:avLst/>
          </a:prstGeom>
        </p:spPr>
        <p:txBody>
          <a:bodyPr anchor="t" rtlCol="false" tIns="0" lIns="0" bIns="0" rIns="0">
            <a:spAutoFit/>
          </a:bodyPr>
          <a:lstStyle/>
          <a:p>
            <a:pPr algn="l">
              <a:lnSpc>
                <a:spcPts val="9679"/>
              </a:lnSpc>
            </a:pPr>
            <a:r>
              <a:rPr lang="en-US" b="true" sz="8799">
                <a:solidFill>
                  <a:srgbClr val="EFF1E8"/>
                </a:solidFill>
                <a:latin typeface="Montserrat Bold"/>
                <a:ea typeface="Montserrat Bold"/>
                <a:cs typeface="Montserrat Bold"/>
                <a:sym typeface="Montserrat Bold"/>
              </a:rPr>
              <a:t>Potensi Analisis</a:t>
            </a:r>
          </a:p>
        </p:txBody>
      </p:sp>
      <p:sp>
        <p:nvSpPr>
          <p:cNvPr name="TextBox 4" id="4"/>
          <p:cNvSpPr txBox="true"/>
          <p:nvPr/>
        </p:nvSpPr>
        <p:spPr>
          <a:xfrm rot="0">
            <a:off x="1028700" y="2927689"/>
            <a:ext cx="15084998" cy="1254125"/>
          </a:xfrm>
          <a:prstGeom prst="rect">
            <a:avLst/>
          </a:prstGeom>
        </p:spPr>
        <p:txBody>
          <a:bodyPr anchor="t" rtlCol="false" tIns="0" lIns="0" bIns="0" rIns="0">
            <a:spAutoFit/>
          </a:bodyPr>
          <a:lstStyle/>
          <a:p>
            <a:pPr algn="l">
              <a:lnSpc>
                <a:spcPts val="4900"/>
              </a:lnSpc>
              <a:spcBef>
                <a:spcPct val="0"/>
              </a:spcBef>
            </a:pPr>
            <a:r>
              <a:rPr lang="en-US" b="true" sz="3500">
                <a:solidFill>
                  <a:srgbClr val="EFF1E8"/>
                </a:solidFill>
                <a:latin typeface="Poppins Bold"/>
                <a:ea typeface="Poppins Bold"/>
                <a:cs typeface="Poppins Bold"/>
                <a:sym typeface="Poppins Bold"/>
              </a:rPr>
              <a:t>2. </a:t>
            </a:r>
            <a:r>
              <a:rPr lang="en-US" b="true" sz="3500">
                <a:solidFill>
                  <a:srgbClr val="EFF1E8"/>
                </a:solidFill>
                <a:latin typeface="Poppins Bold"/>
                <a:ea typeface="Poppins Bold"/>
                <a:cs typeface="Poppins Bold"/>
                <a:sym typeface="Poppins Bold"/>
              </a:rPr>
              <a:t>Analisis Berdasarkan Usia dan Frekuensi Belanja (Visualisasi Tren)</a:t>
            </a:r>
          </a:p>
        </p:txBody>
      </p:sp>
      <p:sp>
        <p:nvSpPr>
          <p:cNvPr name="TextBox 5" id="5"/>
          <p:cNvSpPr txBox="true"/>
          <p:nvPr/>
        </p:nvSpPr>
        <p:spPr>
          <a:xfrm rot="0">
            <a:off x="1028700" y="4448175"/>
            <a:ext cx="15084998" cy="4810125"/>
          </a:xfrm>
          <a:prstGeom prst="rect">
            <a:avLst/>
          </a:prstGeom>
        </p:spPr>
        <p:txBody>
          <a:bodyPr anchor="t" rtlCol="false" tIns="0" lIns="0" bIns="0" rIns="0">
            <a:spAutoFit/>
          </a:bodyPr>
          <a:lstStyle/>
          <a:p>
            <a:pPr algn="l">
              <a:lnSpc>
                <a:spcPts val="4200"/>
              </a:lnSpc>
              <a:spcBef>
                <a:spcPct val="0"/>
              </a:spcBef>
            </a:pPr>
            <a:r>
              <a:rPr lang="en-US" b="true" sz="3000">
                <a:solidFill>
                  <a:srgbClr val="EFF1E8"/>
                </a:solidFill>
                <a:latin typeface="Poppins Bold"/>
                <a:ea typeface="Poppins Bold"/>
                <a:cs typeface="Poppins Bold"/>
                <a:sym typeface="Poppins Bold"/>
              </a:rPr>
              <a:t>Kolom yang digunakan:</a:t>
            </a:r>
            <a:r>
              <a:rPr lang="en-US" sz="3000">
                <a:solidFill>
                  <a:srgbClr val="EFF1E8"/>
                </a:solidFill>
                <a:latin typeface="Poppins"/>
                <a:ea typeface="Poppins"/>
                <a:cs typeface="Poppins"/>
                <a:sym typeface="Poppins"/>
              </a:rPr>
              <a:t> age_gro</a:t>
            </a:r>
            <a:r>
              <a:rPr lang="en-US" sz="3000">
                <a:solidFill>
                  <a:srgbClr val="EFF1E8"/>
                </a:solidFill>
                <a:latin typeface="Poppins"/>
                <a:ea typeface="Poppins"/>
                <a:cs typeface="Poppins"/>
                <a:sym typeface="Poppins"/>
              </a:rPr>
              <a:t>up + purchase_frequency + total_purchases + total_spent_usd</a:t>
            </a:r>
          </a:p>
          <a:p>
            <a:pPr algn="l">
              <a:lnSpc>
                <a:spcPts val="4200"/>
              </a:lnSpc>
              <a:spcBef>
                <a:spcPct val="0"/>
              </a:spcBef>
            </a:pPr>
          </a:p>
          <a:p>
            <a:pPr algn="l">
              <a:lnSpc>
                <a:spcPts val="4200"/>
              </a:lnSpc>
              <a:spcBef>
                <a:spcPct val="0"/>
              </a:spcBef>
            </a:pPr>
            <a:r>
              <a:rPr lang="en-US" b="true" sz="3000">
                <a:solidFill>
                  <a:srgbClr val="EFF1E8"/>
                </a:solidFill>
                <a:latin typeface="Poppins Bold"/>
                <a:ea typeface="Poppins Bold"/>
                <a:cs typeface="Poppins Bold"/>
                <a:sym typeface="Poppins Bold"/>
              </a:rPr>
              <a:t>Analisis:</a:t>
            </a:r>
            <a:r>
              <a:rPr lang="en-US" sz="3000">
                <a:solidFill>
                  <a:srgbClr val="EFF1E8"/>
                </a:solidFill>
                <a:latin typeface="Poppins"/>
                <a:ea typeface="Poppins"/>
                <a:cs typeface="Poppins"/>
                <a:sym typeface="Poppins"/>
              </a:rPr>
              <a:t> Melihat kelompok usia mana yang paling sering bertransaksi dan menyumbang nilai belanja terbesar.</a:t>
            </a:r>
          </a:p>
          <a:p>
            <a:pPr algn="l">
              <a:lnSpc>
                <a:spcPts val="4200"/>
              </a:lnSpc>
              <a:spcBef>
                <a:spcPct val="0"/>
              </a:spcBef>
            </a:pPr>
          </a:p>
          <a:p>
            <a:pPr algn="l">
              <a:lnSpc>
                <a:spcPts val="4200"/>
              </a:lnSpc>
              <a:spcBef>
                <a:spcPct val="0"/>
              </a:spcBef>
            </a:pPr>
            <a:r>
              <a:rPr lang="en-US" b="true" sz="3000">
                <a:solidFill>
                  <a:srgbClr val="EFF1E8"/>
                </a:solidFill>
                <a:latin typeface="Poppins Bold"/>
                <a:ea typeface="Poppins Bold"/>
                <a:cs typeface="Poppins Bold"/>
                <a:sym typeface="Poppins Bold"/>
              </a:rPr>
              <a:t>Insight:</a:t>
            </a:r>
            <a:r>
              <a:rPr lang="en-US" sz="3000">
                <a:solidFill>
                  <a:srgbClr val="EFF1E8"/>
                </a:solidFill>
                <a:latin typeface="Poppins"/>
                <a:ea typeface="Poppins"/>
                <a:cs typeface="Poppins"/>
                <a:sym typeface="Poppins"/>
              </a:rPr>
              <a:t> Mengetahui apakah generasi muda atau kelompok usia dewasa/tua yang menjadi penggerak utama omset e-commerce.</a:t>
            </a:r>
          </a:p>
          <a:p>
            <a:pPr algn="l">
              <a:lnSpc>
                <a:spcPts val="4200"/>
              </a:lnSpc>
              <a:spcBef>
                <a:spcPct val="0"/>
              </a:spcBef>
            </a:pP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70A1BD"/>
        </a:solidFill>
      </p:bgPr>
    </p:bg>
    <p:spTree>
      <p:nvGrpSpPr>
        <p:cNvPr id="1" name=""/>
        <p:cNvGrpSpPr/>
        <p:nvPr/>
      </p:nvGrpSpPr>
      <p:grpSpPr>
        <a:xfrm>
          <a:off x="0" y="0"/>
          <a:ext cx="0" cy="0"/>
          <a:chOff x="0" y="0"/>
          <a:chExt cx="0" cy="0"/>
        </a:xfrm>
      </p:grpSpPr>
      <p:sp>
        <p:nvSpPr>
          <p:cNvPr name="Freeform 2" id="2"/>
          <p:cNvSpPr/>
          <p:nvPr/>
        </p:nvSpPr>
        <p:spPr>
          <a:xfrm flipH="true" flipV="true" rot="0">
            <a:off x="16113698" y="1028700"/>
            <a:ext cx="1145602" cy="1145602"/>
          </a:xfrm>
          <a:custGeom>
            <a:avLst/>
            <a:gdLst/>
            <a:ahLst/>
            <a:cxnLst/>
            <a:rect r="r" b="b" t="t" l="l"/>
            <a:pathLst>
              <a:path h="1145602" w="1145602">
                <a:moveTo>
                  <a:pt x="1145602" y="1145602"/>
                </a:moveTo>
                <a:lnTo>
                  <a:pt x="0" y="1145602"/>
                </a:lnTo>
                <a:lnTo>
                  <a:pt x="0" y="0"/>
                </a:lnTo>
                <a:lnTo>
                  <a:pt x="1145602" y="0"/>
                </a:lnTo>
                <a:lnTo>
                  <a:pt x="1145602" y="1145602"/>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028700" y="1123950"/>
            <a:ext cx="14608693" cy="1245235"/>
          </a:xfrm>
          <a:prstGeom prst="rect">
            <a:avLst/>
          </a:prstGeom>
        </p:spPr>
        <p:txBody>
          <a:bodyPr anchor="t" rtlCol="false" tIns="0" lIns="0" bIns="0" rIns="0">
            <a:spAutoFit/>
          </a:bodyPr>
          <a:lstStyle/>
          <a:p>
            <a:pPr algn="l">
              <a:lnSpc>
                <a:spcPts val="9679"/>
              </a:lnSpc>
            </a:pPr>
            <a:r>
              <a:rPr lang="en-US" b="true" sz="8799">
                <a:solidFill>
                  <a:srgbClr val="EFF1E8"/>
                </a:solidFill>
                <a:latin typeface="Montserrat Bold"/>
                <a:ea typeface="Montserrat Bold"/>
                <a:cs typeface="Montserrat Bold"/>
                <a:sym typeface="Montserrat Bold"/>
              </a:rPr>
              <a:t>Potensi Analisis</a:t>
            </a:r>
          </a:p>
        </p:txBody>
      </p:sp>
      <p:sp>
        <p:nvSpPr>
          <p:cNvPr name="TextBox 4" id="4"/>
          <p:cNvSpPr txBox="true"/>
          <p:nvPr/>
        </p:nvSpPr>
        <p:spPr>
          <a:xfrm rot="0">
            <a:off x="1028700" y="2927689"/>
            <a:ext cx="12111707" cy="1254125"/>
          </a:xfrm>
          <a:prstGeom prst="rect">
            <a:avLst/>
          </a:prstGeom>
        </p:spPr>
        <p:txBody>
          <a:bodyPr anchor="t" rtlCol="false" tIns="0" lIns="0" bIns="0" rIns="0">
            <a:spAutoFit/>
          </a:bodyPr>
          <a:lstStyle/>
          <a:p>
            <a:pPr algn="l">
              <a:lnSpc>
                <a:spcPts val="4900"/>
              </a:lnSpc>
              <a:spcBef>
                <a:spcPct val="0"/>
              </a:spcBef>
            </a:pPr>
            <a:r>
              <a:rPr lang="en-US" b="true" sz="3500">
                <a:solidFill>
                  <a:srgbClr val="EFF1E8"/>
                </a:solidFill>
                <a:latin typeface="Poppins Bold"/>
                <a:ea typeface="Poppins Bold"/>
                <a:cs typeface="Poppins Bold"/>
                <a:sym typeface="Poppins Bold"/>
              </a:rPr>
              <a:t>3. </a:t>
            </a:r>
            <a:r>
              <a:rPr lang="en-US" b="true" sz="3500">
                <a:solidFill>
                  <a:srgbClr val="EFF1E8"/>
                </a:solidFill>
                <a:latin typeface="Poppins Bold"/>
                <a:ea typeface="Poppins Bold"/>
                <a:cs typeface="Poppins Bold"/>
                <a:sym typeface="Poppins Bold"/>
              </a:rPr>
              <a:t>Analisis Perilaku Belanja Berdasarkan Gender (Visualisasi Tren) </a:t>
            </a:r>
          </a:p>
        </p:txBody>
      </p:sp>
      <p:sp>
        <p:nvSpPr>
          <p:cNvPr name="TextBox 5" id="5"/>
          <p:cNvSpPr txBox="true"/>
          <p:nvPr/>
        </p:nvSpPr>
        <p:spPr>
          <a:xfrm rot="0">
            <a:off x="1028700" y="4410075"/>
            <a:ext cx="14411142" cy="4810125"/>
          </a:xfrm>
          <a:prstGeom prst="rect">
            <a:avLst/>
          </a:prstGeom>
        </p:spPr>
        <p:txBody>
          <a:bodyPr anchor="t" rtlCol="false" tIns="0" lIns="0" bIns="0" rIns="0">
            <a:spAutoFit/>
          </a:bodyPr>
          <a:lstStyle/>
          <a:p>
            <a:pPr algn="l">
              <a:lnSpc>
                <a:spcPts val="4200"/>
              </a:lnSpc>
              <a:spcBef>
                <a:spcPct val="0"/>
              </a:spcBef>
            </a:pPr>
            <a:r>
              <a:rPr lang="en-US" b="true" sz="3000">
                <a:solidFill>
                  <a:srgbClr val="EFF1E8"/>
                </a:solidFill>
                <a:latin typeface="Poppins Bold"/>
                <a:ea typeface="Poppins Bold"/>
                <a:cs typeface="Poppins Bold"/>
                <a:sym typeface="Poppins Bold"/>
              </a:rPr>
              <a:t>Kolom yang digunakan:</a:t>
            </a:r>
            <a:r>
              <a:rPr lang="en-US" sz="3000">
                <a:solidFill>
                  <a:srgbClr val="EFF1E8"/>
                </a:solidFill>
                <a:latin typeface="Poppins"/>
                <a:ea typeface="Poppins"/>
                <a:cs typeface="Poppins"/>
                <a:sym typeface="Poppins"/>
              </a:rPr>
              <a:t> Ge</a:t>
            </a:r>
            <a:r>
              <a:rPr lang="en-US" sz="3000">
                <a:solidFill>
                  <a:srgbClr val="EFF1E8"/>
                </a:solidFill>
                <a:latin typeface="Poppins"/>
                <a:ea typeface="Poppins"/>
                <a:cs typeface="Poppins"/>
                <a:sym typeface="Poppins"/>
              </a:rPr>
              <a:t>nder + income_bracket + total_spent_usd + preferred_category_1</a:t>
            </a:r>
          </a:p>
          <a:p>
            <a:pPr algn="l">
              <a:lnSpc>
                <a:spcPts val="4200"/>
              </a:lnSpc>
              <a:spcBef>
                <a:spcPct val="0"/>
              </a:spcBef>
            </a:pPr>
          </a:p>
          <a:p>
            <a:pPr algn="l">
              <a:lnSpc>
                <a:spcPts val="4200"/>
              </a:lnSpc>
            </a:pPr>
            <a:r>
              <a:rPr lang="en-US" b="true" sz="3000">
                <a:solidFill>
                  <a:srgbClr val="EFF1E8"/>
                </a:solidFill>
                <a:latin typeface="Poppins Bold"/>
                <a:ea typeface="Poppins Bold"/>
                <a:cs typeface="Poppins Bold"/>
                <a:sym typeface="Poppins Bold"/>
              </a:rPr>
              <a:t>Analisis:</a:t>
            </a:r>
            <a:r>
              <a:rPr lang="en-US" sz="3000">
                <a:solidFill>
                  <a:srgbClr val="EFF1E8"/>
                </a:solidFill>
                <a:latin typeface="Poppins"/>
                <a:ea typeface="Poppins"/>
                <a:cs typeface="Poppins"/>
                <a:sym typeface="Poppins"/>
              </a:rPr>
              <a:t> Membandingkan total belanja dan kategori produk favorit antara pria dan wanita pada tiap tingkat pendapatan </a:t>
            </a:r>
          </a:p>
          <a:p>
            <a:pPr algn="l">
              <a:lnSpc>
                <a:spcPts val="4200"/>
              </a:lnSpc>
              <a:spcBef>
                <a:spcPct val="0"/>
              </a:spcBef>
            </a:pPr>
          </a:p>
          <a:p>
            <a:pPr algn="l">
              <a:lnSpc>
                <a:spcPts val="4200"/>
              </a:lnSpc>
              <a:spcBef>
                <a:spcPct val="0"/>
              </a:spcBef>
            </a:pPr>
            <a:r>
              <a:rPr lang="en-US" b="true" sz="3000">
                <a:solidFill>
                  <a:srgbClr val="EFF1E8"/>
                </a:solidFill>
                <a:latin typeface="Poppins Bold"/>
                <a:ea typeface="Poppins Bold"/>
                <a:cs typeface="Poppins Bold"/>
                <a:sym typeface="Poppins Bold"/>
              </a:rPr>
              <a:t>Insight:</a:t>
            </a:r>
            <a:r>
              <a:rPr lang="en-US" sz="3000">
                <a:solidFill>
                  <a:srgbClr val="EFF1E8"/>
                </a:solidFill>
                <a:latin typeface="Poppins"/>
                <a:ea typeface="Poppins"/>
                <a:cs typeface="Poppins"/>
                <a:sym typeface="Poppins"/>
              </a:rPr>
              <a:t> Mengetahui kategori produk apa yang paling diminati oleh gender tertentu berdasarkan kemampuan finansial mereka.</a:t>
            </a:r>
          </a:p>
          <a:p>
            <a:pPr algn="l">
              <a:lnSpc>
                <a:spcPts val="4200"/>
              </a:lnSpc>
              <a:spcBef>
                <a:spcPct val="0"/>
              </a:spcBef>
            </a:pPr>
          </a:p>
        </p:txBody>
      </p:sp>
    </p:spTree>
  </p:cSld>
  <p:clrMapOvr>
    <a:masterClrMapping/>
  </p:clrMapOvr>
</p:sld>
</file>

<file path=ppt/slides/slide9.xml><?xml version="1.0" encoding="utf-8"?>
<p:sld xmlns:p="http://schemas.openxmlformats.org/presentationml/2006/main" xmlns:a="http://schemas.openxmlformats.org/drawingml/2006/main">
  <p:cSld>
    <p:bg>
      <p:bgPr>
        <a:solidFill>
          <a:srgbClr val="EFF1E8"/>
        </a:solidFill>
      </p:bgPr>
    </p:bg>
    <p:spTree>
      <p:nvGrpSpPr>
        <p:cNvPr id="1" name=""/>
        <p:cNvGrpSpPr/>
        <p:nvPr/>
      </p:nvGrpSpPr>
      <p:grpSpPr>
        <a:xfrm>
          <a:off x="0" y="0"/>
          <a:ext cx="0" cy="0"/>
          <a:chOff x="0" y="0"/>
          <a:chExt cx="0" cy="0"/>
        </a:xfrm>
      </p:grpSpPr>
      <p:grpSp>
        <p:nvGrpSpPr>
          <p:cNvPr name="Group 2" id="2"/>
          <p:cNvGrpSpPr/>
          <p:nvPr/>
        </p:nvGrpSpPr>
        <p:grpSpPr>
          <a:xfrm rot="0">
            <a:off x="439124" y="2289240"/>
            <a:ext cx="8431658" cy="2441900"/>
            <a:chOff x="0" y="0"/>
            <a:chExt cx="3172752" cy="918864"/>
          </a:xfrm>
        </p:grpSpPr>
        <p:sp>
          <p:nvSpPr>
            <p:cNvPr name="Freeform 3" id="3"/>
            <p:cNvSpPr/>
            <p:nvPr/>
          </p:nvSpPr>
          <p:spPr>
            <a:xfrm flipH="false" flipV="false" rot="0">
              <a:off x="0" y="0"/>
              <a:ext cx="3172752" cy="918864"/>
            </a:xfrm>
            <a:custGeom>
              <a:avLst/>
              <a:gdLst/>
              <a:ahLst/>
              <a:cxnLst/>
              <a:rect r="r" b="b" t="t" l="l"/>
              <a:pathLst>
                <a:path h="918864" w="3172752">
                  <a:moveTo>
                    <a:pt x="46828" y="0"/>
                  </a:moveTo>
                  <a:lnTo>
                    <a:pt x="3125925" y="0"/>
                  </a:lnTo>
                  <a:cubicBezTo>
                    <a:pt x="3151787" y="0"/>
                    <a:pt x="3172752" y="20966"/>
                    <a:pt x="3172752" y="46828"/>
                  </a:cubicBezTo>
                  <a:lnTo>
                    <a:pt x="3172752" y="872036"/>
                  </a:lnTo>
                  <a:cubicBezTo>
                    <a:pt x="3172752" y="897898"/>
                    <a:pt x="3151787" y="918864"/>
                    <a:pt x="3125925" y="918864"/>
                  </a:cubicBezTo>
                  <a:lnTo>
                    <a:pt x="46828" y="918864"/>
                  </a:lnTo>
                  <a:cubicBezTo>
                    <a:pt x="20966" y="918864"/>
                    <a:pt x="0" y="897898"/>
                    <a:pt x="0" y="872036"/>
                  </a:cubicBezTo>
                  <a:lnTo>
                    <a:pt x="0" y="46828"/>
                  </a:lnTo>
                  <a:cubicBezTo>
                    <a:pt x="0" y="20966"/>
                    <a:pt x="20966" y="0"/>
                    <a:pt x="46828" y="0"/>
                  </a:cubicBezTo>
                  <a:close/>
                </a:path>
              </a:pathLst>
            </a:custGeom>
            <a:ln w="38100" cap="rnd">
              <a:solidFill>
                <a:srgbClr val="343734"/>
              </a:solidFill>
              <a:prstDash val="solid"/>
              <a:round/>
            </a:ln>
          </p:spPr>
        </p:sp>
        <p:sp>
          <p:nvSpPr>
            <p:cNvPr name="TextBox 4" id="4"/>
            <p:cNvSpPr txBox="true"/>
            <p:nvPr/>
          </p:nvSpPr>
          <p:spPr>
            <a:xfrm>
              <a:off x="0" y="-57150"/>
              <a:ext cx="3172752" cy="976014"/>
            </a:xfrm>
            <a:prstGeom prst="rect">
              <a:avLst/>
            </a:prstGeom>
          </p:spPr>
          <p:txBody>
            <a:bodyPr anchor="ctr" rtlCol="false" tIns="50800" lIns="50800" bIns="50800" rIns="50800"/>
            <a:lstStyle/>
            <a:p>
              <a:pPr algn="ctr">
                <a:lnSpc>
                  <a:spcPts val="2799"/>
                </a:lnSpc>
              </a:pPr>
            </a:p>
          </p:txBody>
        </p:sp>
      </p:grpSp>
      <p:grpSp>
        <p:nvGrpSpPr>
          <p:cNvPr name="Group 5" id="5"/>
          <p:cNvGrpSpPr/>
          <p:nvPr/>
        </p:nvGrpSpPr>
        <p:grpSpPr>
          <a:xfrm rot="0">
            <a:off x="9270196" y="2289240"/>
            <a:ext cx="8578680" cy="2441900"/>
            <a:chOff x="0" y="0"/>
            <a:chExt cx="3228076" cy="918864"/>
          </a:xfrm>
        </p:grpSpPr>
        <p:sp>
          <p:nvSpPr>
            <p:cNvPr name="Freeform 6" id="6"/>
            <p:cNvSpPr/>
            <p:nvPr/>
          </p:nvSpPr>
          <p:spPr>
            <a:xfrm flipH="false" flipV="false" rot="0">
              <a:off x="0" y="0"/>
              <a:ext cx="3228075" cy="918864"/>
            </a:xfrm>
            <a:custGeom>
              <a:avLst/>
              <a:gdLst/>
              <a:ahLst/>
              <a:cxnLst/>
              <a:rect r="r" b="b" t="t" l="l"/>
              <a:pathLst>
                <a:path h="918864" w="3228075">
                  <a:moveTo>
                    <a:pt x="46025" y="0"/>
                  </a:moveTo>
                  <a:lnTo>
                    <a:pt x="3182050" y="0"/>
                  </a:lnTo>
                  <a:cubicBezTo>
                    <a:pt x="3207469" y="0"/>
                    <a:pt x="3228075" y="20606"/>
                    <a:pt x="3228075" y="46025"/>
                  </a:cubicBezTo>
                  <a:lnTo>
                    <a:pt x="3228075" y="872838"/>
                  </a:lnTo>
                  <a:cubicBezTo>
                    <a:pt x="3228075" y="885045"/>
                    <a:pt x="3223226" y="896752"/>
                    <a:pt x="3214595" y="905383"/>
                  </a:cubicBezTo>
                  <a:cubicBezTo>
                    <a:pt x="3205963" y="914015"/>
                    <a:pt x="3194257" y="918864"/>
                    <a:pt x="3182050" y="918864"/>
                  </a:cubicBezTo>
                  <a:lnTo>
                    <a:pt x="46025" y="918864"/>
                  </a:lnTo>
                  <a:cubicBezTo>
                    <a:pt x="20606" y="918864"/>
                    <a:pt x="0" y="898257"/>
                    <a:pt x="0" y="872838"/>
                  </a:cubicBezTo>
                  <a:lnTo>
                    <a:pt x="0" y="46025"/>
                  </a:lnTo>
                  <a:cubicBezTo>
                    <a:pt x="0" y="20606"/>
                    <a:pt x="20606" y="0"/>
                    <a:pt x="46025" y="0"/>
                  </a:cubicBezTo>
                  <a:close/>
                </a:path>
              </a:pathLst>
            </a:custGeom>
            <a:ln w="38100" cap="rnd">
              <a:solidFill>
                <a:srgbClr val="343734"/>
              </a:solidFill>
              <a:prstDash val="solid"/>
              <a:round/>
            </a:ln>
          </p:spPr>
        </p:sp>
        <p:sp>
          <p:nvSpPr>
            <p:cNvPr name="TextBox 7" id="7"/>
            <p:cNvSpPr txBox="true"/>
            <p:nvPr/>
          </p:nvSpPr>
          <p:spPr>
            <a:xfrm>
              <a:off x="0" y="-57150"/>
              <a:ext cx="3228076" cy="976014"/>
            </a:xfrm>
            <a:prstGeom prst="rect">
              <a:avLst/>
            </a:prstGeom>
          </p:spPr>
          <p:txBody>
            <a:bodyPr anchor="ctr" rtlCol="false" tIns="50800" lIns="50800" bIns="50800" rIns="50800"/>
            <a:lstStyle/>
            <a:p>
              <a:pPr algn="ctr">
                <a:lnSpc>
                  <a:spcPts val="2799"/>
                </a:lnSpc>
              </a:pPr>
            </a:p>
          </p:txBody>
        </p:sp>
      </p:grpSp>
      <p:grpSp>
        <p:nvGrpSpPr>
          <p:cNvPr name="Group 8" id="8"/>
          <p:cNvGrpSpPr/>
          <p:nvPr/>
        </p:nvGrpSpPr>
        <p:grpSpPr>
          <a:xfrm rot="0">
            <a:off x="4928171" y="5227194"/>
            <a:ext cx="8431658" cy="2722252"/>
            <a:chOff x="0" y="0"/>
            <a:chExt cx="1904568" cy="614910"/>
          </a:xfrm>
        </p:grpSpPr>
        <p:sp>
          <p:nvSpPr>
            <p:cNvPr name="Freeform 9" id="9"/>
            <p:cNvSpPr/>
            <p:nvPr/>
          </p:nvSpPr>
          <p:spPr>
            <a:xfrm flipH="false" flipV="false" rot="0">
              <a:off x="0" y="0"/>
              <a:ext cx="1904568" cy="614910"/>
            </a:xfrm>
            <a:custGeom>
              <a:avLst/>
              <a:gdLst/>
              <a:ahLst/>
              <a:cxnLst/>
              <a:rect r="r" b="b" t="t" l="l"/>
              <a:pathLst>
                <a:path h="614910" w="1904568">
                  <a:moveTo>
                    <a:pt x="46828" y="0"/>
                  </a:moveTo>
                  <a:lnTo>
                    <a:pt x="1857740" y="0"/>
                  </a:lnTo>
                  <a:cubicBezTo>
                    <a:pt x="1883602" y="0"/>
                    <a:pt x="1904568" y="20966"/>
                    <a:pt x="1904568" y="46828"/>
                  </a:cubicBezTo>
                  <a:lnTo>
                    <a:pt x="1904568" y="568082"/>
                  </a:lnTo>
                  <a:cubicBezTo>
                    <a:pt x="1904568" y="580502"/>
                    <a:pt x="1899634" y="592413"/>
                    <a:pt x="1890852" y="601195"/>
                  </a:cubicBezTo>
                  <a:cubicBezTo>
                    <a:pt x="1882070" y="609977"/>
                    <a:pt x="1870160" y="614910"/>
                    <a:pt x="1857740" y="614910"/>
                  </a:cubicBezTo>
                  <a:lnTo>
                    <a:pt x="46828" y="614910"/>
                  </a:lnTo>
                  <a:cubicBezTo>
                    <a:pt x="20966" y="614910"/>
                    <a:pt x="0" y="593945"/>
                    <a:pt x="0" y="568082"/>
                  </a:cubicBezTo>
                  <a:lnTo>
                    <a:pt x="0" y="46828"/>
                  </a:lnTo>
                  <a:cubicBezTo>
                    <a:pt x="0" y="20966"/>
                    <a:pt x="20966" y="0"/>
                    <a:pt x="46828" y="0"/>
                  </a:cubicBezTo>
                  <a:close/>
                </a:path>
              </a:pathLst>
            </a:custGeom>
            <a:ln w="38100" cap="rnd">
              <a:solidFill>
                <a:srgbClr val="343734"/>
              </a:solidFill>
              <a:prstDash val="solid"/>
              <a:round/>
            </a:ln>
          </p:spPr>
        </p:sp>
        <p:sp>
          <p:nvSpPr>
            <p:cNvPr name="TextBox 10" id="10"/>
            <p:cNvSpPr txBox="true"/>
            <p:nvPr/>
          </p:nvSpPr>
          <p:spPr>
            <a:xfrm>
              <a:off x="0" y="-57150"/>
              <a:ext cx="1904568" cy="672060"/>
            </a:xfrm>
            <a:prstGeom prst="rect">
              <a:avLst/>
            </a:prstGeom>
          </p:spPr>
          <p:txBody>
            <a:bodyPr anchor="ctr" rtlCol="false" tIns="50800" lIns="50800" bIns="50800" rIns="50800"/>
            <a:lstStyle/>
            <a:p>
              <a:pPr algn="ctr">
                <a:lnSpc>
                  <a:spcPts val="2799"/>
                </a:lnSpc>
              </a:pPr>
            </a:p>
          </p:txBody>
        </p:sp>
      </p:grpSp>
      <p:sp>
        <p:nvSpPr>
          <p:cNvPr name="TextBox 11" id="11"/>
          <p:cNvSpPr txBox="true"/>
          <p:nvPr/>
        </p:nvSpPr>
        <p:spPr>
          <a:xfrm rot="0">
            <a:off x="4201418" y="577514"/>
            <a:ext cx="9942684" cy="1245235"/>
          </a:xfrm>
          <a:prstGeom prst="rect">
            <a:avLst/>
          </a:prstGeom>
        </p:spPr>
        <p:txBody>
          <a:bodyPr anchor="t" rtlCol="false" tIns="0" lIns="0" bIns="0" rIns="0">
            <a:spAutoFit/>
          </a:bodyPr>
          <a:lstStyle/>
          <a:p>
            <a:pPr algn="l">
              <a:lnSpc>
                <a:spcPts val="9679"/>
              </a:lnSpc>
            </a:pPr>
            <a:r>
              <a:rPr lang="en-US" sz="8799" b="true">
                <a:solidFill>
                  <a:srgbClr val="343734"/>
                </a:solidFill>
                <a:latin typeface="Montserrat Bold"/>
                <a:ea typeface="Montserrat Bold"/>
                <a:cs typeface="Montserrat Bold"/>
                <a:sym typeface="Montserrat Bold"/>
              </a:rPr>
              <a:t>Evaluasi Ku</a:t>
            </a:r>
            <a:r>
              <a:rPr lang="en-US" b="true" sz="8799">
                <a:solidFill>
                  <a:srgbClr val="343734"/>
                </a:solidFill>
                <a:latin typeface="Montserrat Bold"/>
                <a:ea typeface="Montserrat Bold"/>
                <a:cs typeface="Montserrat Bold"/>
                <a:sym typeface="Montserrat Bold"/>
              </a:rPr>
              <a:t>alitas </a:t>
            </a:r>
          </a:p>
        </p:txBody>
      </p:sp>
      <p:sp>
        <p:nvSpPr>
          <p:cNvPr name="TextBox 12" id="12"/>
          <p:cNvSpPr txBox="true"/>
          <p:nvPr/>
        </p:nvSpPr>
        <p:spPr>
          <a:xfrm rot="0">
            <a:off x="1489269" y="2519406"/>
            <a:ext cx="6083608" cy="424815"/>
          </a:xfrm>
          <a:prstGeom prst="rect">
            <a:avLst/>
          </a:prstGeom>
        </p:spPr>
        <p:txBody>
          <a:bodyPr anchor="t" rtlCol="false" tIns="0" lIns="0" bIns="0" rIns="0">
            <a:spAutoFit/>
          </a:bodyPr>
          <a:lstStyle/>
          <a:p>
            <a:pPr algn="ctr">
              <a:lnSpc>
                <a:spcPts val="3359"/>
              </a:lnSpc>
              <a:spcBef>
                <a:spcPct val="0"/>
              </a:spcBef>
            </a:pPr>
            <a:r>
              <a:rPr lang="en-US" b="true" sz="2400">
                <a:solidFill>
                  <a:srgbClr val="343734"/>
                </a:solidFill>
                <a:latin typeface="Poppins Bold"/>
                <a:ea typeface="Poppins Bold"/>
                <a:cs typeface="Poppins Bold"/>
                <a:sym typeface="Poppins Bold"/>
              </a:rPr>
              <a:t>Miss</a:t>
            </a:r>
            <a:r>
              <a:rPr lang="en-US" b="true" sz="2400">
                <a:solidFill>
                  <a:srgbClr val="343734"/>
                </a:solidFill>
                <a:latin typeface="Poppins Bold"/>
                <a:ea typeface="Poppins Bold"/>
                <a:cs typeface="Poppins Bold"/>
                <a:sym typeface="Poppins Bold"/>
              </a:rPr>
              <a:t>ing Value</a:t>
            </a:r>
          </a:p>
        </p:txBody>
      </p:sp>
      <p:sp>
        <p:nvSpPr>
          <p:cNvPr name="TextBox 13" id="13"/>
          <p:cNvSpPr txBox="true"/>
          <p:nvPr/>
        </p:nvSpPr>
        <p:spPr>
          <a:xfrm rot="0">
            <a:off x="803466" y="3248388"/>
            <a:ext cx="7455214" cy="635000"/>
          </a:xfrm>
          <a:prstGeom prst="rect">
            <a:avLst/>
          </a:prstGeom>
        </p:spPr>
        <p:txBody>
          <a:bodyPr anchor="t" rtlCol="false" tIns="0" lIns="0" bIns="0" rIns="0">
            <a:spAutoFit/>
          </a:bodyPr>
          <a:lstStyle/>
          <a:p>
            <a:pPr algn="ctr">
              <a:lnSpc>
                <a:spcPts val="4900"/>
              </a:lnSpc>
              <a:spcBef>
                <a:spcPct val="0"/>
              </a:spcBef>
            </a:pPr>
            <a:r>
              <a:rPr lang="en-US" sz="3500">
                <a:solidFill>
                  <a:srgbClr val="343734"/>
                </a:solidFill>
                <a:latin typeface="Poppins"/>
                <a:ea typeface="Poppins"/>
                <a:cs typeface="Poppins"/>
                <a:sym typeface="Poppins"/>
              </a:rPr>
              <a:t>Tidak ada</a:t>
            </a:r>
          </a:p>
        </p:txBody>
      </p:sp>
      <p:sp>
        <p:nvSpPr>
          <p:cNvPr name="TextBox 14" id="14"/>
          <p:cNvSpPr txBox="true"/>
          <p:nvPr/>
        </p:nvSpPr>
        <p:spPr>
          <a:xfrm rot="0">
            <a:off x="10517732" y="2519406"/>
            <a:ext cx="6083608" cy="424815"/>
          </a:xfrm>
          <a:prstGeom prst="rect">
            <a:avLst/>
          </a:prstGeom>
        </p:spPr>
        <p:txBody>
          <a:bodyPr anchor="t" rtlCol="false" tIns="0" lIns="0" bIns="0" rIns="0">
            <a:spAutoFit/>
          </a:bodyPr>
          <a:lstStyle/>
          <a:p>
            <a:pPr algn="ctr">
              <a:lnSpc>
                <a:spcPts val="3359"/>
              </a:lnSpc>
              <a:spcBef>
                <a:spcPct val="0"/>
              </a:spcBef>
            </a:pPr>
            <a:r>
              <a:rPr lang="en-US" b="true" sz="2400">
                <a:solidFill>
                  <a:srgbClr val="343734"/>
                </a:solidFill>
                <a:latin typeface="Poppins Bold"/>
                <a:ea typeface="Poppins Bold"/>
                <a:cs typeface="Poppins Bold"/>
                <a:sym typeface="Poppins Bold"/>
              </a:rPr>
              <a:t>Data Duplikat</a:t>
            </a:r>
          </a:p>
        </p:txBody>
      </p:sp>
      <p:sp>
        <p:nvSpPr>
          <p:cNvPr name="TextBox 15" id="15"/>
          <p:cNvSpPr txBox="true"/>
          <p:nvPr/>
        </p:nvSpPr>
        <p:spPr>
          <a:xfrm rot="0">
            <a:off x="9831929" y="3248388"/>
            <a:ext cx="7455214" cy="635000"/>
          </a:xfrm>
          <a:prstGeom prst="rect">
            <a:avLst/>
          </a:prstGeom>
        </p:spPr>
        <p:txBody>
          <a:bodyPr anchor="t" rtlCol="false" tIns="0" lIns="0" bIns="0" rIns="0">
            <a:spAutoFit/>
          </a:bodyPr>
          <a:lstStyle/>
          <a:p>
            <a:pPr algn="ctr">
              <a:lnSpc>
                <a:spcPts val="4900"/>
              </a:lnSpc>
              <a:spcBef>
                <a:spcPct val="0"/>
              </a:spcBef>
            </a:pPr>
            <a:r>
              <a:rPr lang="en-US" sz="3500">
                <a:solidFill>
                  <a:srgbClr val="343734"/>
                </a:solidFill>
                <a:latin typeface="Poppins"/>
                <a:ea typeface="Poppins"/>
                <a:cs typeface="Poppins"/>
                <a:sym typeface="Poppins"/>
              </a:rPr>
              <a:t>Tidak</a:t>
            </a:r>
            <a:r>
              <a:rPr lang="en-US" sz="3500">
                <a:solidFill>
                  <a:srgbClr val="343734"/>
                </a:solidFill>
                <a:latin typeface="Poppins"/>
                <a:ea typeface="Poppins"/>
                <a:cs typeface="Poppins"/>
                <a:sym typeface="Poppins"/>
              </a:rPr>
              <a:t> ada</a:t>
            </a:r>
          </a:p>
        </p:txBody>
      </p:sp>
      <p:sp>
        <p:nvSpPr>
          <p:cNvPr name="TextBox 16" id="16"/>
          <p:cNvSpPr txBox="true"/>
          <p:nvPr/>
        </p:nvSpPr>
        <p:spPr>
          <a:xfrm rot="0">
            <a:off x="6308216" y="5398644"/>
            <a:ext cx="5671569" cy="408838"/>
          </a:xfrm>
          <a:prstGeom prst="rect">
            <a:avLst/>
          </a:prstGeom>
        </p:spPr>
        <p:txBody>
          <a:bodyPr anchor="t" rtlCol="false" tIns="0" lIns="0" bIns="0" rIns="0">
            <a:spAutoFit/>
          </a:bodyPr>
          <a:lstStyle/>
          <a:p>
            <a:pPr algn="ctr">
              <a:lnSpc>
                <a:spcPts val="3264"/>
              </a:lnSpc>
              <a:spcBef>
                <a:spcPct val="0"/>
              </a:spcBef>
            </a:pPr>
            <a:r>
              <a:rPr lang="en-US" b="true" sz="2331">
                <a:solidFill>
                  <a:srgbClr val="343734"/>
                </a:solidFill>
                <a:latin typeface="Poppins Bold"/>
                <a:ea typeface="Poppins Bold"/>
                <a:cs typeface="Poppins Bold"/>
                <a:sym typeface="Poppins Bold"/>
              </a:rPr>
              <a:t>Format / Stand</a:t>
            </a:r>
            <a:r>
              <a:rPr lang="en-US" b="true" sz="2331">
                <a:solidFill>
                  <a:srgbClr val="343734"/>
                </a:solidFill>
                <a:latin typeface="Poppins Bold"/>
                <a:ea typeface="Poppins Bold"/>
                <a:cs typeface="Poppins Bold"/>
                <a:sym typeface="Poppins Bold"/>
              </a:rPr>
              <a:t>ar Nilai</a:t>
            </a:r>
          </a:p>
        </p:txBody>
      </p:sp>
      <p:sp>
        <p:nvSpPr>
          <p:cNvPr name="TextBox 17" id="17"/>
          <p:cNvSpPr txBox="true"/>
          <p:nvPr/>
        </p:nvSpPr>
        <p:spPr>
          <a:xfrm rot="0">
            <a:off x="5386716" y="6178957"/>
            <a:ext cx="8172820" cy="559435"/>
          </a:xfrm>
          <a:prstGeom prst="rect">
            <a:avLst/>
          </a:prstGeom>
        </p:spPr>
        <p:txBody>
          <a:bodyPr anchor="t" rtlCol="false" tIns="0" lIns="0" bIns="0" rIns="0">
            <a:spAutoFit/>
          </a:bodyPr>
          <a:lstStyle/>
          <a:p>
            <a:pPr algn="just">
              <a:lnSpc>
                <a:spcPts val="4339"/>
              </a:lnSpc>
              <a:spcBef>
                <a:spcPct val="0"/>
              </a:spcBef>
            </a:pPr>
            <a:r>
              <a:rPr lang="en-US" sz="3099">
                <a:solidFill>
                  <a:srgbClr val="343734"/>
                </a:solidFill>
                <a:latin typeface="Poppins"/>
                <a:ea typeface="Poppins"/>
                <a:cs typeface="Poppins"/>
                <a:sym typeface="Poppins"/>
              </a:rPr>
              <a:t>Fo</a:t>
            </a:r>
            <a:r>
              <a:rPr lang="en-US" sz="3099">
                <a:solidFill>
                  <a:srgbClr val="343734"/>
                </a:solidFill>
                <a:latin typeface="Poppins"/>
                <a:ea typeface="Poppins"/>
                <a:cs typeface="Poppins"/>
                <a:sym typeface="Poppins"/>
              </a:rPr>
              <a:t>rmat data umumnya sudah sesuai</a:t>
            </a:r>
          </a:p>
        </p:txBody>
      </p:sp>
      <p:sp>
        <p:nvSpPr>
          <p:cNvPr name="TextBox 18" id="18"/>
          <p:cNvSpPr txBox="true"/>
          <p:nvPr/>
        </p:nvSpPr>
        <p:spPr>
          <a:xfrm rot="0">
            <a:off x="568543" y="8378825"/>
            <a:ext cx="17409752" cy="879475"/>
          </a:xfrm>
          <a:prstGeom prst="rect">
            <a:avLst/>
          </a:prstGeom>
        </p:spPr>
        <p:txBody>
          <a:bodyPr anchor="t" rtlCol="false" tIns="0" lIns="0" bIns="0" rIns="0">
            <a:spAutoFit/>
          </a:bodyPr>
          <a:lstStyle/>
          <a:p>
            <a:pPr algn="just">
              <a:lnSpc>
                <a:spcPts val="3499"/>
              </a:lnSpc>
              <a:spcBef>
                <a:spcPct val="0"/>
              </a:spcBef>
            </a:pPr>
            <a:r>
              <a:rPr lang="en-US" sz="2499">
                <a:solidFill>
                  <a:srgbClr val="343734"/>
                </a:solidFill>
                <a:latin typeface="Poppins"/>
                <a:ea typeface="Poppins"/>
                <a:cs typeface="Poppins"/>
                <a:sym typeface="Poppins"/>
              </a:rPr>
              <a:t>D</a:t>
            </a:r>
            <a:r>
              <a:rPr lang="en-US" sz="2499">
                <a:solidFill>
                  <a:srgbClr val="343734"/>
                </a:solidFill>
                <a:latin typeface="Poppins"/>
                <a:ea typeface="Poppins"/>
                <a:cs typeface="Poppins"/>
                <a:sym typeface="Poppins"/>
              </a:rPr>
              <a:t>ataset ini memiliki kualitas yang sangat baik dan bisa langsung digunakan. Dengan tingkat missing value dan duplikat data yang mendekati 0% dari keseluruhan dataset.</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70A1BD"/>
        </a:solidFill>
      </p:bgPr>
    </p:bg>
    <p:spTree>
      <p:nvGrpSpPr>
        <p:cNvPr id="1" name=""/>
        <p:cNvGrpSpPr/>
        <p:nvPr/>
      </p:nvGrpSpPr>
      <p:grpSpPr>
        <a:xfrm>
          <a:off x="0" y="0"/>
          <a:ext cx="0" cy="0"/>
          <a:chOff x="0" y="0"/>
          <a:chExt cx="0" cy="0"/>
        </a:xfrm>
      </p:grpSpPr>
      <p:grpSp>
        <p:nvGrpSpPr>
          <p:cNvPr name="Group 2" id="2"/>
          <p:cNvGrpSpPr/>
          <p:nvPr/>
        </p:nvGrpSpPr>
        <p:grpSpPr>
          <a:xfrm rot="0">
            <a:off x="1126711" y="2209392"/>
            <a:ext cx="7803104" cy="2934108"/>
            <a:chOff x="0" y="0"/>
            <a:chExt cx="2055138" cy="772769"/>
          </a:xfrm>
        </p:grpSpPr>
        <p:sp>
          <p:nvSpPr>
            <p:cNvPr name="Freeform 3" id="3"/>
            <p:cNvSpPr/>
            <p:nvPr/>
          </p:nvSpPr>
          <p:spPr>
            <a:xfrm flipH="false" flipV="false" rot="0">
              <a:off x="0" y="0"/>
              <a:ext cx="2055138" cy="772769"/>
            </a:xfrm>
            <a:custGeom>
              <a:avLst/>
              <a:gdLst/>
              <a:ahLst/>
              <a:cxnLst/>
              <a:rect r="r" b="b" t="t" l="l"/>
              <a:pathLst>
                <a:path h="772769" w="2055138">
                  <a:moveTo>
                    <a:pt x="15875" y="0"/>
                  </a:moveTo>
                  <a:lnTo>
                    <a:pt x="2039264" y="0"/>
                  </a:lnTo>
                  <a:cubicBezTo>
                    <a:pt x="2048031" y="0"/>
                    <a:pt x="2055138" y="7107"/>
                    <a:pt x="2055138" y="15875"/>
                  </a:cubicBezTo>
                  <a:lnTo>
                    <a:pt x="2055138" y="756894"/>
                  </a:lnTo>
                  <a:cubicBezTo>
                    <a:pt x="2055138" y="761105"/>
                    <a:pt x="2053466" y="765142"/>
                    <a:pt x="2050489" y="768120"/>
                  </a:cubicBezTo>
                  <a:cubicBezTo>
                    <a:pt x="2047512" y="771097"/>
                    <a:pt x="2043474" y="772769"/>
                    <a:pt x="2039264" y="772769"/>
                  </a:cubicBezTo>
                  <a:lnTo>
                    <a:pt x="15875" y="772769"/>
                  </a:lnTo>
                  <a:cubicBezTo>
                    <a:pt x="11664" y="772769"/>
                    <a:pt x="7627" y="771097"/>
                    <a:pt x="4650" y="768120"/>
                  </a:cubicBezTo>
                  <a:cubicBezTo>
                    <a:pt x="1672" y="765142"/>
                    <a:pt x="0" y="761105"/>
                    <a:pt x="0" y="756894"/>
                  </a:cubicBezTo>
                  <a:lnTo>
                    <a:pt x="0" y="15875"/>
                  </a:lnTo>
                  <a:cubicBezTo>
                    <a:pt x="0" y="11664"/>
                    <a:pt x="1672" y="7627"/>
                    <a:pt x="4650" y="4650"/>
                  </a:cubicBezTo>
                  <a:cubicBezTo>
                    <a:pt x="7627" y="1672"/>
                    <a:pt x="11664" y="0"/>
                    <a:pt x="15875" y="0"/>
                  </a:cubicBezTo>
                  <a:close/>
                </a:path>
              </a:pathLst>
            </a:custGeom>
            <a:solidFill>
              <a:srgbClr val="EFF1E8"/>
            </a:solidFill>
          </p:spPr>
        </p:sp>
        <p:sp>
          <p:nvSpPr>
            <p:cNvPr name="TextBox 4" id="4"/>
            <p:cNvSpPr txBox="true"/>
            <p:nvPr/>
          </p:nvSpPr>
          <p:spPr>
            <a:xfrm>
              <a:off x="0" y="-38100"/>
              <a:ext cx="2055138" cy="810869"/>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9458136" y="2209392"/>
            <a:ext cx="7803104" cy="2934108"/>
            <a:chOff x="0" y="0"/>
            <a:chExt cx="2055138" cy="772769"/>
          </a:xfrm>
        </p:grpSpPr>
        <p:sp>
          <p:nvSpPr>
            <p:cNvPr name="Freeform 6" id="6"/>
            <p:cNvSpPr/>
            <p:nvPr/>
          </p:nvSpPr>
          <p:spPr>
            <a:xfrm flipH="false" flipV="false" rot="0">
              <a:off x="0" y="0"/>
              <a:ext cx="2055138" cy="772769"/>
            </a:xfrm>
            <a:custGeom>
              <a:avLst/>
              <a:gdLst/>
              <a:ahLst/>
              <a:cxnLst/>
              <a:rect r="r" b="b" t="t" l="l"/>
              <a:pathLst>
                <a:path h="772769" w="2055138">
                  <a:moveTo>
                    <a:pt x="15875" y="0"/>
                  </a:moveTo>
                  <a:lnTo>
                    <a:pt x="2039264" y="0"/>
                  </a:lnTo>
                  <a:cubicBezTo>
                    <a:pt x="2048031" y="0"/>
                    <a:pt x="2055138" y="7107"/>
                    <a:pt x="2055138" y="15875"/>
                  </a:cubicBezTo>
                  <a:lnTo>
                    <a:pt x="2055138" y="756894"/>
                  </a:lnTo>
                  <a:cubicBezTo>
                    <a:pt x="2055138" y="761105"/>
                    <a:pt x="2053466" y="765142"/>
                    <a:pt x="2050489" y="768120"/>
                  </a:cubicBezTo>
                  <a:cubicBezTo>
                    <a:pt x="2047512" y="771097"/>
                    <a:pt x="2043474" y="772769"/>
                    <a:pt x="2039264" y="772769"/>
                  </a:cubicBezTo>
                  <a:lnTo>
                    <a:pt x="15875" y="772769"/>
                  </a:lnTo>
                  <a:cubicBezTo>
                    <a:pt x="11664" y="772769"/>
                    <a:pt x="7627" y="771097"/>
                    <a:pt x="4650" y="768120"/>
                  </a:cubicBezTo>
                  <a:cubicBezTo>
                    <a:pt x="1672" y="765142"/>
                    <a:pt x="0" y="761105"/>
                    <a:pt x="0" y="756894"/>
                  </a:cubicBezTo>
                  <a:lnTo>
                    <a:pt x="0" y="15875"/>
                  </a:lnTo>
                  <a:cubicBezTo>
                    <a:pt x="0" y="11664"/>
                    <a:pt x="1672" y="7627"/>
                    <a:pt x="4650" y="4650"/>
                  </a:cubicBezTo>
                  <a:cubicBezTo>
                    <a:pt x="7627" y="1672"/>
                    <a:pt x="11664" y="0"/>
                    <a:pt x="15875" y="0"/>
                  </a:cubicBezTo>
                  <a:close/>
                </a:path>
              </a:pathLst>
            </a:custGeom>
            <a:solidFill>
              <a:srgbClr val="EFF1E8"/>
            </a:solidFill>
          </p:spPr>
        </p:sp>
        <p:sp>
          <p:nvSpPr>
            <p:cNvPr name="TextBox 7" id="7"/>
            <p:cNvSpPr txBox="true"/>
            <p:nvPr/>
          </p:nvSpPr>
          <p:spPr>
            <a:xfrm>
              <a:off x="0" y="-38100"/>
              <a:ext cx="2055138" cy="810869"/>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1126711" y="5495925"/>
            <a:ext cx="16134528" cy="3106666"/>
            <a:chOff x="0" y="0"/>
            <a:chExt cx="4249423" cy="818217"/>
          </a:xfrm>
        </p:grpSpPr>
        <p:sp>
          <p:nvSpPr>
            <p:cNvPr name="Freeform 9" id="9"/>
            <p:cNvSpPr/>
            <p:nvPr/>
          </p:nvSpPr>
          <p:spPr>
            <a:xfrm flipH="false" flipV="false" rot="0">
              <a:off x="0" y="0"/>
              <a:ext cx="4249423" cy="818217"/>
            </a:xfrm>
            <a:custGeom>
              <a:avLst/>
              <a:gdLst/>
              <a:ahLst/>
              <a:cxnLst/>
              <a:rect r="r" b="b" t="t" l="l"/>
              <a:pathLst>
                <a:path h="818217" w="4249423">
                  <a:moveTo>
                    <a:pt x="7677" y="0"/>
                  </a:moveTo>
                  <a:lnTo>
                    <a:pt x="4241746" y="0"/>
                  </a:lnTo>
                  <a:cubicBezTo>
                    <a:pt x="4245986" y="0"/>
                    <a:pt x="4249423" y="3437"/>
                    <a:pt x="4249423" y="7677"/>
                  </a:cubicBezTo>
                  <a:lnTo>
                    <a:pt x="4249423" y="810539"/>
                  </a:lnTo>
                  <a:cubicBezTo>
                    <a:pt x="4249423" y="812575"/>
                    <a:pt x="4248614" y="814528"/>
                    <a:pt x="4247174" y="815968"/>
                  </a:cubicBezTo>
                  <a:cubicBezTo>
                    <a:pt x="4245735" y="817408"/>
                    <a:pt x="4243782" y="818217"/>
                    <a:pt x="4241746" y="818217"/>
                  </a:cubicBezTo>
                  <a:lnTo>
                    <a:pt x="7677" y="818217"/>
                  </a:lnTo>
                  <a:cubicBezTo>
                    <a:pt x="5641" y="818217"/>
                    <a:pt x="3688" y="817408"/>
                    <a:pt x="2249" y="815968"/>
                  </a:cubicBezTo>
                  <a:cubicBezTo>
                    <a:pt x="809" y="814528"/>
                    <a:pt x="0" y="812575"/>
                    <a:pt x="0" y="810539"/>
                  </a:cubicBezTo>
                  <a:lnTo>
                    <a:pt x="0" y="7677"/>
                  </a:lnTo>
                  <a:cubicBezTo>
                    <a:pt x="0" y="5641"/>
                    <a:pt x="809" y="3688"/>
                    <a:pt x="2249" y="2249"/>
                  </a:cubicBezTo>
                  <a:cubicBezTo>
                    <a:pt x="3688" y="809"/>
                    <a:pt x="5641" y="0"/>
                    <a:pt x="7677" y="0"/>
                  </a:cubicBezTo>
                  <a:close/>
                </a:path>
              </a:pathLst>
            </a:custGeom>
            <a:solidFill>
              <a:srgbClr val="EFF1E8"/>
            </a:solidFill>
          </p:spPr>
        </p:sp>
        <p:sp>
          <p:nvSpPr>
            <p:cNvPr name="TextBox 10" id="10"/>
            <p:cNvSpPr txBox="true"/>
            <p:nvPr/>
          </p:nvSpPr>
          <p:spPr>
            <a:xfrm>
              <a:off x="0" y="-38100"/>
              <a:ext cx="4249423" cy="856317"/>
            </a:xfrm>
            <a:prstGeom prst="rect">
              <a:avLst/>
            </a:prstGeom>
          </p:spPr>
          <p:txBody>
            <a:bodyPr anchor="ctr" rtlCol="false" tIns="50800" lIns="50800" bIns="50800" rIns="50800"/>
            <a:lstStyle/>
            <a:p>
              <a:pPr algn="ctr">
                <a:lnSpc>
                  <a:spcPts val="2659"/>
                </a:lnSpc>
              </a:pPr>
            </a:p>
          </p:txBody>
        </p:sp>
      </p:grpSp>
      <p:sp>
        <p:nvSpPr>
          <p:cNvPr name="Freeform 11" id="11"/>
          <p:cNvSpPr/>
          <p:nvPr/>
        </p:nvSpPr>
        <p:spPr>
          <a:xfrm flipH="false" flipV="false" rot="0">
            <a:off x="1044866" y="8955016"/>
            <a:ext cx="973043" cy="973043"/>
          </a:xfrm>
          <a:custGeom>
            <a:avLst/>
            <a:gdLst/>
            <a:ahLst/>
            <a:cxnLst/>
            <a:rect r="r" b="b" t="t" l="l"/>
            <a:pathLst>
              <a:path h="973043" w="973043">
                <a:moveTo>
                  <a:pt x="0" y="0"/>
                </a:moveTo>
                <a:lnTo>
                  <a:pt x="973043" y="0"/>
                </a:lnTo>
                <a:lnTo>
                  <a:pt x="973043" y="973044"/>
                </a:lnTo>
                <a:lnTo>
                  <a:pt x="0" y="97304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2" id="12"/>
          <p:cNvSpPr txBox="true"/>
          <p:nvPr/>
        </p:nvSpPr>
        <p:spPr>
          <a:xfrm rot="0">
            <a:off x="1126711" y="611733"/>
            <a:ext cx="16034578" cy="1245235"/>
          </a:xfrm>
          <a:prstGeom prst="rect">
            <a:avLst/>
          </a:prstGeom>
        </p:spPr>
        <p:txBody>
          <a:bodyPr anchor="t" rtlCol="false" tIns="0" lIns="0" bIns="0" rIns="0">
            <a:spAutoFit/>
          </a:bodyPr>
          <a:lstStyle/>
          <a:p>
            <a:pPr algn="ctr">
              <a:lnSpc>
                <a:spcPts val="9679"/>
              </a:lnSpc>
            </a:pPr>
            <a:r>
              <a:rPr lang="en-US" b="true" sz="8799">
                <a:solidFill>
                  <a:srgbClr val="EFF1E8"/>
                </a:solidFill>
                <a:latin typeface="Montserrat Bold"/>
                <a:ea typeface="Montserrat Bold"/>
                <a:cs typeface="Montserrat Bold"/>
                <a:sym typeface="Montserrat Bold"/>
              </a:rPr>
              <a:t>Asp</a:t>
            </a:r>
            <a:r>
              <a:rPr lang="en-US" b="true" sz="8799">
                <a:solidFill>
                  <a:srgbClr val="EFF1E8"/>
                </a:solidFill>
                <a:latin typeface="Montserrat Bold"/>
                <a:ea typeface="Montserrat Bold"/>
                <a:cs typeface="Montserrat Bold"/>
                <a:sym typeface="Montserrat Bold"/>
              </a:rPr>
              <a:t>ek Legal &amp; Etika</a:t>
            </a:r>
          </a:p>
        </p:txBody>
      </p:sp>
      <p:sp>
        <p:nvSpPr>
          <p:cNvPr name="TextBox 13" id="13"/>
          <p:cNvSpPr txBox="true"/>
          <p:nvPr/>
        </p:nvSpPr>
        <p:spPr>
          <a:xfrm rot="0">
            <a:off x="1487079" y="2418743"/>
            <a:ext cx="6709925" cy="514350"/>
          </a:xfrm>
          <a:prstGeom prst="rect">
            <a:avLst/>
          </a:prstGeom>
        </p:spPr>
        <p:txBody>
          <a:bodyPr anchor="t" rtlCol="false" tIns="0" lIns="0" bIns="0" rIns="0">
            <a:spAutoFit/>
          </a:bodyPr>
          <a:lstStyle/>
          <a:p>
            <a:pPr algn="l">
              <a:lnSpc>
                <a:spcPts val="4200"/>
              </a:lnSpc>
              <a:spcBef>
                <a:spcPct val="0"/>
              </a:spcBef>
            </a:pPr>
            <a:r>
              <a:rPr lang="en-US" b="true" sz="3000">
                <a:solidFill>
                  <a:srgbClr val="70A1BD"/>
                </a:solidFill>
                <a:latin typeface="Montserrat Bold"/>
                <a:ea typeface="Montserrat Bold"/>
                <a:cs typeface="Montserrat Bold"/>
                <a:sym typeface="Montserrat Bold"/>
              </a:rPr>
              <a:t>Lisensi CC0</a:t>
            </a:r>
          </a:p>
        </p:txBody>
      </p:sp>
      <p:sp>
        <p:nvSpPr>
          <p:cNvPr name="TextBox 14" id="14"/>
          <p:cNvSpPr txBox="true"/>
          <p:nvPr/>
        </p:nvSpPr>
        <p:spPr>
          <a:xfrm rot="0">
            <a:off x="1487079" y="3066443"/>
            <a:ext cx="7081183" cy="1755775"/>
          </a:xfrm>
          <a:prstGeom prst="rect">
            <a:avLst/>
          </a:prstGeom>
        </p:spPr>
        <p:txBody>
          <a:bodyPr anchor="t" rtlCol="false" tIns="0" lIns="0" bIns="0" rIns="0">
            <a:spAutoFit/>
          </a:bodyPr>
          <a:lstStyle/>
          <a:p>
            <a:pPr algn="just">
              <a:lnSpc>
                <a:spcPts val="3499"/>
              </a:lnSpc>
              <a:spcBef>
                <a:spcPct val="0"/>
              </a:spcBef>
            </a:pPr>
            <a:r>
              <a:rPr lang="en-US" sz="2499">
                <a:solidFill>
                  <a:srgbClr val="70A1BD"/>
                </a:solidFill>
                <a:latin typeface="Poppins"/>
                <a:ea typeface="Poppins"/>
                <a:cs typeface="Poppins"/>
                <a:sym typeface="Poppins"/>
              </a:rPr>
              <a:t>Merupakan data public dari Kaggle yang berarti bebas digunakan tanpa batasan apapun.</a:t>
            </a:r>
          </a:p>
          <a:p>
            <a:pPr algn="just">
              <a:lnSpc>
                <a:spcPts val="3499"/>
              </a:lnSpc>
              <a:spcBef>
                <a:spcPct val="0"/>
              </a:spcBef>
            </a:pPr>
          </a:p>
        </p:txBody>
      </p:sp>
      <p:sp>
        <p:nvSpPr>
          <p:cNvPr name="TextBox 15" id="15"/>
          <p:cNvSpPr txBox="true"/>
          <p:nvPr/>
        </p:nvSpPr>
        <p:spPr>
          <a:xfrm rot="0">
            <a:off x="9910992" y="2385456"/>
            <a:ext cx="6709925" cy="514350"/>
          </a:xfrm>
          <a:prstGeom prst="rect">
            <a:avLst/>
          </a:prstGeom>
        </p:spPr>
        <p:txBody>
          <a:bodyPr anchor="t" rtlCol="false" tIns="0" lIns="0" bIns="0" rIns="0">
            <a:spAutoFit/>
          </a:bodyPr>
          <a:lstStyle/>
          <a:p>
            <a:pPr algn="l">
              <a:lnSpc>
                <a:spcPts val="4200"/>
              </a:lnSpc>
              <a:spcBef>
                <a:spcPct val="0"/>
              </a:spcBef>
            </a:pPr>
            <a:r>
              <a:rPr lang="en-US" b="true" sz="3000">
                <a:solidFill>
                  <a:srgbClr val="70A1BD"/>
                </a:solidFill>
                <a:latin typeface="Montserrat Bold"/>
                <a:ea typeface="Montserrat Bold"/>
                <a:cs typeface="Montserrat Bold"/>
                <a:sym typeface="Montserrat Bold"/>
              </a:rPr>
              <a:t>Tidak Ada PII Langsung</a:t>
            </a:r>
          </a:p>
        </p:txBody>
      </p:sp>
      <p:sp>
        <p:nvSpPr>
          <p:cNvPr name="TextBox 16" id="16"/>
          <p:cNvSpPr txBox="true"/>
          <p:nvPr/>
        </p:nvSpPr>
        <p:spPr>
          <a:xfrm rot="0">
            <a:off x="9949092" y="3018818"/>
            <a:ext cx="6831369" cy="1755775"/>
          </a:xfrm>
          <a:prstGeom prst="rect">
            <a:avLst/>
          </a:prstGeom>
        </p:spPr>
        <p:txBody>
          <a:bodyPr anchor="t" rtlCol="false" tIns="0" lIns="0" bIns="0" rIns="0">
            <a:spAutoFit/>
          </a:bodyPr>
          <a:lstStyle/>
          <a:p>
            <a:pPr algn="just">
              <a:lnSpc>
                <a:spcPts val="3499"/>
              </a:lnSpc>
              <a:spcBef>
                <a:spcPct val="0"/>
              </a:spcBef>
            </a:pPr>
            <a:r>
              <a:rPr lang="en-US" sz="2499">
                <a:solidFill>
                  <a:srgbClr val="70A1BD"/>
                </a:solidFill>
                <a:latin typeface="Poppins"/>
                <a:ea typeface="Poppins"/>
                <a:cs typeface="Poppins"/>
                <a:sym typeface="Poppins"/>
              </a:rPr>
              <a:t>Tidak ada kolom nam</a:t>
            </a:r>
            <a:r>
              <a:rPr lang="en-US" sz="2499">
                <a:solidFill>
                  <a:srgbClr val="70A1BD"/>
                </a:solidFill>
                <a:latin typeface="Poppins"/>
                <a:ea typeface="Poppins"/>
                <a:cs typeface="Poppins"/>
                <a:sym typeface="Poppins"/>
              </a:rPr>
              <a:t>a asli, email, no. telepon, atau alamat lengkap. customer_id sudah berbentuk kode anonim (CUST-000001).</a:t>
            </a:r>
          </a:p>
        </p:txBody>
      </p:sp>
      <p:sp>
        <p:nvSpPr>
          <p:cNvPr name="TextBox 17" id="17"/>
          <p:cNvSpPr txBox="true"/>
          <p:nvPr/>
        </p:nvSpPr>
        <p:spPr>
          <a:xfrm rot="0">
            <a:off x="1617667" y="5658305"/>
            <a:ext cx="13901191" cy="514350"/>
          </a:xfrm>
          <a:prstGeom prst="rect">
            <a:avLst/>
          </a:prstGeom>
        </p:spPr>
        <p:txBody>
          <a:bodyPr anchor="t" rtlCol="false" tIns="0" lIns="0" bIns="0" rIns="0">
            <a:spAutoFit/>
          </a:bodyPr>
          <a:lstStyle/>
          <a:p>
            <a:pPr algn="l">
              <a:lnSpc>
                <a:spcPts val="4200"/>
              </a:lnSpc>
              <a:spcBef>
                <a:spcPct val="0"/>
              </a:spcBef>
            </a:pPr>
            <a:r>
              <a:rPr lang="en-US" b="true" sz="3000">
                <a:solidFill>
                  <a:srgbClr val="70A1BD"/>
                </a:solidFill>
                <a:latin typeface="Montserrat Bold"/>
                <a:ea typeface="Montserrat Bold"/>
                <a:cs typeface="Montserrat Bold"/>
                <a:sym typeface="Montserrat Bold"/>
              </a:rPr>
              <a:t>Ketentuan </a:t>
            </a:r>
            <a:r>
              <a:rPr lang="en-US" b="true" sz="3000">
                <a:solidFill>
                  <a:srgbClr val="70A1BD"/>
                </a:solidFill>
                <a:latin typeface="Montserrat Bold"/>
                <a:ea typeface="Montserrat Bold"/>
                <a:cs typeface="Montserrat Bold"/>
                <a:sym typeface="Montserrat Bold"/>
              </a:rPr>
              <a:t>Penggunaan</a:t>
            </a:r>
          </a:p>
        </p:txBody>
      </p:sp>
      <p:sp>
        <p:nvSpPr>
          <p:cNvPr name="TextBox 18" id="18"/>
          <p:cNvSpPr txBox="true"/>
          <p:nvPr/>
        </p:nvSpPr>
        <p:spPr>
          <a:xfrm rot="0">
            <a:off x="1617667" y="6258333"/>
            <a:ext cx="15371250" cy="1995805"/>
          </a:xfrm>
          <a:prstGeom prst="rect">
            <a:avLst/>
          </a:prstGeom>
        </p:spPr>
        <p:txBody>
          <a:bodyPr anchor="t" rtlCol="false" tIns="0" lIns="0" bIns="0" rIns="0">
            <a:spAutoFit/>
          </a:bodyPr>
          <a:lstStyle/>
          <a:p>
            <a:pPr algn="just" marL="604521" indent="-302261" lvl="1">
              <a:lnSpc>
                <a:spcPts val="3920"/>
              </a:lnSpc>
              <a:buFont typeface="Arial"/>
              <a:buChar char="•"/>
            </a:pPr>
            <a:r>
              <a:rPr lang="en-US" sz="2800">
                <a:solidFill>
                  <a:srgbClr val="70A1BD"/>
                </a:solidFill>
                <a:latin typeface="Poppins"/>
                <a:ea typeface="Poppins"/>
                <a:cs typeface="Poppins"/>
                <a:sym typeface="Poppins"/>
              </a:rPr>
              <a:t>Aman digunak</a:t>
            </a:r>
            <a:r>
              <a:rPr lang="en-US" sz="2800">
                <a:solidFill>
                  <a:srgbClr val="70A1BD"/>
                </a:solidFill>
                <a:latin typeface="Poppins"/>
                <a:ea typeface="Poppins"/>
                <a:cs typeface="Poppins"/>
                <a:sym typeface="Poppins"/>
              </a:rPr>
              <a:t>an untuk latihan akademik (klasifikasi/regresi/clustering). </a:t>
            </a:r>
          </a:p>
          <a:p>
            <a:pPr algn="just" marL="604521" indent="-302261" lvl="1">
              <a:lnSpc>
                <a:spcPts val="3920"/>
              </a:lnSpc>
              <a:buFont typeface="Arial"/>
              <a:buChar char="•"/>
            </a:pPr>
            <a:r>
              <a:rPr lang="en-US" sz="2800">
                <a:solidFill>
                  <a:srgbClr val="70A1BD"/>
                </a:solidFill>
                <a:latin typeface="Poppins"/>
                <a:ea typeface="Poppins"/>
                <a:cs typeface="Poppins"/>
                <a:sym typeface="Poppins"/>
              </a:rPr>
              <a:t>Hindari mengklaim hasil dari dataset ini sebagai representasi perilaku pelanggan e-commerce riil karena tidak ada verifikasi sumber data mentahnya dan Distribusi yang relatif merata menyebabkan pola customer yang berbeda sulit ditemukan.</a:t>
            </a:r>
          </a:p>
        </p:txBody>
      </p:sp>
      <p:sp>
        <p:nvSpPr>
          <p:cNvPr name="Freeform 19" id="19"/>
          <p:cNvSpPr/>
          <p:nvPr/>
        </p:nvSpPr>
        <p:spPr>
          <a:xfrm flipH="true" flipV="false" rot="0">
            <a:off x="16299682" y="8966503"/>
            <a:ext cx="961557" cy="961557"/>
          </a:xfrm>
          <a:custGeom>
            <a:avLst/>
            <a:gdLst/>
            <a:ahLst/>
            <a:cxnLst/>
            <a:rect r="r" b="b" t="t" l="l"/>
            <a:pathLst>
              <a:path h="961557" w="961557">
                <a:moveTo>
                  <a:pt x="961557" y="0"/>
                </a:moveTo>
                <a:lnTo>
                  <a:pt x="0" y="0"/>
                </a:lnTo>
                <a:lnTo>
                  <a:pt x="0" y="961557"/>
                </a:lnTo>
                <a:lnTo>
                  <a:pt x="961557" y="961557"/>
                </a:lnTo>
                <a:lnTo>
                  <a:pt x="961557"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EFF1E8"/>
        </a:solidFill>
      </p:bgPr>
    </p:bg>
    <p:spTree>
      <p:nvGrpSpPr>
        <p:cNvPr id="1" name=""/>
        <p:cNvGrpSpPr/>
        <p:nvPr/>
      </p:nvGrpSpPr>
      <p:grpSpPr>
        <a:xfrm>
          <a:off x="0" y="0"/>
          <a:ext cx="0" cy="0"/>
          <a:chOff x="0" y="0"/>
          <a:chExt cx="0" cy="0"/>
        </a:xfrm>
      </p:grpSpPr>
      <p:sp>
        <p:nvSpPr>
          <p:cNvPr name="TextBox 2" id="2"/>
          <p:cNvSpPr txBox="true"/>
          <p:nvPr/>
        </p:nvSpPr>
        <p:spPr>
          <a:xfrm rot="0">
            <a:off x="1915013" y="634431"/>
            <a:ext cx="14716811" cy="1245235"/>
          </a:xfrm>
          <a:prstGeom prst="rect">
            <a:avLst/>
          </a:prstGeom>
        </p:spPr>
        <p:txBody>
          <a:bodyPr anchor="t" rtlCol="false" tIns="0" lIns="0" bIns="0" rIns="0">
            <a:spAutoFit/>
          </a:bodyPr>
          <a:lstStyle/>
          <a:p>
            <a:pPr algn="l">
              <a:lnSpc>
                <a:spcPts val="9679"/>
              </a:lnSpc>
            </a:pPr>
            <a:r>
              <a:rPr lang="en-US" sz="8799" b="true">
                <a:solidFill>
                  <a:srgbClr val="343734"/>
                </a:solidFill>
                <a:latin typeface="Montserrat Bold"/>
                <a:ea typeface="Montserrat Bold"/>
                <a:cs typeface="Montserrat Bold"/>
                <a:sym typeface="Montserrat Bold"/>
              </a:rPr>
              <a:t>Aspek Konten &amp; Ku</a:t>
            </a:r>
            <a:r>
              <a:rPr lang="en-US" b="true" sz="8799">
                <a:solidFill>
                  <a:srgbClr val="343734"/>
                </a:solidFill>
                <a:latin typeface="Montserrat Bold"/>
                <a:ea typeface="Montserrat Bold"/>
                <a:cs typeface="Montserrat Bold"/>
                <a:sym typeface="Montserrat Bold"/>
              </a:rPr>
              <a:t>alitas</a:t>
            </a:r>
          </a:p>
        </p:txBody>
      </p:sp>
      <p:sp>
        <p:nvSpPr>
          <p:cNvPr name="TextBox 3" id="3"/>
          <p:cNvSpPr txBox="true"/>
          <p:nvPr/>
        </p:nvSpPr>
        <p:spPr>
          <a:xfrm rot="0">
            <a:off x="2398049" y="2592151"/>
            <a:ext cx="15828716" cy="6871507"/>
          </a:xfrm>
          <a:prstGeom prst="rect">
            <a:avLst/>
          </a:prstGeom>
        </p:spPr>
        <p:txBody>
          <a:bodyPr anchor="t" rtlCol="false" tIns="0" lIns="0" bIns="0" rIns="0">
            <a:spAutoFit/>
          </a:bodyPr>
          <a:lstStyle/>
          <a:p>
            <a:pPr algn="l">
              <a:lnSpc>
                <a:spcPts val="4505"/>
              </a:lnSpc>
            </a:pPr>
            <a:r>
              <a:rPr lang="en-US" sz="3218">
                <a:solidFill>
                  <a:srgbClr val="343734"/>
                </a:solidFill>
                <a:latin typeface="Poppins"/>
                <a:ea typeface="Poppins"/>
                <a:cs typeface="Poppins"/>
                <a:sym typeface="Poppins"/>
              </a:rPr>
              <a:t>​​Re</a:t>
            </a:r>
            <a:r>
              <a:rPr lang="en-US" sz="3218">
                <a:solidFill>
                  <a:srgbClr val="343734"/>
                </a:solidFill>
                <a:latin typeface="Poppins"/>
                <a:ea typeface="Poppins"/>
                <a:cs typeface="Poppins"/>
                <a:sym typeface="Poppins"/>
              </a:rPr>
              <a:t>levan dengan masalah atau pertanyaan analisis?</a:t>
            </a:r>
          </a:p>
          <a:p>
            <a:pPr algn="l">
              <a:lnSpc>
                <a:spcPts val="4505"/>
              </a:lnSpc>
            </a:pPr>
          </a:p>
          <a:p>
            <a:pPr algn="l">
              <a:lnSpc>
                <a:spcPts val="4505"/>
              </a:lnSpc>
            </a:pPr>
            <a:r>
              <a:rPr lang="en-US" sz="3218">
                <a:solidFill>
                  <a:srgbClr val="343734"/>
                </a:solidFill>
                <a:latin typeface="Poppins"/>
                <a:ea typeface="Poppins"/>
                <a:cs typeface="Poppins"/>
                <a:sym typeface="Poppins"/>
              </a:rPr>
              <a:t>​​Jumlah data mencukupi (minimal ratusan baris)?</a:t>
            </a:r>
          </a:p>
          <a:p>
            <a:pPr algn="l">
              <a:lnSpc>
                <a:spcPts val="4505"/>
              </a:lnSpc>
            </a:pPr>
          </a:p>
          <a:p>
            <a:pPr algn="l">
              <a:lnSpc>
                <a:spcPts val="4505"/>
              </a:lnSpc>
            </a:pPr>
            <a:r>
              <a:rPr lang="en-US" sz="3218">
                <a:solidFill>
                  <a:srgbClr val="343734"/>
                </a:solidFill>
                <a:latin typeface="Poppins"/>
                <a:ea typeface="Poppins"/>
                <a:cs typeface="Poppins"/>
                <a:sym typeface="Poppins"/>
              </a:rPr>
              <a:t>​​Atribut/variabel yang dibutuhkan tersedia?</a:t>
            </a:r>
          </a:p>
          <a:p>
            <a:pPr algn="l">
              <a:lnSpc>
                <a:spcPts val="4505"/>
              </a:lnSpc>
            </a:pPr>
          </a:p>
          <a:p>
            <a:pPr algn="l">
              <a:lnSpc>
                <a:spcPts val="4505"/>
              </a:lnSpc>
            </a:pPr>
            <a:r>
              <a:rPr lang="en-US" sz="3218">
                <a:solidFill>
                  <a:srgbClr val="343734"/>
                </a:solidFill>
                <a:latin typeface="Poppins"/>
                <a:ea typeface="Poppins"/>
                <a:cs typeface="Poppins"/>
                <a:sym typeface="Poppins"/>
              </a:rPr>
              <a:t>​​Data memiliki kualitas yang memadai (tidak terlalu banyak missing value)?</a:t>
            </a:r>
          </a:p>
          <a:p>
            <a:pPr algn="l">
              <a:lnSpc>
                <a:spcPts val="4505"/>
              </a:lnSpc>
            </a:pPr>
          </a:p>
          <a:p>
            <a:pPr algn="l">
              <a:lnSpc>
                <a:spcPts val="4505"/>
              </a:lnSpc>
            </a:pPr>
            <a:r>
              <a:rPr lang="en-US" sz="3218">
                <a:solidFill>
                  <a:srgbClr val="343734"/>
                </a:solidFill>
                <a:latin typeface="Poppins"/>
                <a:ea typeface="Poppins"/>
                <a:cs typeface="Poppins"/>
                <a:sym typeface="Poppins"/>
              </a:rPr>
              <a:t>​​Ada target variabel / label jika analisis supervised?</a:t>
            </a:r>
          </a:p>
          <a:p>
            <a:pPr algn="l">
              <a:lnSpc>
                <a:spcPts val="4505"/>
              </a:lnSpc>
            </a:pPr>
          </a:p>
          <a:p>
            <a:pPr algn="l">
              <a:lnSpc>
                <a:spcPts val="4505"/>
              </a:lnSpc>
            </a:pPr>
            <a:r>
              <a:rPr lang="en-US" sz="3218">
                <a:solidFill>
                  <a:srgbClr val="343734"/>
                </a:solidFill>
                <a:latin typeface="Poppins"/>
                <a:ea typeface="Poppins"/>
                <a:cs typeface="Poppins"/>
                <a:sym typeface="Poppins"/>
              </a:rPr>
              <a:t>​​Dokumentasi atau data dictionary tersedia?</a:t>
            </a:r>
          </a:p>
          <a:p>
            <a:pPr algn="l">
              <a:lnSpc>
                <a:spcPts val="4505"/>
              </a:lnSpc>
            </a:pPr>
          </a:p>
        </p:txBody>
      </p:sp>
      <p:grpSp>
        <p:nvGrpSpPr>
          <p:cNvPr name="Group 4" id="4"/>
          <p:cNvGrpSpPr/>
          <p:nvPr/>
        </p:nvGrpSpPr>
        <p:grpSpPr>
          <a:xfrm rot="0">
            <a:off x="1028700" y="2738853"/>
            <a:ext cx="482624" cy="470361"/>
            <a:chOff x="0" y="0"/>
            <a:chExt cx="181607" cy="176993"/>
          </a:xfrm>
        </p:grpSpPr>
        <p:sp>
          <p:nvSpPr>
            <p:cNvPr name="Freeform 5" id="5"/>
            <p:cNvSpPr/>
            <p:nvPr/>
          </p:nvSpPr>
          <p:spPr>
            <a:xfrm flipH="false" flipV="false" rot="0">
              <a:off x="0" y="0"/>
              <a:ext cx="181607" cy="176993"/>
            </a:xfrm>
            <a:custGeom>
              <a:avLst/>
              <a:gdLst/>
              <a:ahLst/>
              <a:cxnLst/>
              <a:rect r="r" b="b" t="t" l="l"/>
              <a:pathLst>
                <a:path h="176993" w="181607">
                  <a:moveTo>
                    <a:pt x="88496" y="0"/>
                  </a:moveTo>
                  <a:lnTo>
                    <a:pt x="93111" y="0"/>
                  </a:lnTo>
                  <a:cubicBezTo>
                    <a:pt x="116581" y="0"/>
                    <a:pt x="139091" y="9324"/>
                    <a:pt x="155687" y="25920"/>
                  </a:cubicBezTo>
                  <a:cubicBezTo>
                    <a:pt x="172283" y="42516"/>
                    <a:pt x="181607" y="65026"/>
                    <a:pt x="181607" y="88496"/>
                  </a:cubicBezTo>
                  <a:lnTo>
                    <a:pt x="181607" y="88496"/>
                  </a:lnTo>
                  <a:cubicBezTo>
                    <a:pt x="181607" y="111967"/>
                    <a:pt x="172283" y="134476"/>
                    <a:pt x="155687" y="151073"/>
                  </a:cubicBezTo>
                  <a:cubicBezTo>
                    <a:pt x="139091" y="167669"/>
                    <a:pt x="116581" y="176993"/>
                    <a:pt x="93111" y="176993"/>
                  </a:cubicBezTo>
                  <a:lnTo>
                    <a:pt x="88496" y="176993"/>
                  </a:lnTo>
                  <a:cubicBezTo>
                    <a:pt x="65026" y="176993"/>
                    <a:pt x="42516" y="167669"/>
                    <a:pt x="25920" y="151073"/>
                  </a:cubicBezTo>
                  <a:cubicBezTo>
                    <a:pt x="9324" y="134476"/>
                    <a:pt x="0" y="111967"/>
                    <a:pt x="0" y="88496"/>
                  </a:cubicBezTo>
                  <a:lnTo>
                    <a:pt x="0" y="88496"/>
                  </a:lnTo>
                  <a:cubicBezTo>
                    <a:pt x="0" y="65026"/>
                    <a:pt x="9324" y="42516"/>
                    <a:pt x="25920" y="25920"/>
                  </a:cubicBezTo>
                  <a:cubicBezTo>
                    <a:pt x="42516" y="9324"/>
                    <a:pt x="65026" y="0"/>
                    <a:pt x="88496" y="0"/>
                  </a:cubicBezTo>
                  <a:close/>
                </a:path>
              </a:pathLst>
            </a:custGeom>
            <a:ln w="38100" cap="rnd">
              <a:solidFill>
                <a:srgbClr val="343734"/>
              </a:solidFill>
              <a:prstDash val="solid"/>
              <a:round/>
            </a:ln>
          </p:spPr>
        </p:sp>
        <p:sp>
          <p:nvSpPr>
            <p:cNvPr name="TextBox 6" id="6"/>
            <p:cNvSpPr txBox="true"/>
            <p:nvPr/>
          </p:nvSpPr>
          <p:spPr>
            <a:xfrm>
              <a:off x="0" y="-57150"/>
              <a:ext cx="181607" cy="234143"/>
            </a:xfrm>
            <a:prstGeom prst="rect">
              <a:avLst/>
            </a:prstGeom>
          </p:spPr>
          <p:txBody>
            <a:bodyPr anchor="ctr" rtlCol="false" tIns="50800" lIns="50800" bIns="50800" rIns="50800"/>
            <a:lstStyle/>
            <a:p>
              <a:pPr algn="ctr">
                <a:lnSpc>
                  <a:spcPts val="2799"/>
                </a:lnSpc>
              </a:pPr>
            </a:p>
          </p:txBody>
        </p:sp>
      </p:grpSp>
      <p:grpSp>
        <p:nvGrpSpPr>
          <p:cNvPr name="Group 7" id="7"/>
          <p:cNvGrpSpPr/>
          <p:nvPr/>
        </p:nvGrpSpPr>
        <p:grpSpPr>
          <a:xfrm rot="0">
            <a:off x="1028700" y="3866440"/>
            <a:ext cx="482624" cy="470361"/>
            <a:chOff x="0" y="0"/>
            <a:chExt cx="181607" cy="176993"/>
          </a:xfrm>
        </p:grpSpPr>
        <p:sp>
          <p:nvSpPr>
            <p:cNvPr name="Freeform 8" id="8"/>
            <p:cNvSpPr/>
            <p:nvPr/>
          </p:nvSpPr>
          <p:spPr>
            <a:xfrm flipH="false" flipV="false" rot="0">
              <a:off x="0" y="0"/>
              <a:ext cx="181607" cy="176993"/>
            </a:xfrm>
            <a:custGeom>
              <a:avLst/>
              <a:gdLst/>
              <a:ahLst/>
              <a:cxnLst/>
              <a:rect r="r" b="b" t="t" l="l"/>
              <a:pathLst>
                <a:path h="176993" w="181607">
                  <a:moveTo>
                    <a:pt x="88496" y="0"/>
                  </a:moveTo>
                  <a:lnTo>
                    <a:pt x="93111" y="0"/>
                  </a:lnTo>
                  <a:cubicBezTo>
                    <a:pt x="116581" y="0"/>
                    <a:pt x="139091" y="9324"/>
                    <a:pt x="155687" y="25920"/>
                  </a:cubicBezTo>
                  <a:cubicBezTo>
                    <a:pt x="172283" y="42516"/>
                    <a:pt x="181607" y="65026"/>
                    <a:pt x="181607" y="88496"/>
                  </a:cubicBezTo>
                  <a:lnTo>
                    <a:pt x="181607" y="88496"/>
                  </a:lnTo>
                  <a:cubicBezTo>
                    <a:pt x="181607" y="111967"/>
                    <a:pt x="172283" y="134476"/>
                    <a:pt x="155687" y="151073"/>
                  </a:cubicBezTo>
                  <a:cubicBezTo>
                    <a:pt x="139091" y="167669"/>
                    <a:pt x="116581" y="176993"/>
                    <a:pt x="93111" y="176993"/>
                  </a:cubicBezTo>
                  <a:lnTo>
                    <a:pt x="88496" y="176993"/>
                  </a:lnTo>
                  <a:cubicBezTo>
                    <a:pt x="65026" y="176993"/>
                    <a:pt x="42516" y="167669"/>
                    <a:pt x="25920" y="151073"/>
                  </a:cubicBezTo>
                  <a:cubicBezTo>
                    <a:pt x="9324" y="134476"/>
                    <a:pt x="0" y="111967"/>
                    <a:pt x="0" y="88496"/>
                  </a:cubicBezTo>
                  <a:lnTo>
                    <a:pt x="0" y="88496"/>
                  </a:lnTo>
                  <a:cubicBezTo>
                    <a:pt x="0" y="65026"/>
                    <a:pt x="9324" y="42516"/>
                    <a:pt x="25920" y="25920"/>
                  </a:cubicBezTo>
                  <a:cubicBezTo>
                    <a:pt x="42516" y="9324"/>
                    <a:pt x="65026" y="0"/>
                    <a:pt x="88496" y="0"/>
                  </a:cubicBezTo>
                  <a:close/>
                </a:path>
              </a:pathLst>
            </a:custGeom>
            <a:ln w="38100" cap="rnd">
              <a:solidFill>
                <a:srgbClr val="343734"/>
              </a:solidFill>
              <a:prstDash val="solid"/>
              <a:round/>
            </a:ln>
          </p:spPr>
        </p:sp>
        <p:sp>
          <p:nvSpPr>
            <p:cNvPr name="TextBox 9" id="9"/>
            <p:cNvSpPr txBox="true"/>
            <p:nvPr/>
          </p:nvSpPr>
          <p:spPr>
            <a:xfrm>
              <a:off x="0" y="-57150"/>
              <a:ext cx="181607" cy="234143"/>
            </a:xfrm>
            <a:prstGeom prst="rect">
              <a:avLst/>
            </a:prstGeom>
          </p:spPr>
          <p:txBody>
            <a:bodyPr anchor="ctr" rtlCol="false" tIns="50800" lIns="50800" bIns="50800" rIns="50800"/>
            <a:lstStyle/>
            <a:p>
              <a:pPr algn="ctr">
                <a:lnSpc>
                  <a:spcPts val="2799"/>
                </a:lnSpc>
              </a:pPr>
            </a:p>
          </p:txBody>
        </p:sp>
      </p:grpSp>
      <p:grpSp>
        <p:nvGrpSpPr>
          <p:cNvPr name="Group 10" id="10"/>
          <p:cNvGrpSpPr/>
          <p:nvPr/>
        </p:nvGrpSpPr>
        <p:grpSpPr>
          <a:xfrm rot="0">
            <a:off x="1028700" y="4994026"/>
            <a:ext cx="482624" cy="470361"/>
            <a:chOff x="0" y="0"/>
            <a:chExt cx="181607" cy="176993"/>
          </a:xfrm>
        </p:grpSpPr>
        <p:sp>
          <p:nvSpPr>
            <p:cNvPr name="Freeform 11" id="11"/>
            <p:cNvSpPr/>
            <p:nvPr/>
          </p:nvSpPr>
          <p:spPr>
            <a:xfrm flipH="false" flipV="false" rot="0">
              <a:off x="0" y="0"/>
              <a:ext cx="181607" cy="176993"/>
            </a:xfrm>
            <a:custGeom>
              <a:avLst/>
              <a:gdLst/>
              <a:ahLst/>
              <a:cxnLst/>
              <a:rect r="r" b="b" t="t" l="l"/>
              <a:pathLst>
                <a:path h="176993" w="181607">
                  <a:moveTo>
                    <a:pt x="88496" y="0"/>
                  </a:moveTo>
                  <a:lnTo>
                    <a:pt x="93111" y="0"/>
                  </a:lnTo>
                  <a:cubicBezTo>
                    <a:pt x="116581" y="0"/>
                    <a:pt x="139091" y="9324"/>
                    <a:pt x="155687" y="25920"/>
                  </a:cubicBezTo>
                  <a:cubicBezTo>
                    <a:pt x="172283" y="42516"/>
                    <a:pt x="181607" y="65026"/>
                    <a:pt x="181607" y="88496"/>
                  </a:cubicBezTo>
                  <a:lnTo>
                    <a:pt x="181607" y="88496"/>
                  </a:lnTo>
                  <a:cubicBezTo>
                    <a:pt x="181607" y="111967"/>
                    <a:pt x="172283" y="134476"/>
                    <a:pt x="155687" y="151073"/>
                  </a:cubicBezTo>
                  <a:cubicBezTo>
                    <a:pt x="139091" y="167669"/>
                    <a:pt x="116581" y="176993"/>
                    <a:pt x="93111" y="176993"/>
                  </a:cubicBezTo>
                  <a:lnTo>
                    <a:pt x="88496" y="176993"/>
                  </a:lnTo>
                  <a:cubicBezTo>
                    <a:pt x="65026" y="176993"/>
                    <a:pt x="42516" y="167669"/>
                    <a:pt x="25920" y="151073"/>
                  </a:cubicBezTo>
                  <a:cubicBezTo>
                    <a:pt x="9324" y="134476"/>
                    <a:pt x="0" y="111967"/>
                    <a:pt x="0" y="88496"/>
                  </a:cubicBezTo>
                  <a:lnTo>
                    <a:pt x="0" y="88496"/>
                  </a:lnTo>
                  <a:cubicBezTo>
                    <a:pt x="0" y="65026"/>
                    <a:pt x="9324" y="42516"/>
                    <a:pt x="25920" y="25920"/>
                  </a:cubicBezTo>
                  <a:cubicBezTo>
                    <a:pt x="42516" y="9324"/>
                    <a:pt x="65026" y="0"/>
                    <a:pt x="88496" y="0"/>
                  </a:cubicBezTo>
                  <a:close/>
                </a:path>
              </a:pathLst>
            </a:custGeom>
            <a:ln w="38100" cap="rnd">
              <a:solidFill>
                <a:srgbClr val="343734"/>
              </a:solidFill>
              <a:prstDash val="solid"/>
              <a:round/>
            </a:ln>
          </p:spPr>
        </p:sp>
        <p:sp>
          <p:nvSpPr>
            <p:cNvPr name="TextBox 12" id="12"/>
            <p:cNvSpPr txBox="true"/>
            <p:nvPr/>
          </p:nvSpPr>
          <p:spPr>
            <a:xfrm>
              <a:off x="0" y="-57150"/>
              <a:ext cx="181607" cy="234143"/>
            </a:xfrm>
            <a:prstGeom prst="rect">
              <a:avLst/>
            </a:prstGeom>
          </p:spPr>
          <p:txBody>
            <a:bodyPr anchor="ctr" rtlCol="false" tIns="50800" lIns="50800" bIns="50800" rIns="50800"/>
            <a:lstStyle/>
            <a:p>
              <a:pPr algn="ctr">
                <a:lnSpc>
                  <a:spcPts val="2799"/>
                </a:lnSpc>
              </a:pPr>
            </a:p>
          </p:txBody>
        </p:sp>
      </p:grpSp>
      <p:grpSp>
        <p:nvGrpSpPr>
          <p:cNvPr name="Group 13" id="13"/>
          <p:cNvGrpSpPr/>
          <p:nvPr/>
        </p:nvGrpSpPr>
        <p:grpSpPr>
          <a:xfrm rot="0">
            <a:off x="1028700" y="6121612"/>
            <a:ext cx="482624" cy="470361"/>
            <a:chOff x="0" y="0"/>
            <a:chExt cx="181607" cy="176993"/>
          </a:xfrm>
        </p:grpSpPr>
        <p:sp>
          <p:nvSpPr>
            <p:cNvPr name="Freeform 14" id="14"/>
            <p:cNvSpPr/>
            <p:nvPr/>
          </p:nvSpPr>
          <p:spPr>
            <a:xfrm flipH="false" flipV="false" rot="0">
              <a:off x="0" y="0"/>
              <a:ext cx="181607" cy="176993"/>
            </a:xfrm>
            <a:custGeom>
              <a:avLst/>
              <a:gdLst/>
              <a:ahLst/>
              <a:cxnLst/>
              <a:rect r="r" b="b" t="t" l="l"/>
              <a:pathLst>
                <a:path h="176993" w="181607">
                  <a:moveTo>
                    <a:pt x="88496" y="0"/>
                  </a:moveTo>
                  <a:lnTo>
                    <a:pt x="93111" y="0"/>
                  </a:lnTo>
                  <a:cubicBezTo>
                    <a:pt x="116581" y="0"/>
                    <a:pt x="139091" y="9324"/>
                    <a:pt x="155687" y="25920"/>
                  </a:cubicBezTo>
                  <a:cubicBezTo>
                    <a:pt x="172283" y="42516"/>
                    <a:pt x="181607" y="65026"/>
                    <a:pt x="181607" y="88496"/>
                  </a:cubicBezTo>
                  <a:lnTo>
                    <a:pt x="181607" y="88496"/>
                  </a:lnTo>
                  <a:cubicBezTo>
                    <a:pt x="181607" y="111967"/>
                    <a:pt x="172283" y="134476"/>
                    <a:pt x="155687" y="151073"/>
                  </a:cubicBezTo>
                  <a:cubicBezTo>
                    <a:pt x="139091" y="167669"/>
                    <a:pt x="116581" y="176993"/>
                    <a:pt x="93111" y="176993"/>
                  </a:cubicBezTo>
                  <a:lnTo>
                    <a:pt x="88496" y="176993"/>
                  </a:lnTo>
                  <a:cubicBezTo>
                    <a:pt x="65026" y="176993"/>
                    <a:pt x="42516" y="167669"/>
                    <a:pt x="25920" y="151073"/>
                  </a:cubicBezTo>
                  <a:cubicBezTo>
                    <a:pt x="9324" y="134476"/>
                    <a:pt x="0" y="111967"/>
                    <a:pt x="0" y="88496"/>
                  </a:cubicBezTo>
                  <a:lnTo>
                    <a:pt x="0" y="88496"/>
                  </a:lnTo>
                  <a:cubicBezTo>
                    <a:pt x="0" y="65026"/>
                    <a:pt x="9324" y="42516"/>
                    <a:pt x="25920" y="25920"/>
                  </a:cubicBezTo>
                  <a:cubicBezTo>
                    <a:pt x="42516" y="9324"/>
                    <a:pt x="65026" y="0"/>
                    <a:pt x="88496" y="0"/>
                  </a:cubicBezTo>
                  <a:close/>
                </a:path>
              </a:pathLst>
            </a:custGeom>
            <a:ln w="38100" cap="rnd">
              <a:solidFill>
                <a:srgbClr val="343734"/>
              </a:solidFill>
              <a:prstDash val="solid"/>
              <a:round/>
            </a:ln>
          </p:spPr>
        </p:sp>
        <p:sp>
          <p:nvSpPr>
            <p:cNvPr name="TextBox 15" id="15"/>
            <p:cNvSpPr txBox="true"/>
            <p:nvPr/>
          </p:nvSpPr>
          <p:spPr>
            <a:xfrm>
              <a:off x="0" y="-57150"/>
              <a:ext cx="181607" cy="234143"/>
            </a:xfrm>
            <a:prstGeom prst="rect">
              <a:avLst/>
            </a:prstGeom>
          </p:spPr>
          <p:txBody>
            <a:bodyPr anchor="ctr" rtlCol="false" tIns="50800" lIns="50800" bIns="50800" rIns="50800"/>
            <a:lstStyle/>
            <a:p>
              <a:pPr algn="ctr">
                <a:lnSpc>
                  <a:spcPts val="2799"/>
                </a:lnSpc>
              </a:pPr>
            </a:p>
          </p:txBody>
        </p:sp>
      </p:grpSp>
      <p:grpSp>
        <p:nvGrpSpPr>
          <p:cNvPr name="Group 16" id="16"/>
          <p:cNvGrpSpPr/>
          <p:nvPr/>
        </p:nvGrpSpPr>
        <p:grpSpPr>
          <a:xfrm rot="0">
            <a:off x="1028700" y="7268249"/>
            <a:ext cx="482624" cy="470361"/>
            <a:chOff x="0" y="0"/>
            <a:chExt cx="181607" cy="176993"/>
          </a:xfrm>
        </p:grpSpPr>
        <p:sp>
          <p:nvSpPr>
            <p:cNvPr name="Freeform 17" id="17"/>
            <p:cNvSpPr/>
            <p:nvPr/>
          </p:nvSpPr>
          <p:spPr>
            <a:xfrm flipH="false" flipV="false" rot="0">
              <a:off x="0" y="0"/>
              <a:ext cx="181607" cy="176993"/>
            </a:xfrm>
            <a:custGeom>
              <a:avLst/>
              <a:gdLst/>
              <a:ahLst/>
              <a:cxnLst/>
              <a:rect r="r" b="b" t="t" l="l"/>
              <a:pathLst>
                <a:path h="176993" w="181607">
                  <a:moveTo>
                    <a:pt x="88496" y="0"/>
                  </a:moveTo>
                  <a:lnTo>
                    <a:pt x="93111" y="0"/>
                  </a:lnTo>
                  <a:cubicBezTo>
                    <a:pt x="116581" y="0"/>
                    <a:pt x="139091" y="9324"/>
                    <a:pt x="155687" y="25920"/>
                  </a:cubicBezTo>
                  <a:cubicBezTo>
                    <a:pt x="172283" y="42516"/>
                    <a:pt x="181607" y="65026"/>
                    <a:pt x="181607" y="88496"/>
                  </a:cubicBezTo>
                  <a:lnTo>
                    <a:pt x="181607" y="88496"/>
                  </a:lnTo>
                  <a:cubicBezTo>
                    <a:pt x="181607" y="111967"/>
                    <a:pt x="172283" y="134476"/>
                    <a:pt x="155687" y="151073"/>
                  </a:cubicBezTo>
                  <a:cubicBezTo>
                    <a:pt x="139091" y="167669"/>
                    <a:pt x="116581" y="176993"/>
                    <a:pt x="93111" y="176993"/>
                  </a:cubicBezTo>
                  <a:lnTo>
                    <a:pt x="88496" y="176993"/>
                  </a:lnTo>
                  <a:cubicBezTo>
                    <a:pt x="65026" y="176993"/>
                    <a:pt x="42516" y="167669"/>
                    <a:pt x="25920" y="151073"/>
                  </a:cubicBezTo>
                  <a:cubicBezTo>
                    <a:pt x="9324" y="134476"/>
                    <a:pt x="0" y="111967"/>
                    <a:pt x="0" y="88496"/>
                  </a:cubicBezTo>
                  <a:lnTo>
                    <a:pt x="0" y="88496"/>
                  </a:lnTo>
                  <a:cubicBezTo>
                    <a:pt x="0" y="65026"/>
                    <a:pt x="9324" y="42516"/>
                    <a:pt x="25920" y="25920"/>
                  </a:cubicBezTo>
                  <a:cubicBezTo>
                    <a:pt x="42516" y="9324"/>
                    <a:pt x="65026" y="0"/>
                    <a:pt x="88496" y="0"/>
                  </a:cubicBezTo>
                  <a:close/>
                </a:path>
              </a:pathLst>
            </a:custGeom>
            <a:ln w="38100" cap="rnd">
              <a:solidFill>
                <a:srgbClr val="343734"/>
              </a:solidFill>
              <a:prstDash val="solid"/>
              <a:round/>
            </a:ln>
          </p:spPr>
        </p:sp>
        <p:sp>
          <p:nvSpPr>
            <p:cNvPr name="TextBox 18" id="18"/>
            <p:cNvSpPr txBox="true"/>
            <p:nvPr/>
          </p:nvSpPr>
          <p:spPr>
            <a:xfrm>
              <a:off x="0" y="-57150"/>
              <a:ext cx="181607" cy="234143"/>
            </a:xfrm>
            <a:prstGeom prst="rect">
              <a:avLst/>
            </a:prstGeom>
          </p:spPr>
          <p:txBody>
            <a:bodyPr anchor="ctr" rtlCol="false" tIns="50800" lIns="50800" bIns="50800" rIns="50800"/>
            <a:lstStyle/>
            <a:p>
              <a:pPr algn="ctr">
                <a:lnSpc>
                  <a:spcPts val="2799"/>
                </a:lnSpc>
              </a:pPr>
            </a:p>
          </p:txBody>
        </p:sp>
      </p:grpSp>
      <p:grpSp>
        <p:nvGrpSpPr>
          <p:cNvPr name="Group 19" id="19"/>
          <p:cNvGrpSpPr/>
          <p:nvPr/>
        </p:nvGrpSpPr>
        <p:grpSpPr>
          <a:xfrm rot="0">
            <a:off x="1028700" y="8395835"/>
            <a:ext cx="482624" cy="470361"/>
            <a:chOff x="0" y="0"/>
            <a:chExt cx="181607" cy="176993"/>
          </a:xfrm>
        </p:grpSpPr>
        <p:sp>
          <p:nvSpPr>
            <p:cNvPr name="Freeform 20" id="20"/>
            <p:cNvSpPr/>
            <p:nvPr/>
          </p:nvSpPr>
          <p:spPr>
            <a:xfrm flipH="false" flipV="false" rot="0">
              <a:off x="0" y="0"/>
              <a:ext cx="181607" cy="176993"/>
            </a:xfrm>
            <a:custGeom>
              <a:avLst/>
              <a:gdLst/>
              <a:ahLst/>
              <a:cxnLst/>
              <a:rect r="r" b="b" t="t" l="l"/>
              <a:pathLst>
                <a:path h="176993" w="181607">
                  <a:moveTo>
                    <a:pt x="88496" y="0"/>
                  </a:moveTo>
                  <a:lnTo>
                    <a:pt x="93111" y="0"/>
                  </a:lnTo>
                  <a:cubicBezTo>
                    <a:pt x="116581" y="0"/>
                    <a:pt x="139091" y="9324"/>
                    <a:pt x="155687" y="25920"/>
                  </a:cubicBezTo>
                  <a:cubicBezTo>
                    <a:pt x="172283" y="42516"/>
                    <a:pt x="181607" y="65026"/>
                    <a:pt x="181607" y="88496"/>
                  </a:cubicBezTo>
                  <a:lnTo>
                    <a:pt x="181607" y="88496"/>
                  </a:lnTo>
                  <a:cubicBezTo>
                    <a:pt x="181607" y="111967"/>
                    <a:pt x="172283" y="134476"/>
                    <a:pt x="155687" y="151073"/>
                  </a:cubicBezTo>
                  <a:cubicBezTo>
                    <a:pt x="139091" y="167669"/>
                    <a:pt x="116581" y="176993"/>
                    <a:pt x="93111" y="176993"/>
                  </a:cubicBezTo>
                  <a:lnTo>
                    <a:pt x="88496" y="176993"/>
                  </a:lnTo>
                  <a:cubicBezTo>
                    <a:pt x="65026" y="176993"/>
                    <a:pt x="42516" y="167669"/>
                    <a:pt x="25920" y="151073"/>
                  </a:cubicBezTo>
                  <a:cubicBezTo>
                    <a:pt x="9324" y="134476"/>
                    <a:pt x="0" y="111967"/>
                    <a:pt x="0" y="88496"/>
                  </a:cubicBezTo>
                  <a:lnTo>
                    <a:pt x="0" y="88496"/>
                  </a:lnTo>
                  <a:cubicBezTo>
                    <a:pt x="0" y="65026"/>
                    <a:pt x="9324" y="42516"/>
                    <a:pt x="25920" y="25920"/>
                  </a:cubicBezTo>
                  <a:cubicBezTo>
                    <a:pt x="42516" y="9324"/>
                    <a:pt x="65026" y="0"/>
                    <a:pt x="88496" y="0"/>
                  </a:cubicBezTo>
                  <a:close/>
                </a:path>
              </a:pathLst>
            </a:custGeom>
            <a:ln w="38100" cap="rnd">
              <a:solidFill>
                <a:srgbClr val="343734"/>
              </a:solidFill>
              <a:prstDash val="solid"/>
              <a:round/>
            </a:ln>
          </p:spPr>
        </p:sp>
        <p:sp>
          <p:nvSpPr>
            <p:cNvPr name="TextBox 21" id="21"/>
            <p:cNvSpPr txBox="true"/>
            <p:nvPr/>
          </p:nvSpPr>
          <p:spPr>
            <a:xfrm>
              <a:off x="0" y="-57150"/>
              <a:ext cx="181607" cy="234143"/>
            </a:xfrm>
            <a:prstGeom prst="rect">
              <a:avLst/>
            </a:prstGeom>
          </p:spPr>
          <p:txBody>
            <a:bodyPr anchor="ctr" rtlCol="false" tIns="50800" lIns="50800" bIns="50800" rIns="50800"/>
            <a:lstStyle/>
            <a:p>
              <a:pPr algn="ctr">
                <a:lnSpc>
                  <a:spcPts val="2799"/>
                </a:lnSpc>
              </a:pPr>
            </a:p>
          </p:txBody>
        </p:sp>
      </p:grpSp>
      <p:sp>
        <p:nvSpPr>
          <p:cNvPr name="Freeform 22" id="22"/>
          <p:cNvSpPr/>
          <p:nvPr/>
        </p:nvSpPr>
        <p:spPr>
          <a:xfrm flipH="false" flipV="false" rot="0">
            <a:off x="1028700" y="2451362"/>
            <a:ext cx="714263" cy="574981"/>
          </a:xfrm>
          <a:custGeom>
            <a:avLst/>
            <a:gdLst/>
            <a:ahLst/>
            <a:cxnLst/>
            <a:rect r="r" b="b" t="t" l="l"/>
            <a:pathLst>
              <a:path h="574981" w="714263">
                <a:moveTo>
                  <a:pt x="0" y="0"/>
                </a:moveTo>
                <a:lnTo>
                  <a:pt x="714263" y="0"/>
                </a:lnTo>
                <a:lnTo>
                  <a:pt x="714263" y="574982"/>
                </a:lnTo>
                <a:lnTo>
                  <a:pt x="0" y="57498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23" id="23"/>
          <p:cNvSpPr/>
          <p:nvPr/>
        </p:nvSpPr>
        <p:spPr>
          <a:xfrm flipH="false" flipV="false" rot="0">
            <a:off x="1028700" y="3578949"/>
            <a:ext cx="714263" cy="574981"/>
          </a:xfrm>
          <a:custGeom>
            <a:avLst/>
            <a:gdLst/>
            <a:ahLst/>
            <a:cxnLst/>
            <a:rect r="r" b="b" t="t" l="l"/>
            <a:pathLst>
              <a:path h="574981" w="714263">
                <a:moveTo>
                  <a:pt x="0" y="0"/>
                </a:moveTo>
                <a:lnTo>
                  <a:pt x="714263" y="0"/>
                </a:lnTo>
                <a:lnTo>
                  <a:pt x="714263" y="574981"/>
                </a:lnTo>
                <a:lnTo>
                  <a:pt x="0" y="57498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24" id="24"/>
          <p:cNvSpPr/>
          <p:nvPr/>
        </p:nvSpPr>
        <p:spPr>
          <a:xfrm flipH="false" flipV="false" rot="0">
            <a:off x="1028700" y="4706535"/>
            <a:ext cx="714263" cy="574981"/>
          </a:xfrm>
          <a:custGeom>
            <a:avLst/>
            <a:gdLst/>
            <a:ahLst/>
            <a:cxnLst/>
            <a:rect r="r" b="b" t="t" l="l"/>
            <a:pathLst>
              <a:path h="574981" w="714263">
                <a:moveTo>
                  <a:pt x="0" y="0"/>
                </a:moveTo>
                <a:lnTo>
                  <a:pt x="714263" y="0"/>
                </a:lnTo>
                <a:lnTo>
                  <a:pt x="714263" y="574982"/>
                </a:lnTo>
                <a:lnTo>
                  <a:pt x="0" y="57498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25" id="25"/>
          <p:cNvSpPr/>
          <p:nvPr/>
        </p:nvSpPr>
        <p:spPr>
          <a:xfrm flipH="false" flipV="false" rot="0">
            <a:off x="1028700" y="6961708"/>
            <a:ext cx="714263" cy="574981"/>
          </a:xfrm>
          <a:custGeom>
            <a:avLst/>
            <a:gdLst/>
            <a:ahLst/>
            <a:cxnLst/>
            <a:rect r="r" b="b" t="t" l="l"/>
            <a:pathLst>
              <a:path h="574981" w="714263">
                <a:moveTo>
                  <a:pt x="0" y="0"/>
                </a:moveTo>
                <a:lnTo>
                  <a:pt x="714263" y="0"/>
                </a:lnTo>
                <a:lnTo>
                  <a:pt x="714263" y="574982"/>
                </a:lnTo>
                <a:lnTo>
                  <a:pt x="0" y="57498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26" id="26"/>
          <p:cNvSpPr/>
          <p:nvPr/>
        </p:nvSpPr>
        <p:spPr>
          <a:xfrm flipH="false" flipV="false" rot="0">
            <a:off x="1028700" y="5834122"/>
            <a:ext cx="714263" cy="574981"/>
          </a:xfrm>
          <a:custGeom>
            <a:avLst/>
            <a:gdLst/>
            <a:ahLst/>
            <a:cxnLst/>
            <a:rect r="r" b="b" t="t" l="l"/>
            <a:pathLst>
              <a:path h="574981" w="714263">
                <a:moveTo>
                  <a:pt x="0" y="0"/>
                </a:moveTo>
                <a:lnTo>
                  <a:pt x="714263" y="0"/>
                </a:lnTo>
                <a:lnTo>
                  <a:pt x="714263" y="574981"/>
                </a:lnTo>
                <a:lnTo>
                  <a:pt x="0" y="57498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70A1BD"/>
        </a:solidFill>
      </p:bgPr>
    </p:bg>
    <p:spTree>
      <p:nvGrpSpPr>
        <p:cNvPr id="1" name=""/>
        <p:cNvGrpSpPr/>
        <p:nvPr/>
      </p:nvGrpSpPr>
      <p:grpSpPr>
        <a:xfrm>
          <a:off x="0" y="0"/>
          <a:ext cx="0" cy="0"/>
          <a:chOff x="0" y="0"/>
          <a:chExt cx="0" cy="0"/>
        </a:xfrm>
      </p:grpSpPr>
      <p:sp>
        <p:nvSpPr>
          <p:cNvPr name="Freeform 2" id="2"/>
          <p:cNvSpPr/>
          <p:nvPr/>
        </p:nvSpPr>
        <p:spPr>
          <a:xfrm flipH="false" flipV="false" rot="0">
            <a:off x="1044866" y="8955016"/>
            <a:ext cx="973043" cy="973043"/>
          </a:xfrm>
          <a:custGeom>
            <a:avLst/>
            <a:gdLst/>
            <a:ahLst/>
            <a:cxnLst/>
            <a:rect r="r" b="b" t="t" l="l"/>
            <a:pathLst>
              <a:path h="973043" w="973043">
                <a:moveTo>
                  <a:pt x="0" y="0"/>
                </a:moveTo>
                <a:lnTo>
                  <a:pt x="973043" y="0"/>
                </a:lnTo>
                <a:lnTo>
                  <a:pt x="973043" y="973044"/>
                </a:lnTo>
                <a:lnTo>
                  <a:pt x="0" y="97304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4503166" y="2386793"/>
            <a:ext cx="12758074" cy="6871507"/>
          </a:xfrm>
          <a:prstGeom prst="rect">
            <a:avLst/>
          </a:prstGeom>
        </p:spPr>
        <p:txBody>
          <a:bodyPr anchor="t" rtlCol="false" tIns="0" lIns="0" bIns="0" rIns="0">
            <a:spAutoFit/>
          </a:bodyPr>
          <a:lstStyle/>
          <a:p>
            <a:pPr algn="l">
              <a:lnSpc>
                <a:spcPts val="4505"/>
              </a:lnSpc>
            </a:pPr>
            <a:r>
              <a:rPr lang="en-US" sz="3218">
                <a:solidFill>
                  <a:srgbClr val="EFF1E8"/>
                </a:solidFill>
                <a:latin typeface="Poppins"/>
                <a:ea typeface="Poppins"/>
                <a:cs typeface="Poppins"/>
                <a:sym typeface="Poppins"/>
              </a:rPr>
              <a:t>​Forma</a:t>
            </a:r>
            <a:r>
              <a:rPr lang="en-US" sz="3218">
                <a:solidFill>
                  <a:srgbClr val="EFF1E8"/>
                </a:solidFill>
                <a:latin typeface="Poppins"/>
                <a:ea typeface="Poppins"/>
                <a:cs typeface="Poppins"/>
                <a:sym typeface="Poppins"/>
              </a:rPr>
              <a:t>t file dapat dibaca oleh tools yang digunakan?</a:t>
            </a:r>
          </a:p>
          <a:p>
            <a:pPr algn="l">
              <a:lnSpc>
                <a:spcPts val="4505"/>
              </a:lnSpc>
            </a:pPr>
          </a:p>
          <a:p>
            <a:pPr algn="l">
              <a:lnSpc>
                <a:spcPts val="4505"/>
              </a:lnSpc>
            </a:pPr>
            <a:r>
              <a:rPr lang="en-US" sz="3218">
                <a:solidFill>
                  <a:srgbClr val="EFF1E8"/>
                </a:solidFill>
                <a:latin typeface="Poppins"/>
                <a:ea typeface="Poppins"/>
                <a:cs typeface="Poppins"/>
                <a:sym typeface="Poppins"/>
              </a:rPr>
              <a:t>​Ukuran file sesuai kemampuan perangkat?</a:t>
            </a:r>
          </a:p>
          <a:p>
            <a:pPr algn="l">
              <a:lnSpc>
                <a:spcPts val="4505"/>
              </a:lnSpc>
            </a:pPr>
          </a:p>
          <a:p>
            <a:pPr algn="l">
              <a:lnSpc>
                <a:spcPts val="4505"/>
              </a:lnSpc>
            </a:pPr>
            <a:r>
              <a:rPr lang="en-US" sz="3218">
                <a:solidFill>
                  <a:srgbClr val="EFF1E8"/>
                </a:solidFill>
                <a:latin typeface="Poppins"/>
                <a:ea typeface="Poppins"/>
                <a:cs typeface="Poppins"/>
                <a:sym typeface="Poppins"/>
              </a:rPr>
              <a:t>​Lisensi mengizinkan penggunaan untuk tujuan ini?</a:t>
            </a:r>
          </a:p>
          <a:p>
            <a:pPr algn="l">
              <a:lnSpc>
                <a:spcPts val="4505"/>
              </a:lnSpc>
            </a:pPr>
          </a:p>
          <a:p>
            <a:pPr algn="l">
              <a:lnSpc>
                <a:spcPts val="4505"/>
              </a:lnSpc>
            </a:pPr>
            <a:r>
              <a:rPr lang="en-US" sz="3218">
                <a:solidFill>
                  <a:srgbClr val="EFF1E8"/>
                </a:solidFill>
                <a:latin typeface="Poppins"/>
                <a:ea typeface="Poppins"/>
                <a:cs typeface="Poppins"/>
                <a:sym typeface="Poppins"/>
              </a:rPr>
              <a:t>​Sumber data jelas dan kredibel?</a:t>
            </a:r>
          </a:p>
          <a:p>
            <a:pPr algn="l">
              <a:lnSpc>
                <a:spcPts val="4505"/>
              </a:lnSpc>
            </a:pPr>
          </a:p>
          <a:p>
            <a:pPr algn="l">
              <a:lnSpc>
                <a:spcPts val="4505"/>
              </a:lnSpc>
            </a:pPr>
            <a:r>
              <a:rPr lang="en-US" sz="3218">
                <a:solidFill>
                  <a:srgbClr val="EFF1E8"/>
                </a:solidFill>
                <a:latin typeface="Poppins"/>
                <a:ea typeface="Poppins"/>
                <a:cs typeface="Poppins"/>
                <a:sym typeface="Poppins"/>
              </a:rPr>
              <a:t>​Tidak mengandung data sensitif/PII yang tidak dianonimkan?</a:t>
            </a:r>
          </a:p>
          <a:p>
            <a:pPr algn="l">
              <a:lnSpc>
                <a:spcPts val="4505"/>
              </a:lnSpc>
            </a:pPr>
          </a:p>
          <a:p>
            <a:pPr algn="l">
              <a:lnSpc>
                <a:spcPts val="4505"/>
              </a:lnSpc>
            </a:pPr>
            <a:r>
              <a:rPr lang="en-US" sz="3218">
                <a:solidFill>
                  <a:srgbClr val="EFF1E8"/>
                </a:solidFill>
                <a:latin typeface="Poppins"/>
                <a:ea typeface="Poppins"/>
                <a:cs typeface="Poppins"/>
                <a:sym typeface="Poppins"/>
              </a:rPr>
              <a:t>​Tingkat kesulitan sesuai kemampuan tim/individu?</a:t>
            </a:r>
          </a:p>
          <a:p>
            <a:pPr algn="l">
              <a:lnSpc>
                <a:spcPts val="4505"/>
              </a:lnSpc>
            </a:pPr>
          </a:p>
        </p:txBody>
      </p:sp>
      <p:sp>
        <p:nvSpPr>
          <p:cNvPr name="Freeform 4" id="4"/>
          <p:cNvSpPr/>
          <p:nvPr/>
        </p:nvSpPr>
        <p:spPr>
          <a:xfrm flipH="true" flipV="false" rot="0">
            <a:off x="16299682" y="8966503"/>
            <a:ext cx="961557" cy="961557"/>
          </a:xfrm>
          <a:custGeom>
            <a:avLst/>
            <a:gdLst/>
            <a:ahLst/>
            <a:cxnLst/>
            <a:rect r="r" b="b" t="t" l="l"/>
            <a:pathLst>
              <a:path h="961557" w="961557">
                <a:moveTo>
                  <a:pt x="961557" y="0"/>
                </a:moveTo>
                <a:lnTo>
                  <a:pt x="0" y="0"/>
                </a:lnTo>
                <a:lnTo>
                  <a:pt x="0" y="961557"/>
                </a:lnTo>
                <a:lnTo>
                  <a:pt x="961557" y="961557"/>
                </a:lnTo>
                <a:lnTo>
                  <a:pt x="961557"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5" id="5"/>
          <p:cNvGrpSpPr/>
          <p:nvPr/>
        </p:nvGrpSpPr>
        <p:grpSpPr>
          <a:xfrm rot="0">
            <a:off x="3133816" y="2533495"/>
            <a:ext cx="482624" cy="470361"/>
            <a:chOff x="0" y="0"/>
            <a:chExt cx="181607" cy="176993"/>
          </a:xfrm>
        </p:grpSpPr>
        <p:sp>
          <p:nvSpPr>
            <p:cNvPr name="Freeform 6" id="6"/>
            <p:cNvSpPr/>
            <p:nvPr/>
          </p:nvSpPr>
          <p:spPr>
            <a:xfrm flipH="false" flipV="false" rot="0">
              <a:off x="0" y="0"/>
              <a:ext cx="181607" cy="176993"/>
            </a:xfrm>
            <a:custGeom>
              <a:avLst/>
              <a:gdLst/>
              <a:ahLst/>
              <a:cxnLst/>
              <a:rect r="r" b="b" t="t" l="l"/>
              <a:pathLst>
                <a:path h="176993" w="181607">
                  <a:moveTo>
                    <a:pt x="88496" y="0"/>
                  </a:moveTo>
                  <a:lnTo>
                    <a:pt x="93111" y="0"/>
                  </a:lnTo>
                  <a:cubicBezTo>
                    <a:pt x="116581" y="0"/>
                    <a:pt x="139091" y="9324"/>
                    <a:pt x="155687" y="25920"/>
                  </a:cubicBezTo>
                  <a:cubicBezTo>
                    <a:pt x="172283" y="42516"/>
                    <a:pt x="181607" y="65026"/>
                    <a:pt x="181607" y="88496"/>
                  </a:cubicBezTo>
                  <a:lnTo>
                    <a:pt x="181607" y="88496"/>
                  </a:lnTo>
                  <a:cubicBezTo>
                    <a:pt x="181607" y="111967"/>
                    <a:pt x="172283" y="134476"/>
                    <a:pt x="155687" y="151073"/>
                  </a:cubicBezTo>
                  <a:cubicBezTo>
                    <a:pt x="139091" y="167669"/>
                    <a:pt x="116581" y="176993"/>
                    <a:pt x="93111" y="176993"/>
                  </a:cubicBezTo>
                  <a:lnTo>
                    <a:pt x="88496" y="176993"/>
                  </a:lnTo>
                  <a:cubicBezTo>
                    <a:pt x="65026" y="176993"/>
                    <a:pt x="42516" y="167669"/>
                    <a:pt x="25920" y="151073"/>
                  </a:cubicBezTo>
                  <a:cubicBezTo>
                    <a:pt x="9324" y="134476"/>
                    <a:pt x="0" y="111967"/>
                    <a:pt x="0" y="88496"/>
                  </a:cubicBezTo>
                  <a:lnTo>
                    <a:pt x="0" y="88496"/>
                  </a:lnTo>
                  <a:cubicBezTo>
                    <a:pt x="0" y="65026"/>
                    <a:pt x="9324" y="42516"/>
                    <a:pt x="25920" y="25920"/>
                  </a:cubicBezTo>
                  <a:cubicBezTo>
                    <a:pt x="42516" y="9324"/>
                    <a:pt x="65026" y="0"/>
                    <a:pt x="88496" y="0"/>
                  </a:cubicBezTo>
                  <a:close/>
                </a:path>
              </a:pathLst>
            </a:custGeom>
            <a:ln w="38100" cap="rnd">
              <a:solidFill>
                <a:srgbClr val="EFF1E8"/>
              </a:solidFill>
              <a:prstDash val="solid"/>
              <a:round/>
            </a:ln>
          </p:spPr>
        </p:sp>
        <p:sp>
          <p:nvSpPr>
            <p:cNvPr name="TextBox 7" id="7"/>
            <p:cNvSpPr txBox="true"/>
            <p:nvPr/>
          </p:nvSpPr>
          <p:spPr>
            <a:xfrm>
              <a:off x="0" y="-57150"/>
              <a:ext cx="181607" cy="234143"/>
            </a:xfrm>
            <a:prstGeom prst="rect">
              <a:avLst/>
            </a:prstGeom>
          </p:spPr>
          <p:txBody>
            <a:bodyPr anchor="ctr" rtlCol="false" tIns="50800" lIns="50800" bIns="50800" rIns="50800"/>
            <a:lstStyle/>
            <a:p>
              <a:pPr algn="ctr">
                <a:lnSpc>
                  <a:spcPts val="2799"/>
                </a:lnSpc>
              </a:pPr>
            </a:p>
          </p:txBody>
        </p:sp>
      </p:grpSp>
      <p:grpSp>
        <p:nvGrpSpPr>
          <p:cNvPr name="Group 8" id="8"/>
          <p:cNvGrpSpPr/>
          <p:nvPr/>
        </p:nvGrpSpPr>
        <p:grpSpPr>
          <a:xfrm rot="0">
            <a:off x="3133816" y="3661081"/>
            <a:ext cx="482624" cy="470361"/>
            <a:chOff x="0" y="0"/>
            <a:chExt cx="181607" cy="176993"/>
          </a:xfrm>
        </p:grpSpPr>
        <p:sp>
          <p:nvSpPr>
            <p:cNvPr name="Freeform 9" id="9"/>
            <p:cNvSpPr/>
            <p:nvPr/>
          </p:nvSpPr>
          <p:spPr>
            <a:xfrm flipH="false" flipV="false" rot="0">
              <a:off x="0" y="0"/>
              <a:ext cx="181607" cy="176993"/>
            </a:xfrm>
            <a:custGeom>
              <a:avLst/>
              <a:gdLst/>
              <a:ahLst/>
              <a:cxnLst/>
              <a:rect r="r" b="b" t="t" l="l"/>
              <a:pathLst>
                <a:path h="176993" w="181607">
                  <a:moveTo>
                    <a:pt x="88496" y="0"/>
                  </a:moveTo>
                  <a:lnTo>
                    <a:pt x="93111" y="0"/>
                  </a:lnTo>
                  <a:cubicBezTo>
                    <a:pt x="116581" y="0"/>
                    <a:pt x="139091" y="9324"/>
                    <a:pt x="155687" y="25920"/>
                  </a:cubicBezTo>
                  <a:cubicBezTo>
                    <a:pt x="172283" y="42516"/>
                    <a:pt x="181607" y="65026"/>
                    <a:pt x="181607" y="88496"/>
                  </a:cubicBezTo>
                  <a:lnTo>
                    <a:pt x="181607" y="88496"/>
                  </a:lnTo>
                  <a:cubicBezTo>
                    <a:pt x="181607" y="111967"/>
                    <a:pt x="172283" y="134476"/>
                    <a:pt x="155687" y="151073"/>
                  </a:cubicBezTo>
                  <a:cubicBezTo>
                    <a:pt x="139091" y="167669"/>
                    <a:pt x="116581" y="176993"/>
                    <a:pt x="93111" y="176993"/>
                  </a:cubicBezTo>
                  <a:lnTo>
                    <a:pt x="88496" y="176993"/>
                  </a:lnTo>
                  <a:cubicBezTo>
                    <a:pt x="65026" y="176993"/>
                    <a:pt x="42516" y="167669"/>
                    <a:pt x="25920" y="151073"/>
                  </a:cubicBezTo>
                  <a:cubicBezTo>
                    <a:pt x="9324" y="134476"/>
                    <a:pt x="0" y="111967"/>
                    <a:pt x="0" y="88496"/>
                  </a:cubicBezTo>
                  <a:lnTo>
                    <a:pt x="0" y="88496"/>
                  </a:lnTo>
                  <a:cubicBezTo>
                    <a:pt x="0" y="65026"/>
                    <a:pt x="9324" y="42516"/>
                    <a:pt x="25920" y="25920"/>
                  </a:cubicBezTo>
                  <a:cubicBezTo>
                    <a:pt x="42516" y="9324"/>
                    <a:pt x="65026" y="0"/>
                    <a:pt x="88496" y="0"/>
                  </a:cubicBezTo>
                  <a:close/>
                </a:path>
              </a:pathLst>
            </a:custGeom>
            <a:ln w="38100" cap="rnd">
              <a:solidFill>
                <a:srgbClr val="EFF1E8"/>
              </a:solidFill>
              <a:prstDash val="solid"/>
              <a:round/>
            </a:ln>
          </p:spPr>
        </p:sp>
        <p:sp>
          <p:nvSpPr>
            <p:cNvPr name="TextBox 10" id="10"/>
            <p:cNvSpPr txBox="true"/>
            <p:nvPr/>
          </p:nvSpPr>
          <p:spPr>
            <a:xfrm>
              <a:off x="0" y="-57150"/>
              <a:ext cx="181607" cy="234143"/>
            </a:xfrm>
            <a:prstGeom prst="rect">
              <a:avLst/>
            </a:prstGeom>
          </p:spPr>
          <p:txBody>
            <a:bodyPr anchor="ctr" rtlCol="false" tIns="50800" lIns="50800" bIns="50800" rIns="50800"/>
            <a:lstStyle/>
            <a:p>
              <a:pPr algn="ctr">
                <a:lnSpc>
                  <a:spcPts val="2799"/>
                </a:lnSpc>
              </a:pPr>
            </a:p>
          </p:txBody>
        </p:sp>
      </p:grpSp>
      <p:grpSp>
        <p:nvGrpSpPr>
          <p:cNvPr name="Group 11" id="11"/>
          <p:cNvGrpSpPr/>
          <p:nvPr/>
        </p:nvGrpSpPr>
        <p:grpSpPr>
          <a:xfrm rot="0">
            <a:off x="3133816" y="4788668"/>
            <a:ext cx="482624" cy="470361"/>
            <a:chOff x="0" y="0"/>
            <a:chExt cx="181607" cy="176993"/>
          </a:xfrm>
        </p:grpSpPr>
        <p:sp>
          <p:nvSpPr>
            <p:cNvPr name="Freeform 12" id="12"/>
            <p:cNvSpPr/>
            <p:nvPr/>
          </p:nvSpPr>
          <p:spPr>
            <a:xfrm flipH="false" flipV="false" rot="0">
              <a:off x="0" y="0"/>
              <a:ext cx="181607" cy="176993"/>
            </a:xfrm>
            <a:custGeom>
              <a:avLst/>
              <a:gdLst/>
              <a:ahLst/>
              <a:cxnLst/>
              <a:rect r="r" b="b" t="t" l="l"/>
              <a:pathLst>
                <a:path h="176993" w="181607">
                  <a:moveTo>
                    <a:pt x="88496" y="0"/>
                  </a:moveTo>
                  <a:lnTo>
                    <a:pt x="93111" y="0"/>
                  </a:lnTo>
                  <a:cubicBezTo>
                    <a:pt x="116581" y="0"/>
                    <a:pt x="139091" y="9324"/>
                    <a:pt x="155687" y="25920"/>
                  </a:cubicBezTo>
                  <a:cubicBezTo>
                    <a:pt x="172283" y="42516"/>
                    <a:pt x="181607" y="65026"/>
                    <a:pt x="181607" y="88496"/>
                  </a:cubicBezTo>
                  <a:lnTo>
                    <a:pt x="181607" y="88496"/>
                  </a:lnTo>
                  <a:cubicBezTo>
                    <a:pt x="181607" y="111967"/>
                    <a:pt x="172283" y="134476"/>
                    <a:pt x="155687" y="151073"/>
                  </a:cubicBezTo>
                  <a:cubicBezTo>
                    <a:pt x="139091" y="167669"/>
                    <a:pt x="116581" y="176993"/>
                    <a:pt x="93111" y="176993"/>
                  </a:cubicBezTo>
                  <a:lnTo>
                    <a:pt x="88496" y="176993"/>
                  </a:lnTo>
                  <a:cubicBezTo>
                    <a:pt x="65026" y="176993"/>
                    <a:pt x="42516" y="167669"/>
                    <a:pt x="25920" y="151073"/>
                  </a:cubicBezTo>
                  <a:cubicBezTo>
                    <a:pt x="9324" y="134476"/>
                    <a:pt x="0" y="111967"/>
                    <a:pt x="0" y="88496"/>
                  </a:cubicBezTo>
                  <a:lnTo>
                    <a:pt x="0" y="88496"/>
                  </a:lnTo>
                  <a:cubicBezTo>
                    <a:pt x="0" y="65026"/>
                    <a:pt x="9324" y="42516"/>
                    <a:pt x="25920" y="25920"/>
                  </a:cubicBezTo>
                  <a:cubicBezTo>
                    <a:pt x="42516" y="9324"/>
                    <a:pt x="65026" y="0"/>
                    <a:pt x="88496" y="0"/>
                  </a:cubicBezTo>
                  <a:close/>
                </a:path>
              </a:pathLst>
            </a:custGeom>
            <a:ln w="38100" cap="rnd">
              <a:solidFill>
                <a:srgbClr val="EFF1E8"/>
              </a:solidFill>
              <a:prstDash val="solid"/>
              <a:round/>
            </a:ln>
          </p:spPr>
        </p:sp>
        <p:sp>
          <p:nvSpPr>
            <p:cNvPr name="TextBox 13" id="13"/>
            <p:cNvSpPr txBox="true"/>
            <p:nvPr/>
          </p:nvSpPr>
          <p:spPr>
            <a:xfrm>
              <a:off x="0" y="-57150"/>
              <a:ext cx="181607" cy="234143"/>
            </a:xfrm>
            <a:prstGeom prst="rect">
              <a:avLst/>
            </a:prstGeom>
          </p:spPr>
          <p:txBody>
            <a:bodyPr anchor="ctr" rtlCol="false" tIns="50800" lIns="50800" bIns="50800" rIns="50800"/>
            <a:lstStyle/>
            <a:p>
              <a:pPr algn="ctr">
                <a:lnSpc>
                  <a:spcPts val="2799"/>
                </a:lnSpc>
              </a:pPr>
            </a:p>
          </p:txBody>
        </p:sp>
      </p:grpSp>
      <p:grpSp>
        <p:nvGrpSpPr>
          <p:cNvPr name="Group 14" id="14"/>
          <p:cNvGrpSpPr/>
          <p:nvPr/>
        </p:nvGrpSpPr>
        <p:grpSpPr>
          <a:xfrm rot="0">
            <a:off x="3133816" y="5916254"/>
            <a:ext cx="482624" cy="470361"/>
            <a:chOff x="0" y="0"/>
            <a:chExt cx="181607" cy="176993"/>
          </a:xfrm>
        </p:grpSpPr>
        <p:sp>
          <p:nvSpPr>
            <p:cNvPr name="Freeform 15" id="15"/>
            <p:cNvSpPr/>
            <p:nvPr/>
          </p:nvSpPr>
          <p:spPr>
            <a:xfrm flipH="false" flipV="false" rot="0">
              <a:off x="0" y="0"/>
              <a:ext cx="181607" cy="176993"/>
            </a:xfrm>
            <a:custGeom>
              <a:avLst/>
              <a:gdLst/>
              <a:ahLst/>
              <a:cxnLst/>
              <a:rect r="r" b="b" t="t" l="l"/>
              <a:pathLst>
                <a:path h="176993" w="181607">
                  <a:moveTo>
                    <a:pt x="88496" y="0"/>
                  </a:moveTo>
                  <a:lnTo>
                    <a:pt x="93111" y="0"/>
                  </a:lnTo>
                  <a:cubicBezTo>
                    <a:pt x="116581" y="0"/>
                    <a:pt x="139091" y="9324"/>
                    <a:pt x="155687" y="25920"/>
                  </a:cubicBezTo>
                  <a:cubicBezTo>
                    <a:pt x="172283" y="42516"/>
                    <a:pt x="181607" y="65026"/>
                    <a:pt x="181607" y="88496"/>
                  </a:cubicBezTo>
                  <a:lnTo>
                    <a:pt x="181607" y="88496"/>
                  </a:lnTo>
                  <a:cubicBezTo>
                    <a:pt x="181607" y="111967"/>
                    <a:pt x="172283" y="134476"/>
                    <a:pt x="155687" y="151073"/>
                  </a:cubicBezTo>
                  <a:cubicBezTo>
                    <a:pt x="139091" y="167669"/>
                    <a:pt x="116581" y="176993"/>
                    <a:pt x="93111" y="176993"/>
                  </a:cubicBezTo>
                  <a:lnTo>
                    <a:pt x="88496" y="176993"/>
                  </a:lnTo>
                  <a:cubicBezTo>
                    <a:pt x="65026" y="176993"/>
                    <a:pt x="42516" y="167669"/>
                    <a:pt x="25920" y="151073"/>
                  </a:cubicBezTo>
                  <a:cubicBezTo>
                    <a:pt x="9324" y="134476"/>
                    <a:pt x="0" y="111967"/>
                    <a:pt x="0" y="88496"/>
                  </a:cubicBezTo>
                  <a:lnTo>
                    <a:pt x="0" y="88496"/>
                  </a:lnTo>
                  <a:cubicBezTo>
                    <a:pt x="0" y="65026"/>
                    <a:pt x="9324" y="42516"/>
                    <a:pt x="25920" y="25920"/>
                  </a:cubicBezTo>
                  <a:cubicBezTo>
                    <a:pt x="42516" y="9324"/>
                    <a:pt x="65026" y="0"/>
                    <a:pt x="88496" y="0"/>
                  </a:cubicBezTo>
                  <a:close/>
                </a:path>
              </a:pathLst>
            </a:custGeom>
            <a:ln w="38100" cap="rnd">
              <a:solidFill>
                <a:srgbClr val="EFF1E8"/>
              </a:solidFill>
              <a:prstDash val="solid"/>
              <a:round/>
            </a:ln>
          </p:spPr>
        </p:sp>
        <p:sp>
          <p:nvSpPr>
            <p:cNvPr name="TextBox 16" id="16"/>
            <p:cNvSpPr txBox="true"/>
            <p:nvPr/>
          </p:nvSpPr>
          <p:spPr>
            <a:xfrm>
              <a:off x="0" y="-57150"/>
              <a:ext cx="181607" cy="234143"/>
            </a:xfrm>
            <a:prstGeom prst="rect">
              <a:avLst/>
            </a:prstGeom>
          </p:spPr>
          <p:txBody>
            <a:bodyPr anchor="ctr" rtlCol="false" tIns="50800" lIns="50800" bIns="50800" rIns="50800"/>
            <a:lstStyle/>
            <a:p>
              <a:pPr algn="ctr">
                <a:lnSpc>
                  <a:spcPts val="2799"/>
                </a:lnSpc>
              </a:pPr>
            </a:p>
          </p:txBody>
        </p:sp>
      </p:grpSp>
      <p:grpSp>
        <p:nvGrpSpPr>
          <p:cNvPr name="Group 17" id="17"/>
          <p:cNvGrpSpPr/>
          <p:nvPr/>
        </p:nvGrpSpPr>
        <p:grpSpPr>
          <a:xfrm rot="0">
            <a:off x="3133816" y="7062891"/>
            <a:ext cx="482624" cy="470361"/>
            <a:chOff x="0" y="0"/>
            <a:chExt cx="181607" cy="176993"/>
          </a:xfrm>
        </p:grpSpPr>
        <p:sp>
          <p:nvSpPr>
            <p:cNvPr name="Freeform 18" id="18"/>
            <p:cNvSpPr/>
            <p:nvPr/>
          </p:nvSpPr>
          <p:spPr>
            <a:xfrm flipH="false" flipV="false" rot="0">
              <a:off x="0" y="0"/>
              <a:ext cx="181607" cy="176993"/>
            </a:xfrm>
            <a:custGeom>
              <a:avLst/>
              <a:gdLst/>
              <a:ahLst/>
              <a:cxnLst/>
              <a:rect r="r" b="b" t="t" l="l"/>
              <a:pathLst>
                <a:path h="176993" w="181607">
                  <a:moveTo>
                    <a:pt x="88496" y="0"/>
                  </a:moveTo>
                  <a:lnTo>
                    <a:pt x="93111" y="0"/>
                  </a:lnTo>
                  <a:cubicBezTo>
                    <a:pt x="116581" y="0"/>
                    <a:pt x="139091" y="9324"/>
                    <a:pt x="155687" y="25920"/>
                  </a:cubicBezTo>
                  <a:cubicBezTo>
                    <a:pt x="172283" y="42516"/>
                    <a:pt x="181607" y="65026"/>
                    <a:pt x="181607" y="88496"/>
                  </a:cubicBezTo>
                  <a:lnTo>
                    <a:pt x="181607" y="88496"/>
                  </a:lnTo>
                  <a:cubicBezTo>
                    <a:pt x="181607" y="111967"/>
                    <a:pt x="172283" y="134476"/>
                    <a:pt x="155687" y="151073"/>
                  </a:cubicBezTo>
                  <a:cubicBezTo>
                    <a:pt x="139091" y="167669"/>
                    <a:pt x="116581" y="176993"/>
                    <a:pt x="93111" y="176993"/>
                  </a:cubicBezTo>
                  <a:lnTo>
                    <a:pt x="88496" y="176993"/>
                  </a:lnTo>
                  <a:cubicBezTo>
                    <a:pt x="65026" y="176993"/>
                    <a:pt x="42516" y="167669"/>
                    <a:pt x="25920" y="151073"/>
                  </a:cubicBezTo>
                  <a:cubicBezTo>
                    <a:pt x="9324" y="134476"/>
                    <a:pt x="0" y="111967"/>
                    <a:pt x="0" y="88496"/>
                  </a:cubicBezTo>
                  <a:lnTo>
                    <a:pt x="0" y="88496"/>
                  </a:lnTo>
                  <a:cubicBezTo>
                    <a:pt x="0" y="65026"/>
                    <a:pt x="9324" y="42516"/>
                    <a:pt x="25920" y="25920"/>
                  </a:cubicBezTo>
                  <a:cubicBezTo>
                    <a:pt x="42516" y="9324"/>
                    <a:pt x="65026" y="0"/>
                    <a:pt x="88496" y="0"/>
                  </a:cubicBezTo>
                  <a:close/>
                </a:path>
              </a:pathLst>
            </a:custGeom>
            <a:ln w="38100" cap="rnd">
              <a:solidFill>
                <a:srgbClr val="EFF1E8"/>
              </a:solidFill>
              <a:prstDash val="solid"/>
              <a:round/>
            </a:ln>
          </p:spPr>
        </p:sp>
        <p:sp>
          <p:nvSpPr>
            <p:cNvPr name="TextBox 19" id="19"/>
            <p:cNvSpPr txBox="true"/>
            <p:nvPr/>
          </p:nvSpPr>
          <p:spPr>
            <a:xfrm>
              <a:off x="0" y="-57150"/>
              <a:ext cx="181607" cy="234143"/>
            </a:xfrm>
            <a:prstGeom prst="rect">
              <a:avLst/>
            </a:prstGeom>
          </p:spPr>
          <p:txBody>
            <a:bodyPr anchor="ctr" rtlCol="false" tIns="50800" lIns="50800" bIns="50800" rIns="50800"/>
            <a:lstStyle/>
            <a:p>
              <a:pPr algn="ctr">
                <a:lnSpc>
                  <a:spcPts val="2799"/>
                </a:lnSpc>
              </a:pPr>
            </a:p>
          </p:txBody>
        </p:sp>
      </p:grpSp>
      <p:grpSp>
        <p:nvGrpSpPr>
          <p:cNvPr name="Group 20" id="20"/>
          <p:cNvGrpSpPr/>
          <p:nvPr/>
        </p:nvGrpSpPr>
        <p:grpSpPr>
          <a:xfrm rot="0">
            <a:off x="3133816" y="8190477"/>
            <a:ext cx="482624" cy="470361"/>
            <a:chOff x="0" y="0"/>
            <a:chExt cx="181607" cy="176993"/>
          </a:xfrm>
        </p:grpSpPr>
        <p:sp>
          <p:nvSpPr>
            <p:cNvPr name="Freeform 21" id="21"/>
            <p:cNvSpPr/>
            <p:nvPr/>
          </p:nvSpPr>
          <p:spPr>
            <a:xfrm flipH="false" flipV="false" rot="0">
              <a:off x="0" y="0"/>
              <a:ext cx="181607" cy="176993"/>
            </a:xfrm>
            <a:custGeom>
              <a:avLst/>
              <a:gdLst/>
              <a:ahLst/>
              <a:cxnLst/>
              <a:rect r="r" b="b" t="t" l="l"/>
              <a:pathLst>
                <a:path h="176993" w="181607">
                  <a:moveTo>
                    <a:pt x="88496" y="0"/>
                  </a:moveTo>
                  <a:lnTo>
                    <a:pt x="93111" y="0"/>
                  </a:lnTo>
                  <a:cubicBezTo>
                    <a:pt x="116581" y="0"/>
                    <a:pt x="139091" y="9324"/>
                    <a:pt x="155687" y="25920"/>
                  </a:cubicBezTo>
                  <a:cubicBezTo>
                    <a:pt x="172283" y="42516"/>
                    <a:pt x="181607" y="65026"/>
                    <a:pt x="181607" y="88496"/>
                  </a:cubicBezTo>
                  <a:lnTo>
                    <a:pt x="181607" y="88496"/>
                  </a:lnTo>
                  <a:cubicBezTo>
                    <a:pt x="181607" y="111967"/>
                    <a:pt x="172283" y="134476"/>
                    <a:pt x="155687" y="151073"/>
                  </a:cubicBezTo>
                  <a:cubicBezTo>
                    <a:pt x="139091" y="167669"/>
                    <a:pt x="116581" y="176993"/>
                    <a:pt x="93111" y="176993"/>
                  </a:cubicBezTo>
                  <a:lnTo>
                    <a:pt x="88496" y="176993"/>
                  </a:lnTo>
                  <a:cubicBezTo>
                    <a:pt x="65026" y="176993"/>
                    <a:pt x="42516" y="167669"/>
                    <a:pt x="25920" y="151073"/>
                  </a:cubicBezTo>
                  <a:cubicBezTo>
                    <a:pt x="9324" y="134476"/>
                    <a:pt x="0" y="111967"/>
                    <a:pt x="0" y="88496"/>
                  </a:cubicBezTo>
                  <a:lnTo>
                    <a:pt x="0" y="88496"/>
                  </a:lnTo>
                  <a:cubicBezTo>
                    <a:pt x="0" y="65026"/>
                    <a:pt x="9324" y="42516"/>
                    <a:pt x="25920" y="25920"/>
                  </a:cubicBezTo>
                  <a:cubicBezTo>
                    <a:pt x="42516" y="9324"/>
                    <a:pt x="65026" y="0"/>
                    <a:pt x="88496" y="0"/>
                  </a:cubicBezTo>
                  <a:close/>
                </a:path>
              </a:pathLst>
            </a:custGeom>
            <a:ln w="38100" cap="rnd">
              <a:solidFill>
                <a:srgbClr val="EFF1E8"/>
              </a:solidFill>
              <a:prstDash val="solid"/>
              <a:round/>
            </a:ln>
          </p:spPr>
        </p:sp>
        <p:sp>
          <p:nvSpPr>
            <p:cNvPr name="TextBox 22" id="22"/>
            <p:cNvSpPr txBox="true"/>
            <p:nvPr/>
          </p:nvSpPr>
          <p:spPr>
            <a:xfrm>
              <a:off x="0" y="-57150"/>
              <a:ext cx="181607" cy="234143"/>
            </a:xfrm>
            <a:prstGeom prst="rect">
              <a:avLst/>
            </a:prstGeom>
          </p:spPr>
          <p:txBody>
            <a:bodyPr anchor="ctr" rtlCol="false" tIns="50800" lIns="50800" bIns="50800" rIns="50800"/>
            <a:lstStyle/>
            <a:p>
              <a:pPr algn="ctr">
                <a:lnSpc>
                  <a:spcPts val="2799"/>
                </a:lnSpc>
              </a:pPr>
            </a:p>
          </p:txBody>
        </p:sp>
      </p:grpSp>
      <p:sp>
        <p:nvSpPr>
          <p:cNvPr name="Freeform 23" id="23"/>
          <p:cNvSpPr/>
          <p:nvPr/>
        </p:nvSpPr>
        <p:spPr>
          <a:xfrm flipH="false" flipV="false" rot="0">
            <a:off x="3133816" y="2246004"/>
            <a:ext cx="714263" cy="574981"/>
          </a:xfrm>
          <a:custGeom>
            <a:avLst/>
            <a:gdLst/>
            <a:ahLst/>
            <a:cxnLst/>
            <a:rect r="r" b="b" t="t" l="l"/>
            <a:pathLst>
              <a:path h="574981" w="714263">
                <a:moveTo>
                  <a:pt x="0" y="0"/>
                </a:moveTo>
                <a:lnTo>
                  <a:pt x="714263" y="0"/>
                </a:lnTo>
                <a:lnTo>
                  <a:pt x="714263" y="574982"/>
                </a:lnTo>
                <a:lnTo>
                  <a:pt x="0" y="57498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24" id="24"/>
          <p:cNvSpPr txBox="true"/>
          <p:nvPr/>
        </p:nvSpPr>
        <p:spPr>
          <a:xfrm rot="0">
            <a:off x="1126711" y="611733"/>
            <a:ext cx="16034578" cy="1245235"/>
          </a:xfrm>
          <a:prstGeom prst="rect">
            <a:avLst/>
          </a:prstGeom>
        </p:spPr>
        <p:txBody>
          <a:bodyPr anchor="t" rtlCol="false" tIns="0" lIns="0" bIns="0" rIns="0">
            <a:spAutoFit/>
          </a:bodyPr>
          <a:lstStyle/>
          <a:p>
            <a:pPr algn="ctr">
              <a:lnSpc>
                <a:spcPts val="9679"/>
              </a:lnSpc>
            </a:pPr>
            <a:r>
              <a:rPr lang="en-US" b="true" sz="8799">
                <a:solidFill>
                  <a:srgbClr val="EFF1E8"/>
                </a:solidFill>
                <a:latin typeface="Montserrat Bold"/>
                <a:ea typeface="Montserrat Bold"/>
                <a:cs typeface="Montserrat Bold"/>
                <a:sym typeface="Montserrat Bold"/>
              </a:rPr>
              <a:t>Asp</a:t>
            </a:r>
            <a:r>
              <a:rPr lang="en-US" b="true" sz="8799">
                <a:solidFill>
                  <a:srgbClr val="EFF1E8"/>
                </a:solidFill>
                <a:latin typeface="Montserrat Bold"/>
                <a:ea typeface="Montserrat Bold"/>
                <a:cs typeface="Montserrat Bold"/>
                <a:sym typeface="Montserrat Bold"/>
              </a:rPr>
              <a:t>ek Teknis &amp; Legal</a:t>
            </a:r>
          </a:p>
        </p:txBody>
      </p:sp>
      <p:sp>
        <p:nvSpPr>
          <p:cNvPr name="Freeform 25" id="25"/>
          <p:cNvSpPr/>
          <p:nvPr/>
        </p:nvSpPr>
        <p:spPr>
          <a:xfrm flipH="false" flipV="false" rot="0">
            <a:off x="3133816" y="3373591"/>
            <a:ext cx="714263" cy="574981"/>
          </a:xfrm>
          <a:custGeom>
            <a:avLst/>
            <a:gdLst/>
            <a:ahLst/>
            <a:cxnLst/>
            <a:rect r="r" b="b" t="t" l="l"/>
            <a:pathLst>
              <a:path h="574981" w="714263">
                <a:moveTo>
                  <a:pt x="0" y="0"/>
                </a:moveTo>
                <a:lnTo>
                  <a:pt x="714263" y="0"/>
                </a:lnTo>
                <a:lnTo>
                  <a:pt x="714263" y="574981"/>
                </a:lnTo>
                <a:lnTo>
                  <a:pt x="0" y="57498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6" id="26"/>
          <p:cNvSpPr/>
          <p:nvPr/>
        </p:nvSpPr>
        <p:spPr>
          <a:xfrm flipH="false" flipV="false" rot="0">
            <a:off x="3133816" y="4501177"/>
            <a:ext cx="714263" cy="574981"/>
          </a:xfrm>
          <a:custGeom>
            <a:avLst/>
            <a:gdLst/>
            <a:ahLst/>
            <a:cxnLst/>
            <a:rect r="r" b="b" t="t" l="l"/>
            <a:pathLst>
              <a:path h="574981" w="714263">
                <a:moveTo>
                  <a:pt x="0" y="0"/>
                </a:moveTo>
                <a:lnTo>
                  <a:pt x="714263" y="0"/>
                </a:lnTo>
                <a:lnTo>
                  <a:pt x="714263" y="574982"/>
                </a:lnTo>
                <a:lnTo>
                  <a:pt x="0" y="57498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7" id="27"/>
          <p:cNvSpPr/>
          <p:nvPr/>
        </p:nvSpPr>
        <p:spPr>
          <a:xfrm flipH="false" flipV="false" rot="0">
            <a:off x="3133816" y="6756350"/>
            <a:ext cx="714263" cy="574981"/>
          </a:xfrm>
          <a:custGeom>
            <a:avLst/>
            <a:gdLst/>
            <a:ahLst/>
            <a:cxnLst/>
            <a:rect r="r" b="b" t="t" l="l"/>
            <a:pathLst>
              <a:path h="574981" w="714263">
                <a:moveTo>
                  <a:pt x="0" y="0"/>
                </a:moveTo>
                <a:lnTo>
                  <a:pt x="714263" y="0"/>
                </a:lnTo>
                <a:lnTo>
                  <a:pt x="714263" y="574982"/>
                </a:lnTo>
                <a:lnTo>
                  <a:pt x="0" y="57498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8" id="28"/>
          <p:cNvSpPr/>
          <p:nvPr/>
        </p:nvSpPr>
        <p:spPr>
          <a:xfrm flipH="false" flipV="false" rot="0">
            <a:off x="3133816" y="7883937"/>
            <a:ext cx="714263" cy="574981"/>
          </a:xfrm>
          <a:custGeom>
            <a:avLst/>
            <a:gdLst/>
            <a:ahLst/>
            <a:cxnLst/>
            <a:rect r="r" b="b" t="t" l="l"/>
            <a:pathLst>
              <a:path h="574981" w="714263">
                <a:moveTo>
                  <a:pt x="0" y="0"/>
                </a:moveTo>
                <a:lnTo>
                  <a:pt x="714263" y="0"/>
                </a:lnTo>
                <a:lnTo>
                  <a:pt x="714263" y="574981"/>
                </a:lnTo>
                <a:lnTo>
                  <a:pt x="0" y="57498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13.xml><?xml version="1.0" encoding="utf-8"?>
<p:sld xmlns:p="http://schemas.openxmlformats.org/presentationml/2006/main" xmlns:a="http://schemas.openxmlformats.org/drawingml/2006/main">
  <p:cSld>
    <p:bg>
      <p:bgPr>
        <a:solidFill>
          <a:srgbClr val="EFF1E8"/>
        </a:solidFill>
      </p:bgPr>
    </p:bg>
    <p:spTree>
      <p:nvGrpSpPr>
        <p:cNvPr id="1" name=""/>
        <p:cNvGrpSpPr/>
        <p:nvPr/>
      </p:nvGrpSpPr>
      <p:grpSpPr>
        <a:xfrm>
          <a:off x="0" y="0"/>
          <a:ext cx="0" cy="0"/>
          <a:chOff x="0" y="0"/>
          <a:chExt cx="0" cy="0"/>
        </a:xfrm>
      </p:grpSpPr>
      <p:grpSp>
        <p:nvGrpSpPr>
          <p:cNvPr name="Group 2" id="2"/>
          <p:cNvGrpSpPr/>
          <p:nvPr/>
        </p:nvGrpSpPr>
        <p:grpSpPr>
          <a:xfrm rot="0">
            <a:off x="439124" y="2289240"/>
            <a:ext cx="8431658" cy="7521375"/>
            <a:chOff x="0" y="0"/>
            <a:chExt cx="3172752" cy="2830222"/>
          </a:xfrm>
        </p:grpSpPr>
        <p:sp>
          <p:nvSpPr>
            <p:cNvPr name="Freeform 3" id="3"/>
            <p:cNvSpPr/>
            <p:nvPr/>
          </p:nvSpPr>
          <p:spPr>
            <a:xfrm flipH="false" flipV="false" rot="0">
              <a:off x="0" y="0"/>
              <a:ext cx="3172752" cy="2830222"/>
            </a:xfrm>
            <a:custGeom>
              <a:avLst/>
              <a:gdLst/>
              <a:ahLst/>
              <a:cxnLst/>
              <a:rect r="r" b="b" t="t" l="l"/>
              <a:pathLst>
                <a:path h="2830222" w="3172752">
                  <a:moveTo>
                    <a:pt x="46828" y="0"/>
                  </a:moveTo>
                  <a:lnTo>
                    <a:pt x="3125925" y="0"/>
                  </a:lnTo>
                  <a:cubicBezTo>
                    <a:pt x="3151787" y="0"/>
                    <a:pt x="3172752" y="20966"/>
                    <a:pt x="3172752" y="46828"/>
                  </a:cubicBezTo>
                  <a:lnTo>
                    <a:pt x="3172752" y="2783394"/>
                  </a:lnTo>
                  <a:cubicBezTo>
                    <a:pt x="3172752" y="2809256"/>
                    <a:pt x="3151787" y="2830222"/>
                    <a:pt x="3125925" y="2830222"/>
                  </a:cubicBezTo>
                  <a:lnTo>
                    <a:pt x="46828" y="2830222"/>
                  </a:lnTo>
                  <a:cubicBezTo>
                    <a:pt x="20966" y="2830222"/>
                    <a:pt x="0" y="2809256"/>
                    <a:pt x="0" y="2783394"/>
                  </a:cubicBezTo>
                  <a:lnTo>
                    <a:pt x="0" y="46828"/>
                  </a:lnTo>
                  <a:cubicBezTo>
                    <a:pt x="0" y="20966"/>
                    <a:pt x="20966" y="0"/>
                    <a:pt x="46828" y="0"/>
                  </a:cubicBezTo>
                  <a:close/>
                </a:path>
              </a:pathLst>
            </a:custGeom>
            <a:ln w="38100" cap="rnd">
              <a:solidFill>
                <a:srgbClr val="343734"/>
              </a:solidFill>
              <a:prstDash val="solid"/>
              <a:round/>
            </a:ln>
          </p:spPr>
        </p:sp>
        <p:sp>
          <p:nvSpPr>
            <p:cNvPr name="TextBox 4" id="4"/>
            <p:cNvSpPr txBox="true"/>
            <p:nvPr/>
          </p:nvSpPr>
          <p:spPr>
            <a:xfrm>
              <a:off x="0" y="-57150"/>
              <a:ext cx="3172752" cy="2887372"/>
            </a:xfrm>
            <a:prstGeom prst="rect">
              <a:avLst/>
            </a:prstGeom>
          </p:spPr>
          <p:txBody>
            <a:bodyPr anchor="ctr" rtlCol="false" tIns="50800" lIns="50800" bIns="50800" rIns="50800"/>
            <a:lstStyle/>
            <a:p>
              <a:pPr algn="ctr">
                <a:lnSpc>
                  <a:spcPts val="2799"/>
                </a:lnSpc>
              </a:pPr>
            </a:p>
          </p:txBody>
        </p:sp>
      </p:grpSp>
      <p:grpSp>
        <p:nvGrpSpPr>
          <p:cNvPr name="Group 5" id="5"/>
          <p:cNvGrpSpPr/>
          <p:nvPr/>
        </p:nvGrpSpPr>
        <p:grpSpPr>
          <a:xfrm rot="0">
            <a:off x="9270196" y="2289240"/>
            <a:ext cx="8578680" cy="7521375"/>
            <a:chOff x="0" y="0"/>
            <a:chExt cx="3228076" cy="2830222"/>
          </a:xfrm>
        </p:grpSpPr>
        <p:sp>
          <p:nvSpPr>
            <p:cNvPr name="Freeform 6" id="6"/>
            <p:cNvSpPr/>
            <p:nvPr/>
          </p:nvSpPr>
          <p:spPr>
            <a:xfrm flipH="false" flipV="false" rot="0">
              <a:off x="0" y="0"/>
              <a:ext cx="3228075" cy="2830222"/>
            </a:xfrm>
            <a:custGeom>
              <a:avLst/>
              <a:gdLst/>
              <a:ahLst/>
              <a:cxnLst/>
              <a:rect r="r" b="b" t="t" l="l"/>
              <a:pathLst>
                <a:path h="2830222" w="3228075">
                  <a:moveTo>
                    <a:pt x="46025" y="0"/>
                  </a:moveTo>
                  <a:lnTo>
                    <a:pt x="3182050" y="0"/>
                  </a:lnTo>
                  <a:cubicBezTo>
                    <a:pt x="3207469" y="0"/>
                    <a:pt x="3228075" y="20606"/>
                    <a:pt x="3228075" y="46025"/>
                  </a:cubicBezTo>
                  <a:lnTo>
                    <a:pt x="3228075" y="2784196"/>
                  </a:lnTo>
                  <a:cubicBezTo>
                    <a:pt x="3228075" y="2796403"/>
                    <a:pt x="3223226" y="2808110"/>
                    <a:pt x="3214595" y="2816741"/>
                  </a:cubicBezTo>
                  <a:cubicBezTo>
                    <a:pt x="3205963" y="2825373"/>
                    <a:pt x="3194257" y="2830222"/>
                    <a:pt x="3182050" y="2830222"/>
                  </a:cubicBezTo>
                  <a:lnTo>
                    <a:pt x="46025" y="2830222"/>
                  </a:lnTo>
                  <a:cubicBezTo>
                    <a:pt x="20606" y="2830222"/>
                    <a:pt x="0" y="2809616"/>
                    <a:pt x="0" y="2784196"/>
                  </a:cubicBezTo>
                  <a:lnTo>
                    <a:pt x="0" y="46025"/>
                  </a:lnTo>
                  <a:cubicBezTo>
                    <a:pt x="0" y="20606"/>
                    <a:pt x="20606" y="0"/>
                    <a:pt x="46025" y="0"/>
                  </a:cubicBezTo>
                  <a:close/>
                </a:path>
              </a:pathLst>
            </a:custGeom>
            <a:ln w="38100" cap="rnd">
              <a:solidFill>
                <a:srgbClr val="343734"/>
              </a:solidFill>
              <a:prstDash val="solid"/>
              <a:round/>
            </a:ln>
          </p:spPr>
        </p:sp>
        <p:sp>
          <p:nvSpPr>
            <p:cNvPr name="TextBox 7" id="7"/>
            <p:cNvSpPr txBox="true"/>
            <p:nvPr/>
          </p:nvSpPr>
          <p:spPr>
            <a:xfrm>
              <a:off x="0" y="-57150"/>
              <a:ext cx="3228076" cy="2887372"/>
            </a:xfrm>
            <a:prstGeom prst="rect">
              <a:avLst/>
            </a:prstGeom>
          </p:spPr>
          <p:txBody>
            <a:bodyPr anchor="ctr" rtlCol="false" tIns="50800" lIns="50800" bIns="50800" rIns="50800"/>
            <a:lstStyle/>
            <a:p>
              <a:pPr algn="ctr">
                <a:lnSpc>
                  <a:spcPts val="2799"/>
                </a:lnSpc>
              </a:pPr>
            </a:p>
          </p:txBody>
        </p:sp>
      </p:grpSp>
      <p:sp>
        <p:nvSpPr>
          <p:cNvPr name="TextBox 8" id="8"/>
          <p:cNvSpPr txBox="true"/>
          <p:nvPr/>
        </p:nvSpPr>
        <p:spPr>
          <a:xfrm rot="0">
            <a:off x="374414" y="885891"/>
            <a:ext cx="17539171" cy="993775"/>
          </a:xfrm>
          <a:prstGeom prst="rect">
            <a:avLst/>
          </a:prstGeom>
        </p:spPr>
        <p:txBody>
          <a:bodyPr anchor="t" rtlCol="false" tIns="0" lIns="0" bIns="0" rIns="0">
            <a:spAutoFit/>
          </a:bodyPr>
          <a:lstStyle/>
          <a:p>
            <a:pPr algn="ctr">
              <a:lnSpc>
                <a:spcPts val="7699"/>
              </a:lnSpc>
            </a:pPr>
            <a:r>
              <a:rPr lang="en-US" b="true" sz="6999">
                <a:solidFill>
                  <a:srgbClr val="343734"/>
                </a:solidFill>
                <a:latin typeface="Montserrat Bold"/>
                <a:ea typeface="Montserrat Bold"/>
                <a:cs typeface="Montserrat Bold"/>
                <a:sym typeface="Montserrat Bold"/>
              </a:rPr>
              <a:t>Kelebihan &amp; Kekur</a:t>
            </a:r>
            <a:r>
              <a:rPr lang="en-US" b="true" sz="6999">
                <a:solidFill>
                  <a:srgbClr val="343734"/>
                </a:solidFill>
                <a:latin typeface="Montserrat Bold"/>
                <a:ea typeface="Montserrat Bold"/>
                <a:cs typeface="Montserrat Bold"/>
                <a:sym typeface="Montserrat Bold"/>
              </a:rPr>
              <a:t>angan Dataset</a:t>
            </a:r>
          </a:p>
        </p:txBody>
      </p:sp>
      <p:sp>
        <p:nvSpPr>
          <p:cNvPr name="TextBox 9" id="9"/>
          <p:cNvSpPr txBox="true"/>
          <p:nvPr/>
        </p:nvSpPr>
        <p:spPr>
          <a:xfrm rot="0">
            <a:off x="1489269" y="2471781"/>
            <a:ext cx="6083608" cy="717550"/>
          </a:xfrm>
          <a:prstGeom prst="rect">
            <a:avLst/>
          </a:prstGeom>
        </p:spPr>
        <p:txBody>
          <a:bodyPr anchor="t" rtlCol="false" tIns="0" lIns="0" bIns="0" rIns="0">
            <a:spAutoFit/>
          </a:bodyPr>
          <a:lstStyle/>
          <a:p>
            <a:pPr algn="ctr">
              <a:lnSpc>
                <a:spcPts val="5599"/>
              </a:lnSpc>
              <a:spcBef>
                <a:spcPct val="0"/>
              </a:spcBef>
            </a:pPr>
            <a:r>
              <a:rPr lang="en-US" b="true" sz="3999">
                <a:solidFill>
                  <a:srgbClr val="343734"/>
                </a:solidFill>
                <a:latin typeface="Poppins Bold"/>
                <a:ea typeface="Poppins Bold"/>
                <a:cs typeface="Poppins Bold"/>
                <a:sym typeface="Poppins Bold"/>
              </a:rPr>
              <a:t>Ke</a:t>
            </a:r>
            <a:r>
              <a:rPr lang="en-US" b="true" sz="3999">
                <a:solidFill>
                  <a:srgbClr val="343734"/>
                </a:solidFill>
                <a:latin typeface="Poppins Bold"/>
                <a:ea typeface="Poppins Bold"/>
                <a:cs typeface="Poppins Bold"/>
                <a:sym typeface="Poppins Bold"/>
              </a:rPr>
              <a:t>lebihan</a:t>
            </a:r>
          </a:p>
        </p:txBody>
      </p:sp>
      <p:sp>
        <p:nvSpPr>
          <p:cNvPr name="TextBox 10" id="10"/>
          <p:cNvSpPr txBox="true"/>
          <p:nvPr/>
        </p:nvSpPr>
        <p:spPr>
          <a:xfrm rot="0">
            <a:off x="439885" y="3436486"/>
            <a:ext cx="8182375" cy="3201035"/>
          </a:xfrm>
          <a:prstGeom prst="rect">
            <a:avLst/>
          </a:prstGeom>
        </p:spPr>
        <p:txBody>
          <a:bodyPr anchor="t" rtlCol="false" tIns="0" lIns="0" bIns="0" rIns="0">
            <a:spAutoFit/>
          </a:bodyPr>
          <a:lstStyle/>
          <a:p>
            <a:pPr algn="l" marL="561341" indent="-280670" lvl="1">
              <a:lnSpc>
                <a:spcPts val="3640"/>
              </a:lnSpc>
              <a:buFont typeface="Arial"/>
              <a:buChar char="•"/>
            </a:pPr>
            <a:r>
              <a:rPr lang="en-US" sz="2600">
                <a:solidFill>
                  <a:srgbClr val="343734"/>
                </a:solidFill>
                <a:latin typeface="Poppins"/>
                <a:ea typeface="Poppins"/>
                <a:cs typeface="Poppins"/>
                <a:sym typeface="Poppins"/>
              </a:rPr>
              <a:t>Ukuran besar &amp; representatif (50.000 baris), bisa untuk latih</a:t>
            </a:r>
            <a:r>
              <a:rPr lang="en-US" sz="2600">
                <a:solidFill>
                  <a:srgbClr val="343734"/>
                </a:solidFill>
                <a:latin typeface="Poppins"/>
                <a:ea typeface="Poppins"/>
                <a:cs typeface="Poppins"/>
                <a:sym typeface="Poppins"/>
              </a:rPr>
              <a:t>an berbagai teknik analitik.</a:t>
            </a:r>
          </a:p>
          <a:p>
            <a:pPr algn="l" marL="561341" indent="-280670" lvl="1">
              <a:lnSpc>
                <a:spcPts val="3640"/>
              </a:lnSpc>
              <a:buFont typeface="Arial"/>
              <a:buChar char="•"/>
            </a:pPr>
            <a:r>
              <a:rPr lang="en-US" sz="2600">
                <a:solidFill>
                  <a:srgbClr val="343734"/>
                </a:solidFill>
                <a:latin typeface="Poppins"/>
                <a:ea typeface="Poppins"/>
                <a:cs typeface="Poppins"/>
                <a:sym typeface="Poppins"/>
              </a:rPr>
              <a:t>Kaya variabel dengan 53 kolom.</a:t>
            </a:r>
          </a:p>
          <a:p>
            <a:pPr algn="l" marL="561341" indent="-280670" lvl="1">
              <a:lnSpc>
                <a:spcPts val="3640"/>
              </a:lnSpc>
              <a:buFont typeface="Arial"/>
              <a:buChar char="•"/>
            </a:pPr>
            <a:r>
              <a:rPr lang="en-US" sz="2600">
                <a:solidFill>
                  <a:srgbClr val="343734"/>
                </a:solidFill>
                <a:latin typeface="Poppins"/>
                <a:ea typeface="Poppins"/>
                <a:cs typeface="Poppins"/>
                <a:sym typeface="Poppins"/>
              </a:rPr>
              <a:t>Tidak ada duplikat data, memudahkan tahap data cleaning.</a:t>
            </a:r>
          </a:p>
          <a:p>
            <a:pPr algn="l" marL="561341" indent="-280670" lvl="1">
              <a:lnSpc>
                <a:spcPts val="3640"/>
              </a:lnSpc>
              <a:buFont typeface="Arial"/>
              <a:buChar char="•"/>
            </a:pPr>
            <a:r>
              <a:rPr lang="en-US" sz="2600">
                <a:solidFill>
                  <a:srgbClr val="343734"/>
                </a:solidFill>
                <a:latin typeface="Poppins"/>
                <a:ea typeface="Poppins"/>
                <a:cs typeface="Poppins"/>
                <a:sym typeface="Poppins"/>
              </a:rPr>
              <a:t>Tidak mengandung PII langsung sehingga relatif aman digunakan.</a:t>
            </a:r>
          </a:p>
        </p:txBody>
      </p:sp>
      <p:sp>
        <p:nvSpPr>
          <p:cNvPr name="TextBox 11" id="11"/>
          <p:cNvSpPr txBox="true"/>
          <p:nvPr/>
        </p:nvSpPr>
        <p:spPr>
          <a:xfrm rot="0">
            <a:off x="10517732" y="2471781"/>
            <a:ext cx="6083608" cy="717550"/>
          </a:xfrm>
          <a:prstGeom prst="rect">
            <a:avLst/>
          </a:prstGeom>
        </p:spPr>
        <p:txBody>
          <a:bodyPr anchor="t" rtlCol="false" tIns="0" lIns="0" bIns="0" rIns="0">
            <a:spAutoFit/>
          </a:bodyPr>
          <a:lstStyle/>
          <a:p>
            <a:pPr algn="ctr">
              <a:lnSpc>
                <a:spcPts val="5599"/>
              </a:lnSpc>
              <a:spcBef>
                <a:spcPct val="0"/>
              </a:spcBef>
            </a:pPr>
            <a:r>
              <a:rPr lang="en-US" b="true" sz="3999">
                <a:solidFill>
                  <a:srgbClr val="343734"/>
                </a:solidFill>
                <a:latin typeface="Poppins Bold"/>
                <a:ea typeface="Poppins Bold"/>
                <a:cs typeface="Poppins Bold"/>
                <a:sym typeface="Poppins Bold"/>
              </a:rPr>
              <a:t>Kekurangan</a:t>
            </a:r>
          </a:p>
        </p:txBody>
      </p:sp>
      <p:sp>
        <p:nvSpPr>
          <p:cNvPr name="TextBox 12" id="12"/>
          <p:cNvSpPr txBox="true"/>
          <p:nvPr/>
        </p:nvSpPr>
        <p:spPr>
          <a:xfrm rot="0">
            <a:off x="9270196" y="3436486"/>
            <a:ext cx="8228592" cy="5944235"/>
          </a:xfrm>
          <a:prstGeom prst="rect">
            <a:avLst/>
          </a:prstGeom>
        </p:spPr>
        <p:txBody>
          <a:bodyPr anchor="t" rtlCol="false" tIns="0" lIns="0" bIns="0" rIns="0">
            <a:spAutoFit/>
          </a:bodyPr>
          <a:lstStyle/>
          <a:p>
            <a:pPr algn="l" marL="561337" indent="-280669" lvl="1">
              <a:lnSpc>
                <a:spcPts val="3639"/>
              </a:lnSpc>
              <a:buFont typeface="Arial"/>
              <a:buChar char="•"/>
            </a:pPr>
            <a:r>
              <a:rPr lang="en-US" sz="2599">
                <a:solidFill>
                  <a:srgbClr val="343734"/>
                </a:solidFill>
                <a:latin typeface="Poppins"/>
                <a:ea typeface="Poppins"/>
                <a:cs typeface="Poppins"/>
                <a:sym typeface="Poppins"/>
              </a:rPr>
              <a:t>Sumber &amp; dokumentasi pembuatan data tidak dijelaskan detail di halaman Kaggle sehingga kemungkinan bersifat sintetis, </a:t>
            </a:r>
            <a:r>
              <a:rPr lang="en-US" sz="2599">
                <a:solidFill>
                  <a:srgbClr val="343734"/>
                </a:solidFill>
                <a:latin typeface="Poppins"/>
                <a:ea typeface="Poppins"/>
                <a:cs typeface="Poppins"/>
                <a:sym typeface="Poppins"/>
              </a:rPr>
              <a:t>hasil analisis pun tidak bisa digeneralisasi ke perilaku pelanggan e-commerce nyata.</a:t>
            </a:r>
          </a:p>
          <a:p>
            <a:pPr algn="l" marL="561337" indent="-280669" lvl="1">
              <a:lnSpc>
                <a:spcPts val="3639"/>
              </a:lnSpc>
              <a:buFont typeface="Arial"/>
              <a:buChar char="•"/>
            </a:pPr>
            <a:r>
              <a:rPr lang="en-US" sz="2599">
                <a:solidFill>
                  <a:srgbClr val="343734"/>
                </a:solidFill>
                <a:latin typeface="Poppins"/>
                <a:ea typeface="Poppins"/>
                <a:cs typeface="Poppins"/>
                <a:sym typeface="Poppins"/>
              </a:rPr>
              <a:t>Sebagian besar variabel demografis dan behavioral memiliki hubungan yang sangat lemah satu sama lain. Distribusi yang relatif merata menyebabkan pola customer yang berbeda sulit ditemukan. Jadi, Dataset lebih cocok untuk latihan metode analitik daripada untuk menarik kesimpulan tentang pola perilaku customer e-commerce nyata</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70A1BD"/>
        </a:solidFill>
      </p:bgPr>
    </p:bg>
    <p:spTree>
      <p:nvGrpSpPr>
        <p:cNvPr id="1" name=""/>
        <p:cNvGrpSpPr/>
        <p:nvPr/>
      </p:nvGrpSpPr>
      <p:grpSpPr>
        <a:xfrm>
          <a:off x="0" y="0"/>
          <a:ext cx="0" cy="0"/>
          <a:chOff x="0" y="0"/>
          <a:chExt cx="0" cy="0"/>
        </a:xfrm>
      </p:grpSpPr>
      <p:grpSp>
        <p:nvGrpSpPr>
          <p:cNvPr name="Group 2" id="2"/>
          <p:cNvGrpSpPr/>
          <p:nvPr/>
        </p:nvGrpSpPr>
        <p:grpSpPr>
          <a:xfrm rot="0">
            <a:off x="13059161" y="-353316"/>
            <a:ext cx="5954157" cy="11239916"/>
            <a:chOff x="0" y="0"/>
            <a:chExt cx="1568173" cy="2960307"/>
          </a:xfrm>
        </p:grpSpPr>
        <p:sp>
          <p:nvSpPr>
            <p:cNvPr name="Freeform 3" id="3"/>
            <p:cNvSpPr/>
            <p:nvPr/>
          </p:nvSpPr>
          <p:spPr>
            <a:xfrm flipH="false" flipV="false" rot="0">
              <a:off x="0" y="0"/>
              <a:ext cx="1568173" cy="2960307"/>
            </a:xfrm>
            <a:custGeom>
              <a:avLst/>
              <a:gdLst/>
              <a:ahLst/>
              <a:cxnLst/>
              <a:rect r="r" b="b" t="t" l="l"/>
              <a:pathLst>
                <a:path h="2960307" w="1568173">
                  <a:moveTo>
                    <a:pt x="0" y="0"/>
                  </a:moveTo>
                  <a:lnTo>
                    <a:pt x="1568173" y="0"/>
                  </a:lnTo>
                  <a:lnTo>
                    <a:pt x="1568173" y="2960307"/>
                  </a:lnTo>
                  <a:lnTo>
                    <a:pt x="0" y="2960307"/>
                  </a:lnTo>
                  <a:close/>
                </a:path>
              </a:pathLst>
            </a:custGeom>
            <a:solidFill>
              <a:srgbClr val="EFF1E8"/>
            </a:solidFill>
          </p:spPr>
        </p:sp>
        <p:sp>
          <p:nvSpPr>
            <p:cNvPr name="TextBox 4" id="4"/>
            <p:cNvSpPr txBox="true"/>
            <p:nvPr/>
          </p:nvSpPr>
          <p:spPr>
            <a:xfrm>
              <a:off x="0" y="-57150"/>
              <a:ext cx="1568173" cy="3017457"/>
            </a:xfrm>
            <a:prstGeom prst="rect">
              <a:avLst/>
            </a:prstGeom>
          </p:spPr>
          <p:txBody>
            <a:bodyPr anchor="ctr" rtlCol="false" tIns="50800" lIns="50800" bIns="50800" rIns="50800"/>
            <a:lstStyle/>
            <a:p>
              <a:pPr algn="ctr">
                <a:lnSpc>
                  <a:spcPts val="2799"/>
                </a:lnSpc>
              </a:pPr>
            </a:p>
          </p:txBody>
        </p:sp>
      </p:grpSp>
      <p:grpSp>
        <p:nvGrpSpPr>
          <p:cNvPr name="Group 5" id="5"/>
          <p:cNvGrpSpPr/>
          <p:nvPr/>
        </p:nvGrpSpPr>
        <p:grpSpPr>
          <a:xfrm rot="0">
            <a:off x="1028700" y="6519658"/>
            <a:ext cx="7613364" cy="576205"/>
            <a:chOff x="0" y="0"/>
            <a:chExt cx="2005166" cy="151758"/>
          </a:xfrm>
        </p:grpSpPr>
        <p:sp>
          <p:nvSpPr>
            <p:cNvPr name="Freeform 6" id="6"/>
            <p:cNvSpPr/>
            <p:nvPr/>
          </p:nvSpPr>
          <p:spPr>
            <a:xfrm flipH="false" flipV="false" rot="0">
              <a:off x="0" y="0"/>
              <a:ext cx="2005166" cy="151758"/>
            </a:xfrm>
            <a:custGeom>
              <a:avLst/>
              <a:gdLst/>
              <a:ahLst/>
              <a:cxnLst/>
              <a:rect r="r" b="b" t="t" l="l"/>
              <a:pathLst>
                <a:path h="151758" w="2005166">
                  <a:moveTo>
                    <a:pt x="0" y="0"/>
                  </a:moveTo>
                  <a:lnTo>
                    <a:pt x="2005166" y="0"/>
                  </a:lnTo>
                  <a:lnTo>
                    <a:pt x="2005166" y="151758"/>
                  </a:lnTo>
                  <a:lnTo>
                    <a:pt x="0" y="151758"/>
                  </a:lnTo>
                  <a:close/>
                </a:path>
              </a:pathLst>
            </a:custGeom>
            <a:ln w="38100" cap="sq">
              <a:solidFill>
                <a:srgbClr val="EFF1E8"/>
              </a:solidFill>
              <a:prstDash val="solid"/>
              <a:miter/>
            </a:ln>
          </p:spPr>
        </p:sp>
        <p:sp>
          <p:nvSpPr>
            <p:cNvPr name="TextBox 7" id="7"/>
            <p:cNvSpPr txBox="true"/>
            <p:nvPr/>
          </p:nvSpPr>
          <p:spPr>
            <a:xfrm>
              <a:off x="0" y="-57150"/>
              <a:ext cx="2005166" cy="208908"/>
            </a:xfrm>
            <a:prstGeom prst="rect">
              <a:avLst/>
            </a:prstGeom>
          </p:spPr>
          <p:txBody>
            <a:bodyPr anchor="ctr" rtlCol="false" tIns="50800" lIns="50800" bIns="50800" rIns="50800"/>
            <a:lstStyle/>
            <a:p>
              <a:pPr algn="ctr">
                <a:lnSpc>
                  <a:spcPts val="2799"/>
                </a:lnSpc>
              </a:pPr>
            </a:p>
          </p:txBody>
        </p:sp>
      </p:grpSp>
      <p:sp>
        <p:nvSpPr>
          <p:cNvPr name="Freeform 8" id="8"/>
          <p:cNvSpPr/>
          <p:nvPr/>
        </p:nvSpPr>
        <p:spPr>
          <a:xfrm flipH="false" flipV="false" rot="0">
            <a:off x="9637891" y="2754659"/>
            <a:ext cx="7621409" cy="4901354"/>
          </a:xfrm>
          <a:custGeom>
            <a:avLst/>
            <a:gdLst/>
            <a:ahLst/>
            <a:cxnLst/>
            <a:rect r="r" b="b" t="t" l="l"/>
            <a:pathLst>
              <a:path h="4901354" w="7621409">
                <a:moveTo>
                  <a:pt x="0" y="0"/>
                </a:moveTo>
                <a:lnTo>
                  <a:pt x="7621409" y="0"/>
                </a:lnTo>
                <a:lnTo>
                  <a:pt x="7621409" y="4901354"/>
                </a:lnTo>
                <a:lnTo>
                  <a:pt x="0" y="490135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9" id="9"/>
          <p:cNvSpPr txBox="true"/>
          <p:nvPr/>
        </p:nvSpPr>
        <p:spPr>
          <a:xfrm rot="0">
            <a:off x="1028700" y="721876"/>
            <a:ext cx="10020426" cy="5388469"/>
          </a:xfrm>
          <a:prstGeom prst="rect">
            <a:avLst/>
          </a:prstGeom>
        </p:spPr>
        <p:txBody>
          <a:bodyPr anchor="t" rtlCol="false" tIns="0" lIns="0" bIns="0" rIns="0">
            <a:spAutoFit/>
          </a:bodyPr>
          <a:lstStyle/>
          <a:p>
            <a:pPr algn="l">
              <a:lnSpc>
                <a:spcPts val="20857"/>
              </a:lnSpc>
            </a:pPr>
            <a:r>
              <a:rPr lang="en-US" sz="19864" b="true">
                <a:solidFill>
                  <a:srgbClr val="EFF1E8"/>
                </a:solidFill>
                <a:latin typeface="Montserrat Bold"/>
                <a:ea typeface="Montserrat Bold"/>
                <a:cs typeface="Montserrat Bold"/>
                <a:sym typeface="Montserrat Bold"/>
              </a:rPr>
              <a:t>Th</a:t>
            </a:r>
            <a:r>
              <a:rPr lang="en-US" b="true" sz="19864">
                <a:solidFill>
                  <a:srgbClr val="EFF1E8"/>
                </a:solidFill>
                <a:latin typeface="Montserrat Bold"/>
                <a:ea typeface="Montserrat Bold"/>
                <a:cs typeface="Montserrat Bold"/>
                <a:sym typeface="Montserrat Bold"/>
              </a:rPr>
              <a:t>ank You</a:t>
            </a:r>
          </a:p>
        </p:txBody>
      </p:sp>
      <p:sp>
        <p:nvSpPr>
          <p:cNvPr name="Freeform 10" id="10"/>
          <p:cNvSpPr/>
          <p:nvPr/>
        </p:nvSpPr>
        <p:spPr>
          <a:xfrm flipH="false" flipV="false" rot="0">
            <a:off x="1028700" y="8622875"/>
            <a:ext cx="635425" cy="635425"/>
          </a:xfrm>
          <a:custGeom>
            <a:avLst/>
            <a:gdLst/>
            <a:ahLst/>
            <a:cxnLst/>
            <a:rect r="r" b="b" t="t" l="l"/>
            <a:pathLst>
              <a:path h="635425" w="635425">
                <a:moveTo>
                  <a:pt x="0" y="0"/>
                </a:moveTo>
                <a:lnTo>
                  <a:pt x="635425" y="0"/>
                </a:lnTo>
                <a:lnTo>
                  <a:pt x="635425" y="635425"/>
                </a:lnTo>
                <a:lnTo>
                  <a:pt x="0" y="63542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1" id="11"/>
          <p:cNvSpPr txBox="true"/>
          <p:nvPr/>
        </p:nvSpPr>
        <p:spPr>
          <a:xfrm rot="0">
            <a:off x="1028700" y="5902358"/>
            <a:ext cx="6595674" cy="358825"/>
          </a:xfrm>
          <a:prstGeom prst="rect">
            <a:avLst/>
          </a:prstGeom>
        </p:spPr>
        <p:txBody>
          <a:bodyPr anchor="t" rtlCol="false" tIns="0" lIns="0" bIns="0" rIns="0">
            <a:spAutoFit/>
          </a:bodyPr>
          <a:lstStyle/>
          <a:p>
            <a:pPr algn="l">
              <a:lnSpc>
                <a:spcPts val="2799"/>
              </a:lnSpc>
              <a:spcBef>
                <a:spcPct val="0"/>
              </a:spcBef>
            </a:pPr>
            <a:r>
              <a:rPr lang="en-US" sz="1999" spc="345">
                <a:solidFill>
                  <a:srgbClr val="EFF1E8"/>
                </a:solidFill>
                <a:latin typeface="Poppins"/>
                <a:ea typeface="Poppins"/>
                <a:cs typeface="Poppins"/>
                <a:sym typeface="Poppins"/>
              </a:rPr>
              <a:t>Thank you for your attention</a:t>
            </a:r>
          </a:p>
        </p:txBody>
      </p:sp>
      <p:sp>
        <p:nvSpPr>
          <p:cNvPr name="TextBox 12" id="12"/>
          <p:cNvSpPr txBox="true"/>
          <p:nvPr/>
        </p:nvSpPr>
        <p:spPr>
          <a:xfrm rot="0">
            <a:off x="571812" y="6562028"/>
            <a:ext cx="8227076" cy="424790"/>
          </a:xfrm>
          <a:prstGeom prst="rect">
            <a:avLst/>
          </a:prstGeom>
        </p:spPr>
        <p:txBody>
          <a:bodyPr anchor="t" rtlCol="false" tIns="0" lIns="0" bIns="0" rIns="0">
            <a:spAutoFit/>
          </a:bodyPr>
          <a:lstStyle/>
          <a:p>
            <a:pPr algn="ctr">
              <a:lnSpc>
                <a:spcPts val="3359"/>
              </a:lnSpc>
              <a:spcBef>
                <a:spcPct val="0"/>
              </a:spcBef>
            </a:pPr>
            <a:r>
              <a:rPr lang="en-US" sz="2400" spc="297">
                <a:solidFill>
                  <a:srgbClr val="EFF1E8"/>
                </a:solidFill>
                <a:latin typeface="Poppins"/>
                <a:ea typeface="Poppins"/>
                <a:cs typeface="Poppins"/>
                <a:sym typeface="Poppins"/>
              </a:rPr>
              <a:t>Let’s build smarter decisions together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DAHVzc7fqa4</dc:identifier>
  <dcterms:modified xsi:type="dcterms:W3CDTF">2011-08-01T06:04:30Z</dcterms:modified>
  <cp:revision>1</cp:revision>
  <dc:title>Tugas Data Analitik_Kelompok 3</dc:title>
</cp:coreProperties>
</file>